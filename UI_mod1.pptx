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5" d="100"/>
          <a:sy n="115" d="100"/>
        </p:scale>
        <p:origin x="56"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3001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8.png"/><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2.png"/><Relationship Id="rId7"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24.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44.png"/><Relationship Id="rId7"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3.png"/><Relationship Id="rId7"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33.png"/><Relationship Id="rId10" Type="http://schemas.openxmlformats.org/officeDocument/2006/relationships/image" Target="../media/image50.png"/><Relationship Id="rId4" Type="http://schemas.openxmlformats.org/officeDocument/2006/relationships/image" Target="../media/image48.png"/><Relationship Id="rId9"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30.png"/><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54.png"/><Relationship Id="rId4" Type="http://schemas.openxmlformats.org/officeDocument/2006/relationships/image" Target="../media/image5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2F"/>
        </a:solidFill>
        <a:effectLst/>
      </p:bgPr>
    </p:bg>
    <p:spTree>
      <p:nvGrpSpPr>
        <p:cNvPr id="1" name=""/>
        <p:cNvGrpSpPr/>
        <p:nvPr/>
      </p:nvGrpSpPr>
      <p:grpSpPr>
        <a:xfrm>
          <a:off x="0" y="0"/>
          <a:ext cx="0" cy="0"/>
          <a:chOff x="0" y="0"/>
          <a:chExt cx="0" cy="0"/>
        </a:xfrm>
      </p:grpSpPr>
      <p:sp>
        <p:nvSpPr>
          <p:cNvPr id="2" name="Shape 0"/>
          <p:cNvSpPr/>
          <p:nvPr/>
        </p:nvSpPr>
        <p:spPr>
          <a:xfrm>
            <a:off x="6949440" y="-1280160"/>
            <a:ext cx="3840480" cy="3840480"/>
          </a:xfrm>
          <a:prstGeom prst="ellipse">
            <a:avLst/>
          </a:prstGeom>
          <a:solidFill>
            <a:srgbClr val="4C3BCF">
              <a:alpha val="30000"/>
            </a:srgbClr>
          </a:solidFill>
          <a:ln/>
        </p:spPr>
      </p:sp>
      <p:sp>
        <p:nvSpPr>
          <p:cNvPr id="3" name="Shape 1"/>
          <p:cNvSpPr/>
          <p:nvPr/>
        </p:nvSpPr>
        <p:spPr>
          <a:xfrm>
            <a:off x="7955280" y="3291840"/>
            <a:ext cx="2560320" cy="2560320"/>
          </a:xfrm>
          <a:prstGeom prst="ellipse">
            <a:avLst/>
          </a:prstGeom>
          <a:solidFill>
            <a:srgbClr val="FF6B57">
              <a:alpha val="25000"/>
            </a:srgbClr>
          </a:solidFill>
          <a:ln/>
        </p:spPr>
      </p:sp>
      <p:sp>
        <p:nvSpPr>
          <p:cNvPr id="4" name="Text 2"/>
          <p:cNvSpPr/>
          <p:nvPr/>
        </p:nvSpPr>
        <p:spPr>
          <a:xfrm>
            <a:off x="640080" y="548640"/>
            <a:ext cx="6400800" cy="320040"/>
          </a:xfrm>
          <a:prstGeom prst="rect">
            <a:avLst/>
          </a:prstGeom>
          <a:noFill/>
          <a:ln/>
        </p:spPr>
        <p:txBody>
          <a:bodyPr wrap="square" rtlCol="0" anchor="ctr"/>
          <a:lstStyle/>
          <a:p>
            <a:pPr marL="0" indent="0">
              <a:buNone/>
            </a:pPr>
            <a:r>
              <a:rPr lang="en-US" sz="1300" b="1" kern="0" spc="300" dirty="0">
                <a:solidFill>
                  <a:srgbClr val="FF6B57"/>
                </a:solidFill>
                <a:latin typeface="Calibri" pitchFamily="34" charset="0"/>
                <a:ea typeface="Calibri" pitchFamily="34" charset="-122"/>
                <a:cs typeface="Calibri" pitchFamily="34" charset="-120"/>
              </a:rPr>
              <a:t>TEXTBOOK CHAPTER LECTURE</a:t>
            </a:r>
            <a:endParaRPr lang="en-US" sz="1300" dirty="0"/>
          </a:p>
        </p:txBody>
      </p:sp>
      <p:sp>
        <p:nvSpPr>
          <p:cNvPr id="5" name="Text 3"/>
          <p:cNvSpPr/>
          <p:nvPr/>
        </p:nvSpPr>
        <p:spPr>
          <a:xfrm>
            <a:off x="640080" y="914400"/>
            <a:ext cx="7863840" cy="548640"/>
          </a:xfrm>
          <a:prstGeom prst="rect">
            <a:avLst/>
          </a:prstGeom>
          <a:noFill/>
          <a:ln/>
        </p:spPr>
        <p:txBody>
          <a:bodyPr wrap="square" rtlCol="0" anchor="ctr"/>
          <a:lstStyle/>
          <a:p>
            <a:pPr marL="0" indent="0">
              <a:buNone/>
            </a:pPr>
            <a:r>
              <a:rPr lang="en-US" sz="1800" i="1" dirty="0">
                <a:solidFill>
                  <a:srgbClr val="CFCBEE"/>
                </a:solidFill>
                <a:latin typeface="Calibri" pitchFamily="34" charset="0"/>
                <a:ea typeface="Calibri" pitchFamily="34" charset="-122"/>
                <a:cs typeface="Calibri" pitchFamily="34" charset="-120"/>
              </a:rPr>
              <a:t>Interaction Design: Beyond Human-Computer Interaction</a:t>
            </a:r>
            <a:endParaRPr lang="en-US" sz="1800" dirty="0"/>
          </a:p>
        </p:txBody>
      </p:sp>
      <p:sp>
        <p:nvSpPr>
          <p:cNvPr id="6" name="Text 4"/>
          <p:cNvSpPr/>
          <p:nvPr/>
        </p:nvSpPr>
        <p:spPr>
          <a:xfrm>
            <a:off x="640080" y="1298448"/>
            <a:ext cx="7863840" cy="365760"/>
          </a:xfrm>
          <a:prstGeom prst="rect">
            <a:avLst/>
          </a:prstGeom>
          <a:noFill/>
          <a:ln/>
        </p:spPr>
        <p:txBody>
          <a:bodyPr wrap="square" rtlCol="0" anchor="ctr"/>
          <a:lstStyle/>
          <a:p>
            <a:pPr marL="0" indent="0">
              <a:buNone/>
            </a:pPr>
            <a:r>
              <a:rPr lang="en-US" sz="1200" dirty="0">
                <a:solidFill>
                  <a:srgbClr val="A9A4CE"/>
                </a:solidFill>
                <a:latin typeface="Calibri" pitchFamily="34" charset="0"/>
                <a:ea typeface="Calibri" pitchFamily="34" charset="-122"/>
                <a:cs typeface="Calibri" pitchFamily="34" charset="-120"/>
              </a:rPr>
              <a:t>Helen Sharp, Yvonne Rogers, Jennifer Preece  —  5th Edition, Wiley</a:t>
            </a:r>
            <a:endParaRPr lang="en-US" sz="1200" dirty="0"/>
          </a:p>
        </p:txBody>
      </p:sp>
      <p:sp>
        <p:nvSpPr>
          <p:cNvPr id="7" name="Text 5"/>
          <p:cNvSpPr/>
          <p:nvPr/>
        </p:nvSpPr>
        <p:spPr>
          <a:xfrm>
            <a:off x="640080" y="1965960"/>
            <a:ext cx="7315200" cy="457200"/>
          </a:xfrm>
          <a:prstGeom prst="rect">
            <a:avLst/>
          </a:prstGeom>
          <a:noFill/>
          <a:ln/>
        </p:spPr>
        <p:txBody>
          <a:bodyPr wrap="square" rtlCol="0" anchor="ctr"/>
          <a:lstStyle/>
          <a:p>
            <a:pPr marL="0" indent="0">
              <a:buNone/>
            </a:pPr>
            <a:r>
              <a:rPr lang="en-US" sz="1800" b="1" dirty="0">
                <a:solidFill>
                  <a:srgbClr val="FF6B57"/>
                </a:solidFill>
                <a:latin typeface="Calibri" pitchFamily="34" charset="0"/>
                <a:ea typeface="Calibri" pitchFamily="34" charset="-122"/>
                <a:cs typeface="Calibri" pitchFamily="34" charset="-120"/>
              </a:rPr>
              <a:t>Chapter 1</a:t>
            </a:r>
            <a:endParaRPr lang="en-US" sz="1800" dirty="0"/>
          </a:p>
        </p:txBody>
      </p:sp>
      <p:sp>
        <p:nvSpPr>
          <p:cNvPr id="8" name="Text 6"/>
          <p:cNvSpPr/>
          <p:nvPr/>
        </p:nvSpPr>
        <p:spPr>
          <a:xfrm>
            <a:off x="640080" y="2331720"/>
            <a:ext cx="8503920" cy="118872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What Is Interaction Design?</a:t>
            </a:r>
            <a:endParaRPr lang="en-US" sz="3800" dirty="0"/>
          </a:p>
        </p:txBody>
      </p:sp>
      <p:sp>
        <p:nvSpPr>
          <p:cNvPr id="9" name="Text 7"/>
          <p:cNvSpPr/>
          <p:nvPr/>
        </p:nvSpPr>
        <p:spPr>
          <a:xfrm>
            <a:off x="640080" y="4160520"/>
            <a:ext cx="8229600" cy="548640"/>
          </a:xfrm>
          <a:prstGeom prst="rect">
            <a:avLst/>
          </a:prstGeom>
          <a:noFill/>
          <a:ln/>
        </p:spPr>
        <p:txBody>
          <a:bodyPr wrap="square" rtlCol="0" anchor="ctr"/>
          <a:lstStyle/>
          <a:p>
            <a:pPr marL="0" indent="0">
              <a:buNone/>
            </a:pPr>
            <a:r>
              <a:rPr lang="en-US" sz="1150" i="1" dirty="0">
                <a:solidFill>
                  <a:srgbClr val="A9A4CE"/>
                </a:solidFill>
                <a:latin typeface="Calibri" pitchFamily="34" charset="0"/>
                <a:ea typeface="Calibri" pitchFamily="34" charset="-122"/>
                <a:cs typeface="Calibri" pitchFamily="34" charset="-120"/>
              </a:rPr>
              <a:t>Good &amp; Poor Design  •  Interdisciplinary Foundations  •  The User Experience</a:t>
            </a:r>
            <a:endParaRPr lang="en-US" sz="1150" dirty="0"/>
          </a:p>
          <a:p>
            <a:pPr marL="0" indent="0">
              <a:buNone/>
            </a:pPr>
            <a:r>
              <a:rPr lang="en-US" sz="1150" i="1" dirty="0">
                <a:solidFill>
                  <a:srgbClr val="A9A4CE"/>
                </a:solidFill>
                <a:latin typeface="Calibri" pitchFamily="34" charset="0"/>
                <a:ea typeface="Calibri" pitchFamily="34" charset="-122"/>
                <a:cs typeface="Calibri" pitchFamily="34" charset="-120"/>
              </a:rPr>
              <a:t>Understanding Users  •  Accessibility  •  Usability &amp; UX Goals  •  Design Principles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CHAPTER OBJECTIVES</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By the End of This Chapter, You Will Be Able To</a:t>
            </a:r>
            <a:endParaRPr lang="en-US" sz="2600" dirty="0"/>
          </a:p>
        </p:txBody>
      </p:sp>
      <p:sp>
        <p:nvSpPr>
          <p:cNvPr id="4" name="Shape 2"/>
          <p:cNvSpPr/>
          <p:nvPr/>
        </p:nvSpPr>
        <p:spPr>
          <a:xfrm>
            <a:off x="502920" y="1417320"/>
            <a:ext cx="384048" cy="384048"/>
          </a:xfrm>
          <a:prstGeom prst="ellipse">
            <a:avLst/>
          </a:prstGeom>
          <a:solidFill>
            <a:srgbClr val="4C3BCF"/>
          </a:solidFill>
          <a:ln/>
        </p:spPr>
      </p:sp>
      <p:pic>
        <p:nvPicPr>
          <p:cNvPr id="5" name="Image 0" descr="preencoded.png"/>
          <p:cNvPicPr>
            <a:picLocks noChangeAspect="1"/>
          </p:cNvPicPr>
          <p:nvPr/>
        </p:nvPicPr>
        <p:blipFill>
          <a:blip r:embed="rId3"/>
          <a:stretch>
            <a:fillRect/>
          </a:stretch>
        </p:blipFill>
        <p:spPr>
          <a:xfrm>
            <a:off x="560527" y="1474927"/>
            <a:ext cx="268834" cy="268834"/>
          </a:xfrm>
          <a:prstGeom prst="rect">
            <a:avLst/>
          </a:prstGeom>
        </p:spPr>
      </p:pic>
      <p:sp>
        <p:nvSpPr>
          <p:cNvPr id="6" name="Text 3"/>
          <p:cNvSpPr/>
          <p:nvPr/>
        </p:nvSpPr>
        <p:spPr>
          <a:xfrm>
            <a:off x="1051560" y="1389888"/>
            <a:ext cx="7680960" cy="438912"/>
          </a:xfrm>
          <a:prstGeom prst="rect">
            <a:avLst/>
          </a:prstGeom>
          <a:noFill/>
          <a:ln/>
        </p:spPr>
        <p:txBody>
          <a:bodyPr wrap="square" rtlCol="0" anchor="ctr"/>
          <a:lstStyle/>
          <a:p>
            <a:pPr marL="0" indent="0">
              <a:buNone/>
            </a:pPr>
            <a:r>
              <a:rPr lang="en-US" sz="1220" dirty="0">
                <a:solidFill>
                  <a:srgbClr val="22223B"/>
                </a:solidFill>
                <a:latin typeface="Calibri" pitchFamily="34" charset="0"/>
                <a:ea typeface="Calibri" pitchFamily="34" charset="-122"/>
                <a:cs typeface="Calibri" pitchFamily="34" charset="-120"/>
              </a:rPr>
              <a:t>Explain the difference between good and poor design using everyday examples</a:t>
            </a:r>
            <a:endParaRPr lang="en-US" sz="1220" dirty="0"/>
          </a:p>
        </p:txBody>
      </p:sp>
      <p:sp>
        <p:nvSpPr>
          <p:cNvPr id="7" name="Shape 4"/>
          <p:cNvSpPr/>
          <p:nvPr/>
        </p:nvSpPr>
        <p:spPr>
          <a:xfrm>
            <a:off x="502920" y="1892808"/>
            <a:ext cx="384048" cy="384048"/>
          </a:xfrm>
          <a:prstGeom prst="ellipse">
            <a:avLst/>
          </a:prstGeom>
          <a:solidFill>
            <a:srgbClr val="4C3BCF"/>
          </a:solidFill>
          <a:ln/>
        </p:spPr>
      </p:sp>
      <p:pic>
        <p:nvPicPr>
          <p:cNvPr id="8" name="Image 1" descr="preencoded.png"/>
          <p:cNvPicPr>
            <a:picLocks noChangeAspect="1"/>
          </p:cNvPicPr>
          <p:nvPr/>
        </p:nvPicPr>
        <p:blipFill>
          <a:blip r:embed="rId4"/>
          <a:stretch>
            <a:fillRect/>
          </a:stretch>
        </p:blipFill>
        <p:spPr>
          <a:xfrm>
            <a:off x="560527" y="1950415"/>
            <a:ext cx="268834" cy="268834"/>
          </a:xfrm>
          <a:prstGeom prst="rect">
            <a:avLst/>
          </a:prstGeom>
        </p:spPr>
      </p:pic>
      <p:sp>
        <p:nvSpPr>
          <p:cNvPr id="9" name="Text 5"/>
          <p:cNvSpPr/>
          <p:nvPr/>
        </p:nvSpPr>
        <p:spPr>
          <a:xfrm>
            <a:off x="1051560" y="1865376"/>
            <a:ext cx="7680960" cy="438912"/>
          </a:xfrm>
          <a:prstGeom prst="rect">
            <a:avLst/>
          </a:prstGeom>
          <a:noFill/>
          <a:ln/>
        </p:spPr>
        <p:txBody>
          <a:bodyPr wrap="square" rtlCol="0" anchor="ctr"/>
          <a:lstStyle/>
          <a:p>
            <a:pPr marL="0" indent="0">
              <a:buNone/>
            </a:pPr>
            <a:r>
              <a:rPr lang="en-US" sz="1220" dirty="0">
                <a:solidFill>
                  <a:srgbClr val="22223B"/>
                </a:solidFill>
                <a:latin typeface="Calibri" pitchFamily="34" charset="0"/>
                <a:ea typeface="Calibri" pitchFamily="34" charset="-122"/>
                <a:cs typeface="Calibri" pitchFamily="34" charset="-120"/>
              </a:rPr>
              <a:t>Define interaction design and describe its interdisciplinary foundations</a:t>
            </a:r>
            <a:endParaRPr lang="en-US" sz="1220" dirty="0"/>
          </a:p>
        </p:txBody>
      </p:sp>
      <p:sp>
        <p:nvSpPr>
          <p:cNvPr id="10" name="Shape 6"/>
          <p:cNvSpPr/>
          <p:nvPr/>
        </p:nvSpPr>
        <p:spPr>
          <a:xfrm>
            <a:off x="502920" y="2368296"/>
            <a:ext cx="384048" cy="384048"/>
          </a:xfrm>
          <a:prstGeom prst="ellipse">
            <a:avLst/>
          </a:prstGeom>
          <a:solidFill>
            <a:srgbClr val="4C3BCF"/>
          </a:solidFill>
          <a:ln/>
        </p:spPr>
      </p:sp>
      <p:pic>
        <p:nvPicPr>
          <p:cNvPr id="11" name="Image 2" descr="preencoded.png"/>
          <p:cNvPicPr>
            <a:picLocks noChangeAspect="1"/>
          </p:cNvPicPr>
          <p:nvPr/>
        </p:nvPicPr>
        <p:blipFill>
          <a:blip r:embed="rId5"/>
          <a:stretch>
            <a:fillRect/>
          </a:stretch>
        </p:blipFill>
        <p:spPr>
          <a:xfrm>
            <a:off x="560527" y="2425903"/>
            <a:ext cx="268834" cy="268834"/>
          </a:xfrm>
          <a:prstGeom prst="rect">
            <a:avLst/>
          </a:prstGeom>
        </p:spPr>
      </p:pic>
      <p:sp>
        <p:nvSpPr>
          <p:cNvPr id="12" name="Text 7"/>
          <p:cNvSpPr/>
          <p:nvPr/>
        </p:nvSpPr>
        <p:spPr>
          <a:xfrm>
            <a:off x="1051560" y="2340864"/>
            <a:ext cx="7680960" cy="438912"/>
          </a:xfrm>
          <a:prstGeom prst="rect">
            <a:avLst/>
          </a:prstGeom>
          <a:noFill/>
          <a:ln/>
        </p:spPr>
        <p:txBody>
          <a:bodyPr wrap="square" rtlCol="0" anchor="ctr"/>
          <a:lstStyle/>
          <a:p>
            <a:pPr marL="0" indent="0">
              <a:buNone/>
            </a:pPr>
            <a:r>
              <a:rPr lang="en-US" sz="1220" dirty="0">
                <a:solidFill>
                  <a:srgbClr val="22223B"/>
                </a:solidFill>
                <a:latin typeface="Calibri" pitchFamily="34" charset="0"/>
                <a:ea typeface="Calibri" pitchFamily="34" charset="-122"/>
                <a:cs typeface="Calibri" pitchFamily="34" charset="-120"/>
              </a:rPr>
              <a:t>Describe what is meant by “the user experience”</a:t>
            </a:r>
            <a:endParaRPr lang="en-US" sz="1220" dirty="0"/>
          </a:p>
        </p:txBody>
      </p:sp>
      <p:sp>
        <p:nvSpPr>
          <p:cNvPr id="13" name="Shape 8"/>
          <p:cNvSpPr/>
          <p:nvPr/>
        </p:nvSpPr>
        <p:spPr>
          <a:xfrm>
            <a:off x="502920" y="2843784"/>
            <a:ext cx="384048" cy="384048"/>
          </a:xfrm>
          <a:prstGeom prst="ellipse">
            <a:avLst/>
          </a:prstGeom>
          <a:solidFill>
            <a:srgbClr val="4C3BCF"/>
          </a:solidFill>
          <a:ln/>
        </p:spPr>
      </p:sp>
      <p:pic>
        <p:nvPicPr>
          <p:cNvPr id="14" name="Image 3" descr="preencoded.png"/>
          <p:cNvPicPr>
            <a:picLocks noChangeAspect="1"/>
          </p:cNvPicPr>
          <p:nvPr/>
        </p:nvPicPr>
        <p:blipFill>
          <a:blip r:embed="rId6"/>
          <a:stretch>
            <a:fillRect/>
          </a:stretch>
        </p:blipFill>
        <p:spPr>
          <a:xfrm>
            <a:off x="560527" y="2901391"/>
            <a:ext cx="268834" cy="268834"/>
          </a:xfrm>
          <a:prstGeom prst="rect">
            <a:avLst/>
          </a:prstGeom>
        </p:spPr>
      </p:pic>
      <p:sp>
        <p:nvSpPr>
          <p:cNvPr id="15" name="Text 9"/>
          <p:cNvSpPr/>
          <p:nvPr/>
        </p:nvSpPr>
        <p:spPr>
          <a:xfrm>
            <a:off x="1051560" y="2816352"/>
            <a:ext cx="7680960" cy="438912"/>
          </a:xfrm>
          <a:prstGeom prst="rect">
            <a:avLst/>
          </a:prstGeom>
          <a:noFill/>
          <a:ln/>
        </p:spPr>
        <p:txBody>
          <a:bodyPr wrap="square" rtlCol="0" anchor="ctr"/>
          <a:lstStyle/>
          <a:p>
            <a:pPr marL="0" indent="0">
              <a:buNone/>
            </a:pPr>
            <a:r>
              <a:rPr lang="en-US" sz="1220" dirty="0">
                <a:solidFill>
                  <a:srgbClr val="22223B"/>
                </a:solidFill>
                <a:latin typeface="Calibri" pitchFamily="34" charset="0"/>
                <a:ea typeface="Calibri" pitchFamily="34" charset="-122"/>
                <a:cs typeface="Calibri" pitchFamily="34" charset="-120"/>
              </a:rPr>
              <a:t>Explain why understanding users is central to the design process</a:t>
            </a:r>
            <a:endParaRPr lang="en-US" sz="1220" dirty="0"/>
          </a:p>
        </p:txBody>
      </p:sp>
      <p:sp>
        <p:nvSpPr>
          <p:cNvPr id="16" name="Shape 10"/>
          <p:cNvSpPr/>
          <p:nvPr/>
        </p:nvSpPr>
        <p:spPr>
          <a:xfrm>
            <a:off x="502920" y="3319272"/>
            <a:ext cx="384048" cy="384048"/>
          </a:xfrm>
          <a:prstGeom prst="ellipse">
            <a:avLst/>
          </a:prstGeom>
          <a:solidFill>
            <a:srgbClr val="4C3BCF"/>
          </a:solidFill>
          <a:ln/>
        </p:spPr>
      </p:sp>
      <p:pic>
        <p:nvPicPr>
          <p:cNvPr id="17" name="Image 4" descr="preencoded.png"/>
          <p:cNvPicPr>
            <a:picLocks noChangeAspect="1"/>
          </p:cNvPicPr>
          <p:nvPr/>
        </p:nvPicPr>
        <p:blipFill>
          <a:blip r:embed="rId7"/>
          <a:stretch>
            <a:fillRect/>
          </a:stretch>
        </p:blipFill>
        <p:spPr>
          <a:xfrm>
            <a:off x="560527" y="3376879"/>
            <a:ext cx="268834" cy="268834"/>
          </a:xfrm>
          <a:prstGeom prst="rect">
            <a:avLst/>
          </a:prstGeom>
        </p:spPr>
      </p:pic>
      <p:sp>
        <p:nvSpPr>
          <p:cNvPr id="18" name="Text 11"/>
          <p:cNvSpPr/>
          <p:nvPr/>
        </p:nvSpPr>
        <p:spPr>
          <a:xfrm>
            <a:off x="1051560" y="3291840"/>
            <a:ext cx="7680960" cy="438912"/>
          </a:xfrm>
          <a:prstGeom prst="rect">
            <a:avLst/>
          </a:prstGeom>
          <a:noFill/>
          <a:ln/>
        </p:spPr>
        <p:txBody>
          <a:bodyPr wrap="square" rtlCol="0" anchor="ctr"/>
          <a:lstStyle/>
          <a:p>
            <a:pPr marL="0" indent="0">
              <a:buNone/>
            </a:pPr>
            <a:r>
              <a:rPr lang="en-US" sz="1220" dirty="0">
                <a:solidFill>
                  <a:srgbClr val="22223B"/>
                </a:solidFill>
                <a:latin typeface="Calibri" pitchFamily="34" charset="0"/>
                <a:ea typeface="Calibri" pitchFamily="34" charset="-122"/>
                <a:cs typeface="Calibri" pitchFamily="34" charset="-120"/>
              </a:rPr>
              <a:t>Discuss accessibility and inclusiveness in interactive systems</a:t>
            </a:r>
            <a:endParaRPr lang="en-US" sz="1220" dirty="0"/>
          </a:p>
        </p:txBody>
      </p:sp>
      <p:sp>
        <p:nvSpPr>
          <p:cNvPr id="19" name="Shape 12"/>
          <p:cNvSpPr/>
          <p:nvPr/>
        </p:nvSpPr>
        <p:spPr>
          <a:xfrm>
            <a:off x="502920" y="3794760"/>
            <a:ext cx="384048" cy="384048"/>
          </a:xfrm>
          <a:prstGeom prst="ellipse">
            <a:avLst/>
          </a:prstGeom>
          <a:solidFill>
            <a:srgbClr val="4C3BCF"/>
          </a:solidFill>
          <a:ln/>
        </p:spPr>
      </p:sp>
      <p:pic>
        <p:nvPicPr>
          <p:cNvPr id="20" name="Image 5" descr="preencoded.png"/>
          <p:cNvPicPr>
            <a:picLocks noChangeAspect="1"/>
          </p:cNvPicPr>
          <p:nvPr/>
        </p:nvPicPr>
        <p:blipFill>
          <a:blip r:embed="rId8"/>
          <a:stretch>
            <a:fillRect/>
          </a:stretch>
        </p:blipFill>
        <p:spPr>
          <a:xfrm>
            <a:off x="560527" y="3852367"/>
            <a:ext cx="268834" cy="268834"/>
          </a:xfrm>
          <a:prstGeom prst="rect">
            <a:avLst/>
          </a:prstGeom>
        </p:spPr>
      </p:pic>
      <p:sp>
        <p:nvSpPr>
          <p:cNvPr id="21" name="Text 13"/>
          <p:cNvSpPr/>
          <p:nvPr/>
        </p:nvSpPr>
        <p:spPr>
          <a:xfrm>
            <a:off x="1051560" y="3767328"/>
            <a:ext cx="7680960" cy="438912"/>
          </a:xfrm>
          <a:prstGeom prst="rect">
            <a:avLst/>
          </a:prstGeom>
          <a:noFill/>
          <a:ln/>
        </p:spPr>
        <p:txBody>
          <a:bodyPr wrap="square" rtlCol="0" anchor="ctr"/>
          <a:lstStyle/>
          <a:p>
            <a:pPr marL="0" indent="0">
              <a:buNone/>
            </a:pPr>
            <a:r>
              <a:rPr lang="en-US" sz="1220" dirty="0">
                <a:solidFill>
                  <a:srgbClr val="22223B"/>
                </a:solidFill>
                <a:latin typeface="Calibri" pitchFamily="34" charset="0"/>
                <a:ea typeface="Calibri" pitchFamily="34" charset="-122"/>
                <a:cs typeface="Calibri" pitchFamily="34" charset="-120"/>
              </a:rPr>
              <a:t>Identify usability goals and user experience goals</a:t>
            </a:r>
            <a:endParaRPr lang="en-US" sz="1220" dirty="0"/>
          </a:p>
        </p:txBody>
      </p:sp>
      <p:sp>
        <p:nvSpPr>
          <p:cNvPr id="22" name="Shape 14"/>
          <p:cNvSpPr/>
          <p:nvPr/>
        </p:nvSpPr>
        <p:spPr>
          <a:xfrm>
            <a:off x="502920" y="4270248"/>
            <a:ext cx="384048" cy="384048"/>
          </a:xfrm>
          <a:prstGeom prst="ellipse">
            <a:avLst/>
          </a:prstGeom>
          <a:solidFill>
            <a:srgbClr val="4C3BCF"/>
          </a:solidFill>
          <a:ln/>
        </p:spPr>
      </p:sp>
      <p:pic>
        <p:nvPicPr>
          <p:cNvPr id="23" name="Image 6" descr="preencoded.png"/>
          <p:cNvPicPr>
            <a:picLocks noChangeAspect="1"/>
          </p:cNvPicPr>
          <p:nvPr/>
        </p:nvPicPr>
        <p:blipFill>
          <a:blip r:embed="rId9"/>
          <a:stretch>
            <a:fillRect/>
          </a:stretch>
        </p:blipFill>
        <p:spPr>
          <a:xfrm>
            <a:off x="560527" y="4327855"/>
            <a:ext cx="268834" cy="268834"/>
          </a:xfrm>
          <a:prstGeom prst="rect">
            <a:avLst/>
          </a:prstGeom>
        </p:spPr>
      </p:pic>
      <p:sp>
        <p:nvSpPr>
          <p:cNvPr id="24" name="Text 15"/>
          <p:cNvSpPr/>
          <p:nvPr/>
        </p:nvSpPr>
        <p:spPr>
          <a:xfrm>
            <a:off x="1051560" y="4242816"/>
            <a:ext cx="7680960" cy="438912"/>
          </a:xfrm>
          <a:prstGeom prst="rect">
            <a:avLst/>
          </a:prstGeom>
          <a:noFill/>
          <a:ln/>
        </p:spPr>
        <p:txBody>
          <a:bodyPr wrap="square" rtlCol="0" anchor="ctr"/>
          <a:lstStyle/>
          <a:p>
            <a:pPr marL="0" indent="0">
              <a:buNone/>
            </a:pPr>
            <a:r>
              <a:rPr lang="en-US" sz="1220" dirty="0">
                <a:solidFill>
                  <a:srgbClr val="22223B"/>
                </a:solidFill>
                <a:latin typeface="Calibri" pitchFamily="34" charset="0"/>
                <a:ea typeface="Calibri" pitchFamily="34" charset="-122"/>
                <a:cs typeface="Calibri" pitchFamily="34" charset="-120"/>
              </a:rPr>
              <a:t>Apply core design principles: visibility, feedback, constraints, consistency, affordance</a:t>
            </a:r>
            <a:endParaRPr lang="en-US" sz="1220" dirty="0"/>
          </a:p>
        </p:txBody>
      </p:sp>
      <p:sp>
        <p:nvSpPr>
          <p:cNvPr id="25" name="Text 16"/>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26" name="Text 17"/>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2 / 29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CHAPTER ROADMAP</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Chapter 1 Structure</a:t>
            </a:r>
            <a:endParaRPr lang="en-US" sz="2600" dirty="0"/>
          </a:p>
        </p:txBody>
      </p:sp>
      <p:sp>
        <p:nvSpPr>
          <p:cNvPr id="4" name="Shape 2"/>
          <p:cNvSpPr/>
          <p:nvPr/>
        </p:nvSpPr>
        <p:spPr>
          <a:xfrm>
            <a:off x="457200" y="1417320"/>
            <a:ext cx="3977640" cy="384048"/>
          </a:xfrm>
          <a:prstGeom prst="rect">
            <a:avLst/>
          </a:prstGeom>
          <a:solidFill>
            <a:srgbClr val="F4F2FF"/>
          </a:solidFill>
          <a:ln/>
        </p:spPr>
      </p:sp>
      <p:sp>
        <p:nvSpPr>
          <p:cNvPr id="5" name="Text 3"/>
          <p:cNvSpPr/>
          <p:nvPr/>
        </p:nvSpPr>
        <p:spPr>
          <a:xfrm>
            <a:off x="566928" y="1417320"/>
            <a:ext cx="502920" cy="384048"/>
          </a:xfrm>
          <a:prstGeom prst="rect">
            <a:avLst/>
          </a:prstGeom>
          <a:noFill/>
          <a:ln/>
        </p:spPr>
        <p:txBody>
          <a:bodyPr wrap="square" rtlCol="0" anchor="ctr"/>
          <a:lstStyle/>
          <a:p>
            <a:pPr marL="0" indent="0">
              <a:buNone/>
            </a:pPr>
            <a:r>
              <a:rPr lang="en-US" sz="1300" b="1" dirty="0">
                <a:solidFill>
                  <a:srgbClr val="4C3BCF"/>
                </a:solidFill>
                <a:latin typeface="Calibri" pitchFamily="34" charset="0"/>
                <a:ea typeface="Calibri" pitchFamily="34" charset="-122"/>
                <a:cs typeface="Calibri" pitchFamily="34" charset="-120"/>
              </a:rPr>
              <a:t>1.1</a:t>
            </a:r>
            <a:endParaRPr lang="en-US" sz="1300" dirty="0"/>
          </a:p>
        </p:txBody>
      </p:sp>
      <p:sp>
        <p:nvSpPr>
          <p:cNvPr id="6" name="Text 4"/>
          <p:cNvSpPr/>
          <p:nvPr/>
        </p:nvSpPr>
        <p:spPr>
          <a:xfrm>
            <a:off x="1051560" y="1417320"/>
            <a:ext cx="3291840" cy="384048"/>
          </a:xfrm>
          <a:prstGeom prst="rect">
            <a:avLst/>
          </a:prstGeom>
          <a:noFill/>
          <a:ln/>
        </p:spPr>
        <p:txBody>
          <a:bodyPr wrap="square" rtlCol="0" anchor="ctr"/>
          <a:lstStyle/>
          <a:p>
            <a:pPr marL="0" indent="0">
              <a:buNone/>
            </a:pPr>
            <a:r>
              <a:rPr lang="en-US" sz="1200" dirty="0">
                <a:solidFill>
                  <a:srgbClr val="22223B"/>
                </a:solidFill>
                <a:latin typeface="Calibri" pitchFamily="34" charset="0"/>
                <a:ea typeface="Calibri" pitchFamily="34" charset="-122"/>
                <a:cs typeface="Calibri" pitchFamily="34" charset="-120"/>
              </a:rPr>
              <a:t>Introduction</a:t>
            </a:r>
            <a:endParaRPr lang="en-US" sz="1200" dirty="0"/>
          </a:p>
        </p:txBody>
      </p:sp>
      <p:sp>
        <p:nvSpPr>
          <p:cNvPr id="7" name="Shape 5"/>
          <p:cNvSpPr/>
          <p:nvPr/>
        </p:nvSpPr>
        <p:spPr>
          <a:xfrm>
            <a:off x="4709160" y="1417320"/>
            <a:ext cx="3977640" cy="384048"/>
          </a:xfrm>
          <a:prstGeom prst="rect">
            <a:avLst/>
          </a:prstGeom>
          <a:solidFill>
            <a:srgbClr val="EFEBFF"/>
          </a:solidFill>
          <a:ln/>
        </p:spPr>
      </p:sp>
      <p:sp>
        <p:nvSpPr>
          <p:cNvPr id="8" name="Text 6"/>
          <p:cNvSpPr/>
          <p:nvPr/>
        </p:nvSpPr>
        <p:spPr>
          <a:xfrm>
            <a:off x="4818888" y="1417320"/>
            <a:ext cx="502920" cy="384048"/>
          </a:xfrm>
          <a:prstGeom prst="rect">
            <a:avLst/>
          </a:prstGeom>
          <a:noFill/>
          <a:ln/>
        </p:spPr>
        <p:txBody>
          <a:bodyPr wrap="square" rtlCol="0" anchor="ctr"/>
          <a:lstStyle/>
          <a:p>
            <a:pPr marL="0" indent="0">
              <a:buNone/>
            </a:pPr>
            <a:r>
              <a:rPr lang="en-US" sz="1300" b="1" dirty="0">
                <a:solidFill>
                  <a:srgbClr val="4C3BCF"/>
                </a:solidFill>
                <a:latin typeface="Calibri" pitchFamily="34" charset="0"/>
                <a:ea typeface="Calibri" pitchFamily="34" charset="-122"/>
                <a:cs typeface="Calibri" pitchFamily="34" charset="-120"/>
              </a:rPr>
              <a:t>1.2</a:t>
            </a:r>
            <a:endParaRPr lang="en-US" sz="1300" dirty="0"/>
          </a:p>
        </p:txBody>
      </p:sp>
      <p:sp>
        <p:nvSpPr>
          <p:cNvPr id="9" name="Text 7"/>
          <p:cNvSpPr/>
          <p:nvPr/>
        </p:nvSpPr>
        <p:spPr>
          <a:xfrm>
            <a:off x="5303520" y="1417320"/>
            <a:ext cx="3291840" cy="384048"/>
          </a:xfrm>
          <a:prstGeom prst="rect">
            <a:avLst/>
          </a:prstGeom>
          <a:noFill/>
          <a:ln/>
        </p:spPr>
        <p:txBody>
          <a:bodyPr wrap="square" rtlCol="0" anchor="ctr"/>
          <a:lstStyle/>
          <a:p>
            <a:pPr marL="0" indent="0">
              <a:buNone/>
            </a:pPr>
            <a:r>
              <a:rPr lang="en-US" sz="1200" dirty="0">
                <a:solidFill>
                  <a:srgbClr val="22223B"/>
                </a:solidFill>
                <a:latin typeface="Calibri" pitchFamily="34" charset="0"/>
                <a:ea typeface="Calibri" pitchFamily="34" charset="-122"/>
                <a:cs typeface="Calibri" pitchFamily="34" charset="-120"/>
              </a:rPr>
              <a:t>Good and Poor Design</a:t>
            </a:r>
            <a:endParaRPr lang="en-US" sz="1200" dirty="0"/>
          </a:p>
        </p:txBody>
      </p:sp>
      <p:sp>
        <p:nvSpPr>
          <p:cNvPr id="10" name="Shape 8"/>
          <p:cNvSpPr/>
          <p:nvPr/>
        </p:nvSpPr>
        <p:spPr>
          <a:xfrm>
            <a:off x="457200" y="1892808"/>
            <a:ext cx="3977640" cy="384048"/>
          </a:xfrm>
          <a:prstGeom prst="rect">
            <a:avLst/>
          </a:prstGeom>
          <a:solidFill>
            <a:srgbClr val="F4F2FF"/>
          </a:solidFill>
          <a:ln/>
        </p:spPr>
      </p:sp>
      <p:sp>
        <p:nvSpPr>
          <p:cNvPr id="11" name="Text 9"/>
          <p:cNvSpPr/>
          <p:nvPr/>
        </p:nvSpPr>
        <p:spPr>
          <a:xfrm>
            <a:off x="566928" y="1892808"/>
            <a:ext cx="502920" cy="384048"/>
          </a:xfrm>
          <a:prstGeom prst="rect">
            <a:avLst/>
          </a:prstGeom>
          <a:noFill/>
          <a:ln/>
        </p:spPr>
        <p:txBody>
          <a:bodyPr wrap="square" rtlCol="0" anchor="ctr"/>
          <a:lstStyle/>
          <a:p>
            <a:pPr marL="0" indent="0">
              <a:buNone/>
            </a:pPr>
            <a:r>
              <a:rPr lang="en-US" sz="1300" b="1" dirty="0">
                <a:solidFill>
                  <a:srgbClr val="4C3BCF"/>
                </a:solidFill>
                <a:latin typeface="Calibri" pitchFamily="34" charset="0"/>
                <a:ea typeface="Calibri" pitchFamily="34" charset="-122"/>
                <a:cs typeface="Calibri" pitchFamily="34" charset="-120"/>
              </a:rPr>
              <a:t>1.3</a:t>
            </a:r>
            <a:endParaRPr lang="en-US" sz="1300" dirty="0"/>
          </a:p>
        </p:txBody>
      </p:sp>
      <p:sp>
        <p:nvSpPr>
          <p:cNvPr id="12" name="Text 10"/>
          <p:cNvSpPr/>
          <p:nvPr/>
        </p:nvSpPr>
        <p:spPr>
          <a:xfrm>
            <a:off x="1051560" y="1892808"/>
            <a:ext cx="3291840" cy="384048"/>
          </a:xfrm>
          <a:prstGeom prst="rect">
            <a:avLst/>
          </a:prstGeom>
          <a:noFill/>
          <a:ln/>
        </p:spPr>
        <p:txBody>
          <a:bodyPr wrap="square" rtlCol="0" anchor="ctr"/>
          <a:lstStyle/>
          <a:p>
            <a:pPr marL="0" indent="0">
              <a:buNone/>
            </a:pPr>
            <a:r>
              <a:rPr lang="en-US" sz="1200" dirty="0">
                <a:solidFill>
                  <a:srgbClr val="22223B"/>
                </a:solidFill>
                <a:latin typeface="Calibri" pitchFamily="34" charset="0"/>
                <a:ea typeface="Calibri" pitchFamily="34" charset="-122"/>
                <a:cs typeface="Calibri" pitchFamily="34" charset="-120"/>
              </a:rPr>
              <a:t>What Is Interaction Design?</a:t>
            </a:r>
            <a:endParaRPr lang="en-US" sz="1200" dirty="0"/>
          </a:p>
        </p:txBody>
      </p:sp>
      <p:sp>
        <p:nvSpPr>
          <p:cNvPr id="13" name="Shape 11"/>
          <p:cNvSpPr/>
          <p:nvPr/>
        </p:nvSpPr>
        <p:spPr>
          <a:xfrm>
            <a:off x="4709160" y="1892808"/>
            <a:ext cx="3977640" cy="384048"/>
          </a:xfrm>
          <a:prstGeom prst="rect">
            <a:avLst/>
          </a:prstGeom>
          <a:solidFill>
            <a:srgbClr val="EFEBFF"/>
          </a:solidFill>
          <a:ln/>
        </p:spPr>
      </p:sp>
      <p:sp>
        <p:nvSpPr>
          <p:cNvPr id="14" name="Text 12"/>
          <p:cNvSpPr/>
          <p:nvPr/>
        </p:nvSpPr>
        <p:spPr>
          <a:xfrm>
            <a:off x="4818888" y="1892808"/>
            <a:ext cx="502920" cy="384048"/>
          </a:xfrm>
          <a:prstGeom prst="rect">
            <a:avLst/>
          </a:prstGeom>
          <a:noFill/>
          <a:ln/>
        </p:spPr>
        <p:txBody>
          <a:bodyPr wrap="square" rtlCol="0" anchor="ctr"/>
          <a:lstStyle/>
          <a:p>
            <a:pPr marL="0" indent="0">
              <a:buNone/>
            </a:pPr>
            <a:r>
              <a:rPr lang="en-US" sz="1300" b="1" dirty="0">
                <a:solidFill>
                  <a:srgbClr val="4C3BCF"/>
                </a:solidFill>
                <a:latin typeface="Calibri" pitchFamily="34" charset="0"/>
                <a:ea typeface="Calibri" pitchFamily="34" charset="-122"/>
                <a:cs typeface="Calibri" pitchFamily="34" charset="-120"/>
              </a:rPr>
              <a:t>1.4</a:t>
            </a:r>
            <a:endParaRPr lang="en-US" sz="1300" dirty="0"/>
          </a:p>
        </p:txBody>
      </p:sp>
      <p:sp>
        <p:nvSpPr>
          <p:cNvPr id="15" name="Text 13"/>
          <p:cNvSpPr/>
          <p:nvPr/>
        </p:nvSpPr>
        <p:spPr>
          <a:xfrm>
            <a:off x="5303520" y="1892808"/>
            <a:ext cx="3291840" cy="384048"/>
          </a:xfrm>
          <a:prstGeom prst="rect">
            <a:avLst/>
          </a:prstGeom>
          <a:noFill/>
          <a:ln/>
        </p:spPr>
        <p:txBody>
          <a:bodyPr wrap="square" rtlCol="0" anchor="ctr"/>
          <a:lstStyle/>
          <a:p>
            <a:pPr marL="0" indent="0">
              <a:buNone/>
            </a:pPr>
            <a:r>
              <a:rPr lang="en-US" sz="1200" dirty="0">
                <a:solidFill>
                  <a:srgbClr val="22223B"/>
                </a:solidFill>
                <a:latin typeface="Calibri" pitchFamily="34" charset="0"/>
                <a:ea typeface="Calibri" pitchFamily="34" charset="-122"/>
                <a:cs typeface="Calibri" pitchFamily="34" charset="-120"/>
              </a:rPr>
              <a:t>The User Experience</a:t>
            </a:r>
            <a:endParaRPr lang="en-US" sz="1200" dirty="0"/>
          </a:p>
        </p:txBody>
      </p:sp>
      <p:sp>
        <p:nvSpPr>
          <p:cNvPr id="16" name="Shape 14"/>
          <p:cNvSpPr/>
          <p:nvPr/>
        </p:nvSpPr>
        <p:spPr>
          <a:xfrm>
            <a:off x="457200" y="2368296"/>
            <a:ext cx="3977640" cy="384048"/>
          </a:xfrm>
          <a:prstGeom prst="rect">
            <a:avLst/>
          </a:prstGeom>
          <a:solidFill>
            <a:srgbClr val="F4F2FF"/>
          </a:solidFill>
          <a:ln/>
        </p:spPr>
      </p:sp>
      <p:sp>
        <p:nvSpPr>
          <p:cNvPr id="17" name="Text 15"/>
          <p:cNvSpPr/>
          <p:nvPr/>
        </p:nvSpPr>
        <p:spPr>
          <a:xfrm>
            <a:off x="566928" y="2368296"/>
            <a:ext cx="502920" cy="384048"/>
          </a:xfrm>
          <a:prstGeom prst="rect">
            <a:avLst/>
          </a:prstGeom>
          <a:noFill/>
          <a:ln/>
        </p:spPr>
        <p:txBody>
          <a:bodyPr wrap="square" rtlCol="0" anchor="ctr"/>
          <a:lstStyle/>
          <a:p>
            <a:pPr marL="0" indent="0">
              <a:buNone/>
            </a:pPr>
            <a:r>
              <a:rPr lang="en-US" sz="1300" b="1" dirty="0">
                <a:solidFill>
                  <a:srgbClr val="4C3BCF"/>
                </a:solidFill>
                <a:latin typeface="Calibri" pitchFamily="34" charset="0"/>
                <a:ea typeface="Calibri" pitchFamily="34" charset="-122"/>
                <a:cs typeface="Calibri" pitchFamily="34" charset="-120"/>
              </a:rPr>
              <a:t>1.5</a:t>
            </a:r>
            <a:endParaRPr lang="en-US" sz="1300" dirty="0"/>
          </a:p>
        </p:txBody>
      </p:sp>
      <p:sp>
        <p:nvSpPr>
          <p:cNvPr id="18" name="Text 16"/>
          <p:cNvSpPr/>
          <p:nvPr/>
        </p:nvSpPr>
        <p:spPr>
          <a:xfrm>
            <a:off x="1051560" y="2368296"/>
            <a:ext cx="3291840" cy="384048"/>
          </a:xfrm>
          <a:prstGeom prst="rect">
            <a:avLst/>
          </a:prstGeom>
          <a:noFill/>
          <a:ln/>
        </p:spPr>
        <p:txBody>
          <a:bodyPr wrap="square" rtlCol="0" anchor="ctr"/>
          <a:lstStyle/>
          <a:p>
            <a:pPr marL="0" indent="0">
              <a:buNone/>
            </a:pPr>
            <a:r>
              <a:rPr lang="en-US" sz="1200" dirty="0">
                <a:solidFill>
                  <a:srgbClr val="22223B"/>
                </a:solidFill>
                <a:latin typeface="Calibri" pitchFamily="34" charset="0"/>
                <a:ea typeface="Calibri" pitchFamily="34" charset="-122"/>
                <a:cs typeface="Calibri" pitchFamily="34" charset="-120"/>
              </a:rPr>
              <a:t>Understanding Users</a:t>
            </a:r>
            <a:endParaRPr lang="en-US" sz="1200" dirty="0"/>
          </a:p>
        </p:txBody>
      </p:sp>
      <p:sp>
        <p:nvSpPr>
          <p:cNvPr id="19" name="Shape 17"/>
          <p:cNvSpPr/>
          <p:nvPr/>
        </p:nvSpPr>
        <p:spPr>
          <a:xfrm>
            <a:off x="4709160" y="2368296"/>
            <a:ext cx="3977640" cy="384048"/>
          </a:xfrm>
          <a:prstGeom prst="rect">
            <a:avLst/>
          </a:prstGeom>
          <a:solidFill>
            <a:srgbClr val="EFEBFF"/>
          </a:solidFill>
          <a:ln/>
        </p:spPr>
      </p:sp>
      <p:sp>
        <p:nvSpPr>
          <p:cNvPr id="20" name="Text 18"/>
          <p:cNvSpPr/>
          <p:nvPr/>
        </p:nvSpPr>
        <p:spPr>
          <a:xfrm>
            <a:off x="4818888" y="2368296"/>
            <a:ext cx="502920" cy="384048"/>
          </a:xfrm>
          <a:prstGeom prst="rect">
            <a:avLst/>
          </a:prstGeom>
          <a:noFill/>
          <a:ln/>
        </p:spPr>
        <p:txBody>
          <a:bodyPr wrap="square" rtlCol="0" anchor="ctr"/>
          <a:lstStyle/>
          <a:p>
            <a:pPr marL="0" indent="0">
              <a:buNone/>
            </a:pPr>
            <a:r>
              <a:rPr lang="en-US" sz="1300" b="1" dirty="0">
                <a:solidFill>
                  <a:srgbClr val="4C3BCF"/>
                </a:solidFill>
                <a:latin typeface="Calibri" pitchFamily="34" charset="0"/>
                <a:ea typeface="Calibri" pitchFamily="34" charset="-122"/>
                <a:cs typeface="Calibri" pitchFamily="34" charset="-120"/>
              </a:rPr>
              <a:t>1.6</a:t>
            </a:r>
            <a:endParaRPr lang="en-US" sz="1300" dirty="0"/>
          </a:p>
        </p:txBody>
      </p:sp>
      <p:sp>
        <p:nvSpPr>
          <p:cNvPr id="21" name="Text 19"/>
          <p:cNvSpPr/>
          <p:nvPr/>
        </p:nvSpPr>
        <p:spPr>
          <a:xfrm>
            <a:off x="5303520" y="2368296"/>
            <a:ext cx="3291840" cy="384048"/>
          </a:xfrm>
          <a:prstGeom prst="rect">
            <a:avLst/>
          </a:prstGeom>
          <a:noFill/>
          <a:ln/>
        </p:spPr>
        <p:txBody>
          <a:bodyPr wrap="square" rtlCol="0" anchor="ctr"/>
          <a:lstStyle/>
          <a:p>
            <a:pPr marL="0" indent="0">
              <a:buNone/>
            </a:pPr>
            <a:r>
              <a:rPr lang="en-US" sz="1200" dirty="0">
                <a:solidFill>
                  <a:srgbClr val="22223B"/>
                </a:solidFill>
                <a:latin typeface="Calibri" pitchFamily="34" charset="0"/>
                <a:ea typeface="Calibri" pitchFamily="34" charset="-122"/>
                <a:cs typeface="Calibri" pitchFamily="34" charset="-120"/>
              </a:rPr>
              <a:t>Accessibility and Inclusiveness</a:t>
            </a:r>
            <a:endParaRPr lang="en-US" sz="1200" dirty="0"/>
          </a:p>
        </p:txBody>
      </p:sp>
      <p:sp>
        <p:nvSpPr>
          <p:cNvPr id="22" name="Shape 20"/>
          <p:cNvSpPr/>
          <p:nvPr/>
        </p:nvSpPr>
        <p:spPr>
          <a:xfrm>
            <a:off x="457200" y="2843784"/>
            <a:ext cx="3977640" cy="384048"/>
          </a:xfrm>
          <a:prstGeom prst="rect">
            <a:avLst/>
          </a:prstGeom>
          <a:solidFill>
            <a:srgbClr val="F4F2FF"/>
          </a:solidFill>
          <a:ln/>
        </p:spPr>
      </p:sp>
      <p:sp>
        <p:nvSpPr>
          <p:cNvPr id="23" name="Text 21"/>
          <p:cNvSpPr/>
          <p:nvPr/>
        </p:nvSpPr>
        <p:spPr>
          <a:xfrm>
            <a:off x="566928" y="2843784"/>
            <a:ext cx="502920" cy="384048"/>
          </a:xfrm>
          <a:prstGeom prst="rect">
            <a:avLst/>
          </a:prstGeom>
          <a:noFill/>
          <a:ln/>
        </p:spPr>
        <p:txBody>
          <a:bodyPr wrap="square" rtlCol="0" anchor="ctr"/>
          <a:lstStyle/>
          <a:p>
            <a:pPr marL="0" indent="0">
              <a:buNone/>
            </a:pPr>
            <a:r>
              <a:rPr lang="en-US" sz="1300" b="1" dirty="0">
                <a:solidFill>
                  <a:srgbClr val="4C3BCF"/>
                </a:solidFill>
                <a:latin typeface="Calibri" pitchFamily="34" charset="0"/>
                <a:ea typeface="Calibri" pitchFamily="34" charset="-122"/>
                <a:cs typeface="Calibri" pitchFamily="34" charset="-120"/>
              </a:rPr>
              <a:t>1.7</a:t>
            </a:r>
            <a:endParaRPr lang="en-US" sz="1300" dirty="0"/>
          </a:p>
        </p:txBody>
      </p:sp>
      <p:sp>
        <p:nvSpPr>
          <p:cNvPr id="24" name="Text 22"/>
          <p:cNvSpPr/>
          <p:nvPr/>
        </p:nvSpPr>
        <p:spPr>
          <a:xfrm>
            <a:off x="1051560" y="2843784"/>
            <a:ext cx="3291840" cy="384048"/>
          </a:xfrm>
          <a:prstGeom prst="rect">
            <a:avLst/>
          </a:prstGeom>
          <a:noFill/>
          <a:ln/>
        </p:spPr>
        <p:txBody>
          <a:bodyPr wrap="square" rtlCol="0" anchor="ctr"/>
          <a:lstStyle/>
          <a:p>
            <a:pPr marL="0" indent="0">
              <a:buNone/>
            </a:pPr>
            <a:r>
              <a:rPr lang="en-US" sz="1200" dirty="0">
                <a:solidFill>
                  <a:srgbClr val="22223B"/>
                </a:solidFill>
                <a:latin typeface="Calibri" pitchFamily="34" charset="0"/>
                <a:ea typeface="Calibri" pitchFamily="34" charset="-122"/>
                <a:cs typeface="Calibri" pitchFamily="34" charset="-120"/>
              </a:rPr>
              <a:t>Usability and User Experience Goals</a:t>
            </a:r>
            <a:endParaRPr lang="en-US" sz="1200" dirty="0"/>
          </a:p>
        </p:txBody>
      </p:sp>
      <p:sp>
        <p:nvSpPr>
          <p:cNvPr id="25" name="Shape 23"/>
          <p:cNvSpPr/>
          <p:nvPr/>
        </p:nvSpPr>
        <p:spPr>
          <a:xfrm>
            <a:off x="4709160" y="2843784"/>
            <a:ext cx="3977640" cy="384048"/>
          </a:xfrm>
          <a:prstGeom prst="rect">
            <a:avLst/>
          </a:prstGeom>
          <a:solidFill>
            <a:srgbClr val="EFEBFF"/>
          </a:solidFill>
          <a:ln/>
        </p:spPr>
      </p:sp>
      <p:sp>
        <p:nvSpPr>
          <p:cNvPr id="26" name="Text 24"/>
          <p:cNvSpPr/>
          <p:nvPr/>
        </p:nvSpPr>
        <p:spPr>
          <a:xfrm>
            <a:off x="4818888" y="2843784"/>
            <a:ext cx="502920" cy="384048"/>
          </a:xfrm>
          <a:prstGeom prst="rect">
            <a:avLst/>
          </a:prstGeom>
          <a:noFill/>
          <a:ln/>
        </p:spPr>
        <p:txBody>
          <a:bodyPr wrap="square" rtlCol="0" anchor="ctr"/>
          <a:lstStyle/>
          <a:p>
            <a:pPr marL="0" indent="0">
              <a:buNone/>
            </a:pPr>
            <a:r>
              <a:rPr lang="en-US" sz="1300" b="1" dirty="0">
                <a:solidFill>
                  <a:srgbClr val="4C3BCF"/>
                </a:solidFill>
                <a:latin typeface="Calibri" pitchFamily="34" charset="0"/>
                <a:ea typeface="Calibri" pitchFamily="34" charset="-122"/>
                <a:cs typeface="Calibri" pitchFamily="34" charset="-120"/>
              </a:rPr>
              <a:t>1.8</a:t>
            </a:r>
            <a:endParaRPr lang="en-US" sz="1300" dirty="0"/>
          </a:p>
        </p:txBody>
      </p:sp>
      <p:sp>
        <p:nvSpPr>
          <p:cNvPr id="27" name="Text 25"/>
          <p:cNvSpPr/>
          <p:nvPr/>
        </p:nvSpPr>
        <p:spPr>
          <a:xfrm>
            <a:off x="5303520" y="2843784"/>
            <a:ext cx="3291840" cy="384048"/>
          </a:xfrm>
          <a:prstGeom prst="rect">
            <a:avLst/>
          </a:prstGeom>
          <a:noFill/>
          <a:ln/>
        </p:spPr>
        <p:txBody>
          <a:bodyPr wrap="square" rtlCol="0" anchor="ctr"/>
          <a:lstStyle/>
          <a:p>
            <a:pPr marL="0" indent="0">
              <a:buNone/>
            </a:pPr>
            <a:r>
              <a:rPr lang="en-US" sz="1200" dirty="0">
                <a:solidFill>
                  <a:srgbClr val="22223B"/>
                </a:solidFill>
                <a:latin typeface="Calibri" pitchFamily="34" charset="0"/>
                <a:ea typeface="Calibri" pitchFamily="34" charset="-122"/>
                <a:cs typeface="Calibri" pitchFamily="34" charset="-120"/>
              </a:rPr>
              <a:t>Design Principles</a:t>
            </a:r>
            <a:endParaRPr lang="en-US" sz="1200" dirty="0"/>
          </a:p>
        </p:txBody>
      </p:sp>
      <p:sp>
        <p:nvSpPr>
          <p:cNvPr id="28" name="Text 26"/>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29" name="Text 27"/>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3 / 29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1.1 INTRODUCTION</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Why Study Interaction Design?</a:t>
            </a:r>
            <a:endParaRPr lang="en-US" sz="2600" dirty="0"/>
          </a:p>
        </p:txBody>
      </p:sp>
      <p:sp>
        <p:nvSpPr>
          <p:cNvPr id="4" name="Text 2"/>
          <p:cNvSpPr/>
          <p:nvPr/>
        </p:nvSpPr>
        <p:spPr>
          <a:xfrm>
            <a:off x="457200" y="1371600"/>
            <a:ext cx="8229600" cy="777240"/>
          </a:xfrm>
          <a:prstGeom prst="rect">
            <a:avLst/>
          </a:prstGeom>
          <a:noFill/>
          <a:ln/>
        </p:spPr>
        <p:txBody>
          <a:bodyPr wrap="square" rtlCol="0" anchor="ctr"/>
          <a:lstStyle/>
          <a:p>
            <a:pPr marL="0" indent="0">
              <a:buNone/>
            </a:pPr>
            <a:r>
              <a:rPr lang="en-US" sz="1350" dirty="0">
                <a:solidFill>
                  <a:srgbClr val="22223B"/>
                </a:solidFill>
                <a:latin typeface="Calibri" pitchFamily="34" charset="0"/>
                <a:ea typeface="Calibri" pitchFamily="34" charset="-122"/>
                <a:cs typeface="Calibri" pitchFamily="34" charset="-120"/>
              </a:rPr>
              <a:t>Technology is now woven into almost every part of daily life — phones, cars, appliances, websites, and workplace software all depend on how well people can interact with them.</a:t>
            </a:r>
            <a:endParaRPr lang="en-US" sz="1350" dirty="0"/>
          </a:p>
        </p:txBody>
      </p:sp>
      <p:sp>
        <p:nvSpPr>
          <p:cNvPr id="5" name="Shape 3"/>
          <p:cNvSpPr/>
          <p:nvPr/>
        </p:nvSpPr>
        <p:spPr>
          <a:xfrm>
            <a:off x="457200" y="2331720"/>
            <a:ext cx="548640" cy="548640"/>
          </a:xfrm>
          <a:prstGeom prst="ellipse">
            <a:avLst/>
          </a:prstGeom>
          <a:solidFill>
            <a:srgbClr val="4C3BCF"/>
          </a:solidFill>
          <a:ln/>
        </p:spPr>
      </p:sp>
      <p:pic>
        <p:nvPicPr>
          <p:cNvPr id="6" name="Image 0" descr="preencoded.png"/>
          <p:cNvPicPr>
            <a:picLocks noChangeAspect="1"/>
          </p:cNvPicPr>
          <p:nvPr/>
        </p:nvPicPr>
        <p:blipFill>
          <a:blip r:embed="rId3"/>
          <a:stretch>
            <a:fillRect/>
          </a:stretch>
        </p:blipFill>
        <p:spPr>
          <a:xfrm>
            <a:off x="539496" y="2414016"/>
            <a:ext cx="384048" cy="384048"/>
          </a:xfrm>
          <a:prstGeom prst="rect">
            <a:avLst/>
          </a:prstGeom>
        </p:spPr>
      </p:pic>
      <p:sp>
        <p:nvSpPr>
          <p:cNvPr id="7" name="Text 4"/>
          <p:cNvSpPr/>
          <p:nvPr/>
        </p:nvSpPr>
        <p:spPr>
          <a:xfrm>
            <a:off x="1143000" y="2304288"/>
            <a:ext cx="2743200" cy="365760"/>
          </a:xfrm>
          <a:prstGeom prst="rect">
            <a:avLst/>
          </a:prstGeom>
          <a:noFill/>
          <a:ln/>
        </p:spPr>
        <p:txBody>
          <a:bodyPr wrap="square" rtlCol="0" anchor="ctr"/>
          <a:lstStyle/>
          <a:p>
            <a:pPr marL="0" indent="0">
              <a:buNone/>
            </a:pPr>
            <a:r>
              <a:rPr lang="en-US" sz="1250" b="1" dirty="0">
                <a:solidFill>
                  <a:srgbClr val="22223B"/>
                </a:solidFill>
                <a:latin typeface="Calibri" pitchFamily="34" charset="0"/>
                <a:ea typeface="Calibri" pitchFamily="34" charset="-122"/>
                <a:cs typeface="Calibri" pitchFamily="34" charset="-120"/>
              </a:rPr>
              <a:t>When interaction fails</a:t>
            </a:r>
            <a:endParaRPr lang="en-US" sz="1250" dirty="0"/>
          </a:p>
        </p:txBody>
      </p:sp>
      <p:sp>
        <p:nvSpPr>
          <p:cNvPr id="8" name="Text 5"/>
          <p:cNvSpPr/>
          <p:nvPr/>
        </p:nvSpPr>
        <p:spPr>
          <a:xfrm>
            <a:off x="3931920" y="2304288"/>
            <a:ext cx="4663440" cy="64008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Users make errors, feel frustrated, or abandon a product entirely</a:t>
            </a:r>
            <a:endParaRPr lang="en-US" sz="1100" dirty="0"/>
          </a:p>
        </p:txBody>
      </p:sp>
      <p:sp>
        <p:nvSpPr>
          <p:cNvPr id="9" name="Shape 6"/>
          <p:cNvSpPr/>
          <p:nvPr/>
        </p:nvSpPr>
        <p:spPr>
          <a:xfrm>
            <a:off x="457200" y="3108960"/>
            <a:ext cx="548640" cy="548640"/>
          </a:xfrm>
          <a:prstGeom prst="ellipse">
            <a:avLst/>
          </a:prstGeom>
          <a:solidFill>
            <a:srgbClr val="4C3BCF"/>
          </a:solidFill>
          <a:ln/>
        </p:spPr>
      </p:sp>
      <p:pic>
        <p:nvPicPr>
          <p:cNvPr id="10" name="Image 1" descr="preencoded.png"/>
          <p:cNvPicPr>
            <a:picLocks noChangeAspect="1"/>
          </p:cNvPicPr>
          <p:nvPr/>
        </p:nvPicPr>
        <p:blipFill>
          <a:blip r:embed="rId4"/>
          <a:stretch>
            <a:fillRect/>
          </a:stretch>
        </p:blipFill>
        <p:spPr>
          <a:xfrm>
            <a:off x="539496" y="3191256"/>
            <a:ext cx="384048" cy="384048"/>
          </a:xfrm>
          <a:prstGeom prst="rect">
            <a:avLst/>
          </a:prstGeom>
        </p:spPr>
      </p:pic>
      <p:sp>
        <p:nvSpPr>
          <p:cNvPr id="11" name="Text 7"/>
          <p:cNvSpPr/>
          <p:nvPr/>
        </p:nvSpPr>
        <p:spPr>
          <a:xfrm>
            <a:off x="1143000" y="3081528"/>
            <a:ext cx="2743200" cy="365760"/>
          </a:xfrm>
          <a:prstGeom prst="rect">
            <a:avLst/>
          </a:prstGeom>
          <a:noFill/>
          <a:ln/>
        </p:spPr>
        <p:txBody>
          <a:bodyPr wrap="square" rtlCol="0" anchor="ctr"/>
          <a:lstStyle/>
          <a:p>
            <a:pPr marL="0" indent="0">
              <a:buNone/>
            </a:pPr>
            <a:r>
              <a:rPr lang="en-US" sz="1250" b="1" dirty="0">
                <a:solidFill>
                  <a:srgbClr val="22223B"/>
                </a:solidFill>
                <a:latin typeface="Calibri" pitchFamily="34" charset="0"/>
                <a:ea typeface="Calibri" pitchFamily="34" charset="-122"/>
                <a:cs typeface="Calibri" pitchFamily="34" charset="-120"/>
              </a:rPr>
              <a:t>When interaction succeeds</a:t>
            </a:r>
            <a:endParaRPr lang="en-US" sz="1250" dirty="0"/>
          </a:p>
        </p:txBody>
      </p:sp>
      <p:sp>
        <p:nvSpPr>
          <p:cNvPr id="12" name="Text 8"/>
          <p:cNvSpPr/>
          <p:nvPr/>
        </p:nvSpPr>
        <p:spPr>
          <a:xfrm>
            <a:off x="3931920" y="3081528"/>
            <a:ext cx="4663440" cy="64008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Products feel invisible — people accomplish goals with little conscious effort</a:t>
            </a:r>
            <a:endParaRPr lang="en-US" sz="1100" dirty="0"/>
          </a:p>
        </p:txBody>
      </p:sp>
      <p:sp>
        <p:nvSpPr>
          <p:cNvPr id="13" name="Shape 9"/>
          <p:cNvSpPr/>
          <p:nvPr/>
        </p:nvSpPr>
        <p:spPr>
          <a:xfrm>
            <a:off x="457200" y="3886200"/>
            <a:ext cx="548640" cy="548640"/>
          </a:xfrm>
          <a:prstGeom prst="ellipse">
            <a:avLst/>
          </a:prstGeom>
          <a:solidFill>
            <a:srgbClr val="4C3BCF"/>
          </a:solidFill>
          <a:ln/>
        </p:spPr>
      </p:sp>
      <p:pic>
        <p:nvPicPr>
          <p:cNvPr id="14" name="Image 2" descr="preencoded.png"/>
          <p:cNvPicPr>
            <a:picLocks noChangeAspect="1"/>
          </p:cNvPicPr>
          <p:nvPr/>
        </p:nvPicPr>
        <p:blipFill>
          <a:blip r:embed="rId5"/>
          <a:stretch>
            <a:fillRect/>
          </a:stretch>
        </p:blipFill>
        <p:spPr>
          <a:xfrm>
            <a:off x="539496" y="3968496"/>
            <a:ext cx="384048" cy="384048"/>
          </a:xfrm>
          <a:prstGeom prst="rect">
            <a:avLst/>
          </a:prstGeom>
        </p:spPr>
      </p:pic>
      <p:sp>
        <p:nvSpPr>
          <p:cNvPr id="15" name="Text 10"/>
          <p:cNvSpPr/>
          <p:nvPr/>
        </p:nvSpPr>
        <p:spPr>
          <a:xfrm>
            <a:off x="1143000" y="3858768"/>
            <a:ext cx="2743200" cy="365760"/>
          </a:xfrm>
          <a:prstGeom prst="rect">
            <a:avLst/>
          </a:prstGeom>
          <a:noFill/>
          <a:ln/>
        </p:spPr>
        <p:txBody>
          <a:bodyPr wrap="square" rtlCol="0" anchor="ctr"/>
          <a:lstStyle/>
          <a:p>
            <a:pPr marL="0" indent="0">
              <a:buNone/>
            </a:pPr>
            <a:r>
              <a:rPr lang="en-US" sz="1250" b="1" dirty="0">
                <a:solidFill>
                  <a:srgbClr val="22223B"/>
                </a:solidFill>
                <a:latin typeface="Calibri" pitchFamily="34" charset="0"/>
                <a:ea typeface="Calibri" pitchFamily="34" charset="-122"/>
                <a:cs typeface="Calibri" pitchFamily="34" charset="-120"/>
              </a:rPr>
              <a:t>Chapter 1's purpose</a:t>
            </a:r>
            <a:endParaRPr lang="en-US" sz="1250" dirty="0"/>
          </a:p>
        </p:txBody>
      </p:sp>
      <p:sp>
        <p:nvSpPr>
          <p:cNvPr id="16" name="Text 11"/>
          <p:cNvSpPr/>
          <p:nvPr/>
        </p:nvSpPr>
        <p:spPr>
          <a:xfrm>
            <a:off x="3931920" y="3858768"/>
            <a:ext cx="4663440" cy="64008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Introduces the vocabulary and mindset used throughout the rest of the book</a:t>
            </a:r>
            <a:endParaRPr lang="en-US" sz="1100" dirty="0"/>
          </a:p>
        </p:txBody>
      </p:sp>
      <p:sp>
        <p:nvSpPr>
          <p:cNvPr id="17" name="Text 12"/>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18" name="Text 13"/>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4 / 29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1.2 GOOD AND POOR DESIGN — CASE 1</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The Classic Example: Doors</a:t>
            </a:r>
            <a:endParaRPr lang="en-US" sz="2600" dirty="0"/>
          </a:p>
        </p:txBody>
      </p:sp>
      <p:sp>
        <p:nvSpPr>
          <p:cNvPr id="4" name="Shape 2"/>
          <p:cNvSpPr/>
          <p:nvPr/>
        </p:nvSpPr>
        <p:spPr>
          <a:xfrm>
            <a:off x="457200" y="1371600"/>
            <a:ext cx="4023360" cy="3291840"/>
          </a:xfrm>
          <a:prstGeom prst="rect">
            <a:avLst/>
          </a:prstGeom>
          <a:solidFill>
            <a:srgbClr val="FFF1EE"/>
          </a:solidFill>
          <a:ln/>
          <a:effectLst>
            <a:outerShdw blurRad="101600" dist="38100" dir="2700000" algn="bl" rotWithShape="0">
              <a:srgbClr val="000000">
                <a:alpha val="12000"/>
              </a:srgbClr>
            </a:outerShdw>
          </a:effectLst>
        </p:spPr>
      </p:sp>
      <p:sp>
        <p:nvSpPr>
          <p:cNvPr id="5" name="Shape 3"/>
          <p:cNvSpPr/>
          <p:nvPr/>
        </p:nvSpPr>
        <p:spPr>
          <a:xfrm>
            <a:off x="731520" y="1645920"/>
            <a:ext cx="594360" cy="594360"/>
          </a:xfrm>
          <a:prstGeom prst="ellipse">
            <a:avLst/>
          </a:prstGeom>
          <a:solidFill>
            <a:srgbClr val="FF6B57"/>
          </a:solidFill>
          <a:ln/>
        </p:spPr>
      </p:sp>
      <p:pic>
        <p:nvPicPr>
          <p:cNvPr id="6" name="Image 0" descr="preencoded.png"/>
          <p:cNvPicPr>
            <a:picLocks noChangeAspect="1"/>
          </p:cNvPicPr>
          <p:nvPr/>
        </p:nvPicPr>
        <p:blipFill>
          <a:blip r:embed="rId3"/>
          <a:stretch>
            <a:fillRect/>
          </a:stretch>
        </p:blipFill>
        <p:spPr>
          <a:xfrm>
            <a:off x="820674" y="1735074"/>
            <a:ext cx="416052" cy="416052"/>
          </a:xfrm>
          <a:prstGeom prst="rect">
            <a:avLst/>
          </a:prstGeom>
        </p:spPr>
      </p:pic>
      <p:sp>
        <p:nvSpPr>
          <p:cNvPr id="7" name="Text 4"/>
          <p:cNvSpPr/>
          <p:nvPr/>
        </p:nvSpPr>
        <p:spPr>
          <a:xfrm>
            <a:off x="1463040" y="1691640"/>
            <a:ext cx="2880360" cy="502920"/>
          </a:xfrm>
          <a:prstGeom prst="rect">
            <a:avLst/>
          </a:prstGeom>
          <a:noFill/>
          <a:ln/>
        </p:spPr>
        <p:txBody>
          <a:bodyPr wrap="square" rtlCol="0" anchor="ctr"/>
          <a:lstStyle/>
          <a:p>
            <a:pPr marL="0" indent="0">
              <a:buNone/>
            </a:pPr>
            <a:r>
              <a:rPr lang="en-US" sz="1350" b="1" dirty="0">
                <a:solidFill>
                  <a:srgbClr val="FF6B57"/>
                </a:solidFill>
                <a:latin typeface="Calibri" pitchFamily="34" charset="0"/>
                <a:ea typeface="Calibri" pitchFamily="34" charset="-122"/>
                <a:cs typeface="Calibri" pitchFamily="34" charset="-120"/>
              </a:rPr>
              <a:t>The “Norman Door” Problem</a:t>
            </a:r>
            <a:endParaRPr lang="en-US" sz="1350" dirty="0"/>
          </a:p>
        </p:txBody>
      </p:sp>
      <p:sp>
        <p:nvSpPr>
          <p:cNvPr id="8" name="Text 5"/>
          <p:cNvSpPr/>
          <p:nvPr/>
        </p:nvSpPr>
        <p:spPr>
          <a:xfrm>
            <a:off x="731520" y="2331720"/>
            <a:ext cx="3520440" cy="2103120"/>
          </a:xfrm>
          <a:prstGeom prst="rect">
            <a:avLst/>
          </a:prstGeom>
          <a:noFill/>
          <a:ln/>
        </p:spPr>
        <p:txBody>
          <a:bodyPr wrap="square" rtlCol="0" anchor="ctr"/>
          <a:lstStyle/>
          <a:p>
            <a:pPr marL="342900" indent="-342900">
              <a:spcAft>
                <a:spcPts val="800"/>
              </a:spcAft>
              <a:buSzPct val="100000"/>
              <a:buChar char="●"/>
            </a:pPr>
            <a:r>
              <a:rPr lang="en-US" sz="1150" dirty="0">
                <a:solidFill>
                  <a:srgbClr val="22223B"/>
                </a:solidFill>
                <a:latin typeface="Calibri" pitchFamily="34" charset="0"/>
                <a:ea typeface="Calibri" pitchFamily="34" charset="-122"/>
                <a:cs typeface="Calibri" pitchFamily="34" charset="-120"/>
              </a:rPr>
              <a:t>A flat door plate on both sides gives no clue whether to push or pull</a:t>
            </a:r>
            <a:endParaRPr lang="en-US" sz="1150" dirty="0"/>
          </a:p>
          <a:p>
            <a:pPr marL="342900" indent="-342900">
              <a:spcAft>
                <a:spcPts val="800"/>
              </a:spcAft>
              <a:buSzPct val="100000"/>
              <a:buChar char="●"/>
            </a:pPr>
            <a:r>
              <a:rPr lang="en-US" sz="1150" dirty="0">
                <a:solidFill>
                  <a:srgbClr val="22223B"/>
                </a:solidFill>
                <a:latin typeface="Calibri" pitchFamily="34" charset="0"/>
                <a:ea typeface="Calibri" pitchFamily="34" charset="-122"/>
                <a:cs typeface="Calibri" pitchFamily="34" charset="-120"/>
              </a:rPr>
              <a:t>Users hesitate, push the wrong side, or pull when they should push</a:t>
            </a:r>
            <a:endParaRPr lang="en-US" sz="1150" dirty="0"/>
          </a:p>
          <a:p>
            <a:pPr marL="342900" indent="-342900">
              <a:spcAft>
                <a:spcPts val="800"/>
              </a:spcAft>
              <a:buSzPct val="100000"/>
              <a:buChar char="●"/>
            </a:pPr>
            <a:r>
              <a:rPr lang="en-US" sz="1150" dirty="0">
                <a:solidFill>
                  <a:srgbClr val="22223B"/>
                </a:solidFill>
                <a:latin typeface="Calibri" pitchFamily="34" charset="0"/>
                <a:ea typeface="Calibri" pitchFamily="34" charset="-122"/>
                <a:cs typeface="Calibri" pitchFamily="34" charset="-120"/>
              </a:rPr>
              <a:t>The problem is not the user — it is a design that fails to communicate its own operation</a:t>
            </a:r>
            <a:endParaRPr lang="en-US" sz="1150" dirty="0"/>
          </a:p>
        </p:txBody>
      </p:sp>
      <p:sp>
        <p:nvSpPr>
          <p:cNvPr id="9" name="Shape 6"/>
          <p:cNvSpPr/>
          <p:nvPr/>
        </p:nvSpPr>
        <p:spPr>
          <a:xfrm>
            <a:off x="4663440" y="1371600"/>
            <a:ext cx="4023360" cy="3291840"/>
          </a:xfrm>
          <a:prstGeom prst="rect">
            <a:avLst/>
          </a:prstGeom>
          <a:solidFill>
            <a:srgbClr val="F4F2FF"/>
          </a:solidFill>
          <a:ln/>
          <a:effectLst>
            <a:outerShdw blurRad="101600" dist="38100" dir="2700000" algn="bl" rotWithShape="0">
              <a:srgbClr val="000000">
                <a:alpha val="12000"/>
              </a:srgbClr>
            </a:outerShdw>
          </a:effectLst>
        </p:spPr>
      </p:sp>
      <p:sp>
        <p:nvSpPr>
          <p:cNvPr id="10" name="Shape 7"/>
          <p:cNvSpPr/>
          <p:nvPr/>
        </p:nvSpPr>
        <p:spPr>
          <a:xfrm>
            <a:off x="4937760" y="1645920"/>
            <a:ext cx="594360" cy="594360"/>
          </a:xfrm>
          <a:prstGeom prst="ellipse">
            <a:avLst/>
          </a:prstGeom>
          <a:solidFill>
            <a:srgbClr val="4C3BCF"/>
          </a:solidFill>
          <a:ln/>
        </p:spPr>
      </p:sp>
      <p:pic>
        <p:nvPicPr>
          <p:cNvPr id="11" name="Image 1" descr="preencoded.png"/>
          <p:cNvPicPr>
            <a:picLocks noChangeAspect="1"/>
          </p:cNvPicPr>
          <p:nvPr/>
        </p:nvPicPr>
        <p:blipFill>
          <a:blip r:embed="rId4"/>
          <a:stretch>
            <a:fillRect/>
          </a:stretch>
        </p:blipFill>
        <p:spPr>
          <a:xfrm>
            <a:off x="5026914" y="1735074"/>
            <a:ext cx="416052" cy="416052"/>
          </a:xfrm>
          <a:prstGeom prst="rect">
            <a:avLst/>
          </a:prstGeom>
        </p:spPr>
      </p:pic>
      <p:sp>
        <p:nvSpPr>
          <p:cNvPr id="12" name="Text 8"/>
          <p:cNvSpPr/>
          <p:nvPr/>
        </p:nvSpPr>
        <p:spPr>
          <a:xfrm>
            <a:off x="5669280" y="1691640"/>
            <a:ext cx="2880360" cy="502920"/>
          </a:xfrm>
          <a:prstGeom prst="rect">
            <a:avLst/>
          </a:prstGeom>
          <a:noFill/>
          <a:ln/>
        </p:spPr>
        <p:txBody>
          <a:bodyPr wrap="square" rtlCol="0" anchor="ctr"/>
          <a:lstStyle/>
          <a:p>
            <a:pPr marL="0" indent="0">
              <a:buNone/>
            </a:pPr>
            <a:r>
              <a:rPr lang="en-US" sz="1350" b="1" dirty="0">
                <a:solidFill>
                  <a:srgbClr val="342B81"/>
                </a:solidFill>
                <a:latin typeface="Calibri" pitchFamily="34" charset="0"/>
                <a:ea typeface="Calibri" pitchFamily="34" charset="-122"/>
                <a:cs typeface="Calibri" pitchFamily="34" charset="-120"/>
              </a:rPr>
              <a:t>A Well-Designed Door</a:t>
            </a:r>
            <a:endParaRPr lang="en-US" sz="1350" dirty="0"/>
          </a:p>
        </p:txBody>
      </p:sp>
      <p:sp>
        <p:nvSpPr>
          <p:cNvPr id="13" name="Text 9"/>
          <p:cNvSpPr/>
          <p:nvPr/>
        </p:nvSpPr>
        <p:spPr>
          <a:xfrm>
            <a:off x="4937760" y="2331720"/>
            <a:ext cx="3520440" cy="2103120"/>
          </a:xfrm>
          <a:prstGeom prst="rect">
            <a:avLst/>
          </a:prstGeom>
          <a:noFill/>
          <a:ln/>
        </p:spPr>
        <p:txBody>
          <a:bodyPr wrap="square" rtlCol="0" anchor="ctr"/>
          <a:lstStyle/>
          <a:p>
            <a:pPr marL="342900" indent="-342900">
              <a:spcAft>
                <a:spcPts val="800"/>
              </a:spcAft>
              <a:buSzPct val="100000"/>
              <a:buChar char="●"/>
            </a:pPr>
            <a:r>
              <a:rPr lang="en-US" sz="1150" dirty="0">
                <a:solidFill>
                  <a:srgbClr val="22223B"/>
                </a:solidFill>
                <a:latin typeface="Calibri" pitchFamily="34" charset="0"/>
                <a:ea typeface="Calibri" pitchFamily="34" charset="-122"/>
                <a:cs typeface="Calibri" pitchFamily="34" charset="-120"/>
              </a:rPr>
              <a:t>A flat plate signals “push”; a handle or bar signals “pull”</a:t>
            </a:r>
            <a:endParaRPr lang="en-US" sz="1150" dirty="0"/>
          </a:p>
          <a:p>
            <a:pPr marL="342900" indent="-342900">
              <a:spcAft>
                <a:spcPts val="800"/>
              </a:spcAft>
              <a:buSzPct val="100000"/>
              <a:buChar char="●"/>
            </a:pPr>
            <a:r>
              <a:rPr lang="en-US" sz="1150" dirty="0">
                <a:solidFill>
                  <a:srgbClr val="22223B"/>
                </a:solidFill>
                <a:latin typeface="Calibri" pitchFamily="34" charset="0"/>
                <a:ea typeface="Calibri" pitchFamily="34" charset="-122"/>
                <a:cs typeface="Calibri" pitchFamily="34" charset="-120"/>
              </a:rPr>
              <a:t>The design itself communicates the correct action — no sign or instruction needed</a:t>
            </a:r>
            <a:endParaRPr lang="en-US" sz="1150" dirty="0"/>
          </a:p>
          <a:p>
            <a:pPr marL="342900" indent="-342900">
              <a:spcAft>
                <a:spcPts val="800"/>
              </a:spcAft>
              <a:buSzPct val="100000"/>
              <a:buChar char="●"/>
            </a:pPr>
            <a:r>
              <a:rPr lang="en-US" sz="1150" dirty="0">
                <a:solidFill>
                  <a:srgbClr val="22223B"/>
                </a:solidFill>
                <a:latin typeface="Calibri" pitchFamily="34" charset="0"/>
                <a:ea typeface="Calibri" pitchFamily="34" charset="-122"/>
                <a:cs typeface="Calibri" pitchFamily="34" charset="-120"/>
              </a:rPr>
              <a:t>This mapping between appearance and action is called an affordance</a:t>
            </a:r>
            <a:endParaRPr lang="en-US" sz="1150" dirty="0"/>
          </a:p>
        </p:txBody>
      </p:sp>
      <p:sp>
        <p:nvSpPr>
          <p:cNvPr id="14" name="Text 10"/>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15" name="Text 11"/>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5 / 29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1.2 GOOD AND POOR DESIGN — CASE 2</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Poor Design in Everyday Technology</a:t>
            </a:r>
            <a:endParaRPr lang="en-US" sz="2600" dirty="0"/>
          </a:p>
        </p:txBody>
      </p:sp>
      <p:sp>
        <p:nvSpPr>
          <p:cNvPr id="4" name="Shape 2"/>
          <p:cNvSpPr/>
          <p:nvPr/>
        </p:nvSpPr>
        <p:spPr>
          <a:xfrm>
            <a:off x="457200" y="1417320"/>
            <a:ext cx="3977640" cy="914400"/>
          </a:xfrm>
          <a:prstGeom prst="rect">
            <a:avLst/>
          </a:prstGeom>
          <a:solidFill>
            <a:srgbClr val="F4F2FF"/>
          </a:solidFill>
          <a:ln/>
        </p:spPr>
      </p:sp>
      <p:sp>
        <p:nvSpPr>
          <p:cNvPr id="5" name="Shape 3"/>
          <p:cNvSpPr/>
          <p:nvPr/>
        </p:nvSpPr>
        <p:spPr>
          <a:xfrm>
            <a:off x="594360" y="1600200"/>
            <a:ext cx="548640" cy="548640"/>
          </a:xfrm>
          <a:prstGeom prst="ellipse">
            <a:avLst/>
          </a:prstGeom>
          <a:solidFill>
            <a:srgbClr val="FF6B57"/>
          </a:solidFill>
          <a:ln/>
        </p:spPr>
      </p:sp>
      <p:pic>
        <p:nvPicPr>
          <p:cNvPr id="6" name="Image 0" descr="preencoded.png"/>
          <p:cNvPicPr>
            <a:picLocks noChangeAspect="1"/>
          </p:cNvPicPr>
          <p:nvPr/>
        </p:nvPicPr>
        <p:blipFill>
          <a:blip r:embed="rId3"/>
          <a:stretch>
            <a:fillRect/>
          </a:stretch>
        </p:blipFill>
        <p:spPr>
          <a:xfrm>
            <a:off x="676656" y="1682496"/>
            <a:ext cx="384048" cy="384048"/>
          </a:xfrm>
          <a:prstGeom prst="rect">
            <a:avLst/>
          </a:prstGeom>
        </p:spPr>
      </p:pic>
      <p:sp>
        <p:nvSpPr>
          <p:cNvPr id="7" name="Text 4"/>
          <p:cNvSpPr/>
          <p:nvPr/>
        </p:nvSpPr>
        <p:spPr>
          <a:xfrm>
            <a:off x="1280160" y="1490472"/>
            <a:ext cx="3063240" cy="274320"/>
          </a:xfrm>
          <a:prstGeom prst="rect">
            <a:avLst/>
          </a:prstGeom>
          <a:noFill/>
          <a:ln/>
        </p:spPr>
        <p:txBody>
          <a:bodyPr wrap="square" rtlCol="0" anchor="ctr"/>
          <a:lstStyle/>
          <a:p>
            <a:pPr marL="0" indent="0">
              <a:buNone/>
            </a:pPr>
            <a:r>
              <a:rPr lang="en-US" sz="1180" b="1" dirty="0">
                <a:solidFill>
                  <a:srgbClr val="22223B"/>
                </a:solidFill>
                <a:latin typeface="Calibri" pitchFamily="34" charset="0"/>
                <a:ea typeface="Calibri" pitchFamily="34" charset="-122"/>
                <a:cs typeface="Calibri" pitchFamily="34" charset="-120"/>
              </a:rPr>
              <a:t>Overloaded remote controls</a:t>
            </a:r>
            <a:endParaRPr lang="en-US" sz="1180" dirty="0"/>
          </a:p>
        </p:txBody>
      </p:sp>
      <p:sp>
        <p:nvSpPr>
          <p:cNvPr id="8" name="Text 5"/>
          <p:cNvSpPr/>
          <p:nvPr/>
        </p:nvSpPr>
        <p:spPr>
          <a:xfrm>
            <a:off x="1280160" y="1764792"/>
            <a:ext cx="3063240" cy="502920"/>
          </a:xfrm>
          <a:prstGeom prst="rect">
            <a:avLst/>
          </a:prstGeom>
          <a:noFill/>
          <a:ln/>
        </p:spPr>
        <p:txBody>
          <a:bodyPr wrap="square" rtlCol="0" anchor="ctr"/>
          <a:lstStyle/>
          <a:p>
            <a:pPr marL="0" indent="0">
              <a:buNone/>
            </a:pPr>
            <a:r>
              <a:rPr lang="en-US" sz="930" dirty="0">
                <a:solidFill>
                  <a:srgbClr val="6B7280"/>
                </a:solidFill>
                <a:latin typeface="Calibri" pitchFamily="34" charset="0"/>
                <a:ea typeface="Calibri" pitchFamily="34" charset="-122"/>
                <a:cs typeface="Calibri" pitchFamily="34" charset="-120"/>
              </a:rPr>
              <a:t>Dozens of unlabeled, similarly-sized buttons force users to guess or hunt for the right one</a:t>
            </a:r>
            <a:endParaRPr lang="en-US" sz="930" dirty="0"/>
          </a:p>
        </p:txBody>
      </p:sp>
      <p:sp>
        <p:nvSpPr>
          <p:cNvPr id="9" name="Shape 6"/>
          <p:cNvSpPr/>
          <p:nvPr/>
        </p:nvSpPr>
        <p:spPr>
          <a:xfrm>
            <a:off x="4709160" y="1417320"/>
            <a:ext cx="3977640" cy="914400"/>
          </a:xfrm>
          <a:prstGeom prst="rect">
            <a:avLst/>
          </a:prstGeom>
          <a:solidFill>
            <a:srgbClr val="F4F2FF"/>
          </a:solidFill>
          <a:ln/>
        </p:spPr>
      </p:sp>
      <p:sp>
        <p:nvSpPr>
          <p:cNvPr id="10" name="Shape 7"/>
          <p:cNvSpPr/>
          <p:nvPr/>
        </p:nvSpPr>
        <p:spPr>
          <a:xfrm>
            <a:off x="4846320" y="1600200"/>
            <a:ext cx="548640" cy="548640"/>
          </a:xfrm>
          <a:prstGeom prst="ellipse">
            <a:avLst/>
          </a:prstGeom>
          <a:solidFill>
            <a:srgbClr val="FF6B57"/>
          </a:solidFill>
          <a:ln/>
        </p:spPr>
      </p:sp>
      <p:pic>
        <p:nvPicPr>
          <p:cNvPr id="11" name="Image 1" descr="preencoded.png"/>
          <p:cNvPicPr>
            <a:picLocks noChangeAspect="1"/>
          </p:cNvPicPr>
          <p:nvPr/>
        </p:nvPicPr>
        <p:blipFill>
          <a:blip r:embed="rId4"/>
          <a:stretch>
            <a:fillRect/>
          </a:stretch>
        </p:blipFill>
        <p:spPr>
          <a:xfrm>
            <a:off x="4928616" y="1682496"/>
            <a:ext cx="384048" cy="384048"/>
          </a:xfrm>
          <a:prstGeom prst="rect">
            <a:avLst/>
          </a:prstGeom>
        </p:spPr>
      </p:pic>
      <p:sp>
        <p:nvSpPr>
          <p:cNvPr id="12" name="Text 8"/>
          <p:cNvSpPr/>
          <p:nvPr/>
        </p:nvSpPr>
        <p:spPr>
          <a:xfrm>
            <a:off x="5532120" y="1490472"/>
            <a:ext cx="3063240" cy="274320"/>
          </a:xfrm>
          <a:prstGeom prst="rect">
            <a:avLst/>
          </a:prstGeom>
          <a:noFill/>
          <a:ln/>
        </p:spPr>
        <p:txBody>
          <a:bodyPr wrap="square" rtlCol="0" anchor="ctr"/>
          <a:lstStyle/>
          <a:p>
            <a:pPr marL="0" indent="0">
              <a:buNone/>
            </a:pPr>
            <a:r>
              <a:rPr lang="en-US" sz="1180" b="1" dirty="0">
                <a:solidFill>
                  <a:srgbClr val="22223B"/>
                </a:solidFill>
                <a:latin typeface="Calibri" pitchFamily="34" charset="0"/>
                <a:ea typeface="Calibri" pitchFamily="34" charset="-122"/>
                <a:cs typeface="Calibri" pitchFamily="34" charset="-120"/>
              </a:rPr>
              <a:t>Confusing elevator panels</a:t>
            </a:r>
            <a:endParaRPr lang="en-US" sz="1180" dirty="0"/>
          </a:p>
        </p:txBody>
      </p:sp>
      <p:sp>
        <p:nvSpPr>
          <p:cNvPr id="13" name="Text 9"/>
          <p:cNvSpPr/>
          <p:nvPr/>
        </p:nvSpPr>
        <p:spPr>
          <a:xfrm>
            <a:off x="5532120" y="1764792"/>
            <a:ext cx="3063240" cy="502920"/>
          </a:xfrm>
          <a:prstGeom prst="rect">
            <a:avLst/>
          </a:prstGeom>
          <a:noFill/>
          <a:ln/>
        </p:spPr>
        <p:txBody>
          <a:bodyPr wrap="square" rtlCol="0" anchor="ctr"/>
          <a:lstStyle/>
          <a:p>
            <a:pPr marL="0" indent="0">
              <a:buNone/>
            </a:pPr>
            <a:r>
              <a:rPr lang="en-US" sz="930" dirty="0">
                <a:solidFill>
                  <a:srgbClr val="6B7280"/>
                </a:solidFill>
                <a:latin typeface="Calibri" pitchFamily="34" charset="0"/>
                <a:ea typeface="Calibri" pitchFamily="34" charset="-122"/>
                <a:cs typeface="Calibri" pitchFamily="34" charset="-120"/>
              </a:rPr>
              <a:t>Unclear floor numbering and button layout leads people to press the wrong floor</a:t>
            </a:r>
            <a:endParaRPr lang="en-US" sz="930" dirty="0"/>
          </a:p>
        </p:txBody>
      </p:sp>
      <p:sp>
        <p:nvSpPr>
          <p:cNvPr id="14" name="Shape 10"/>
          <p:cNvSpPr/>
          <p:nvPr/>
        </p:nvSpPr>
        <p:spPr>
          <a:xfrm>
            <a:off x="457200" y="2468880"/>
            <a:ext cx="3977640" cy="914400"/>
          </a:xfrm>
          <a:prstGeom prst="rect">
            <a:avLst/>
          </a:prstGeom>
          <a:solidFill>
            <a:srgbClr val="F4F2FF"/>
          </a:solidFill>
          <a:ln/>
        </p:spPr>
      </p:sp>
      <p:sp>
        <p:nvSpPr>
          <p:cNvPr id="15" name="Shape 11"/>
          <p:cNvSpPr/>
          <p:nvPr/>
        </p:nvSpPr>
        <p:spPr>
          <a:xfrm>
            <a:off x="594360" y="2651760"/>
            <a:ext cx="548640" cy="548640"/>
          </a:xfrm>
          <a:prstGeom prst="ellipse">
            <a:avLst/>
          </a:prstGeom>
          <a:solidFill>
            <a:srgbClr val="FF6B57"/>
          </a:solidFill>
          <a:ln/>
        </p:spPr>
      </p:sp>
      <p:pic>
        <p:nvPicPr>
          <p:cNvPr id="16" name="Image 2" descr="preencoded.png"/>
          <p:cNvPicPr>
            <a:picLocks noChangeAspect="1"/>
          </p:cNvPicPr>
          <p:nvPr/>
        </p:nvPicPr>
        <p:blipFill>
          <a:blip r:embed="rId5"/>
          <a:stretch>
            <a:fillRect/>
          </a:stretch>
        </p:blipFill>
        <p:spPr>
          <a:xfrm>
            <a:off x="676656" y="2734056"/>
            <a:ext cx="384048" cy="384048"/>
          </a:xfrm>
          <a:prstGeom prst="rect">
            <a:avLst/>
          </a:prstGeom>
        </p:spPr>
      </p:pic>
      <p:sp>
        <p:nvSpPr>
          <p:cNvPr id="17" name="Text 12"/>
          <p:cNvSpPr/>
          <p:nvPr/>
        </p:nvSpPr>
        <p:spPr>
          <a:xfrm>
            <a:off x="1280160" y="2542032"/>
            <a:ext cx="3063240" cy="274320"/>
          </a:xfrm>
          <a:prstGeom prst="rect">
            <a:avLst/>
          </a:prstGeom>
          <a:noFill/>
          <a:ln/>
        </p:spPr>
        <p:txBody>
          <a:bodyPr wrap="square" rtlCol="0" anchor="ctr"/>
          <a:lstStyle/>
          <a:p>
            <a:pPr marL="0" indent="0">
              <a:buNone/>
            </a:pPr>
            <a:r>
              <a:rPr lang="en-US" sz="1180" b="1" dirty="0">
                <a:solidFill>
                  <a:srgbClr val="22223B"/>
                </a:solidFill>
                <a:latin typeface="Calibri" pitchFamily="34" charset="0"/>
                <a:ea typeface="Calibri" pitchFamily="34" charset="-122"/>
                <a:cs typeface="Calibri" pitchFamily="34" charset="-120"/>
              </a:rPr>
              <a:t>Cluttered software menus</a:t>
            </a:r>
            <a:endParaRPr lang="en-US" sz="1180" dirty="0"/>
          </a:p>
        </p:txBody>
      </p:sp>
      <p:sp>
        <p:nvSpPr>
          <p:cNvPr id="18" name="Text 13"/>
          <p:cNvSpPr/>
          <p:nvPr/>
        </p:nvSpPr>
        <p:spPr>
          <a:xfrm>
            <a:off x="1280160" y="2816352"/>
            <a:ext cx="3063240" cy="502920"/>
          </a:xfrm>
          <a:prstGeom prst="rect">
            <a:avLst/>
          </a:prstGeom>
          <a:noFill/>
          <a:ln/>
        </p:spPr>
        <p:txBody>
          <a:bodyPr wrap="square" rtlCol="0" anchor="ctr"/>
          <a:lstStyle/>
          <a:p>
            <a:pPr marL="0" indent="0">
              <a:buNone/>
            </a:pPr>
            <a:r>
              <a:rPr lang="en-US" sz="930" dirty="0">
                <a:solidFill>
                  <a:srgbClr val="6B7280"/>
                </a:solidFill>
                <a:latin typeface="Calibri" pitchFamily="34" charset="0"/>
                <a:ea typeface="Calibri" pitchFamily="34" charset="-122"/>
                <a:cs typeface="Calibri" pitchFamily="34" charset="-120"/>
              </a:rPr>
              <a:t>Too many options with no clear hierarchy overwhelm first-time users</a:t>
            </a:r>
            <a:endParaRPr lang="en-US" sz="930" dirty="0"/>
          </a:p>
        </p:txBody>
      </p:sp>
      <p:sp>
        <p:nvSpPr>
          <p:cNvPr id="19" name="Shape 14"/>
          <p:cNvSpPr/>
          <p:nvPr/>
        </p:nvSpPr>
        <p:spPr>
          <a:xfrm>
            <a:off x="4709160" y="2468880"/>
            <a:ext cx="3977640" cy="914400"/>
          </a:xfrm>
          <a:prstGeom prst="rect">
            <a:avLst/>
          </a:prstGeom>
          <a:solidFill>
            <a:srgbClr val="F4F2FF"/>
          </a:solidFill>
          <a:ln/>
        </p:spPr>
      </p:sp>
      <p:sp>
        <p:nvSpPr>
          <p:cNvPr id="20" name="Shape 15"/>
          <p:cNvSpPr/>
          <p:nvPr/>
        </p:nvSpPr>
        <p:spPr>
          <a:xfrm>
            <a:off x="4846320" y="2651760"/>
            <a:ext cx="548640" cy="548640"/>
          </a:xfrm>
          <a:prstGeom prst="ellipse">
            <a:avLst/>
          </a:prstGeom>
          <a:solidFill>
            <a:srgbClr val="FF6B57"/>
          </a:solidFill>
          <a:ln/>
        </p:spPr>
      </p:sp>
      <p:pic>
        <p:nvPicPr>
          <p:cNvPr id="21" name="Image 3" descr="preencoded.png"/>
          <p:cNvPicPr>
            <a:picLocks noChangeAspect="1"/>
          </p:cNvPicPr>
          <p:nvPr/>
        </p:nvPicPr>
        <p:blipFill>
          <a:blip r:embed="rId6"/>
          <a:stretch>
            <a:fillRect/>
          </a:stretch>
        </p:blipFill>
        <p:spPr>
          <a:xfrm>
            <a:off x="4928616" y="2734056"/>
            <a:ext cx="384048" cy="384048"/>
          </a:xfrm>
          <a:prstGeom prst="rect">
            <a:avLst/>
          </a:prstGeom>
        </p:spPr>
      </p:pic>
      <p:sp>
        <p:nvSpPr>
          <p:cNvPr id="22" name="Text 16"/>
          <p:cNvSpPr/>
          <p:nvPr/>
        </p:nvSpPr>
        <p:spPr>
          <a:xfrm>
            <a:off x="5532120" y="2542032"/>
            <a:ext cx="3063240" cy="274320"/>
          </a:xfrm>
          <a:prstGeom prst="rect">
            <a:avLst/>
          </a:prstGeom>
          <a:noFill/>
          <a:ln/>
        </p:spPr>
        <p:txBody>
          <a:bodyPr wrap="square" rtlCol="0" anchor="ctr"/>
          <a:lstStyle/>
          <a:p>
            <a:pPr marL="0" indent="0">
              <a:buNone/>
            </a:pPr>
            <a:r>
              <a:rPr lang="en-US" sz="1180" b="1" dirty="0">
                <a:solidFill>
                  <a:srgbClr val="22223B"/>
                </a:solidFill>
                <a:latin typeface="Calibri" pitchFamily="34" charset="0"/>
                <a:ea typeface="Calibri" pitchFamily="34" charset="-122"/>
                <a:cs typeface="Calibri" pitchFamily="34" charset="-120"/>
              </a:rPr>
              <a:t>Inconsistent dashboard icons</a:t>
            </a:r>
            <a:endParaRPr lang="en-US" sz="1180" dirty="0"/>
          </a:p>
        </p:txBody>
      </p:sp>
      <p:sp>
        <p:nvSpPr>
          <p:cNvPr id="23" name="Text 17"/>
          <p:cNvSpPr/>
          <p:nvPr/>
        </p:nvSpPr>
        <p:spPr>
          <a:xfrm>
            <a:off x="5532120" y="2816352"/>
            <a:ext cx="3063240" cy="502920"/>
          </a:xfrm>
          <a:prstGeom prst="rect">
            <a:avLst/>
          </a:prstGeom>
          <a:noFill/>
          <a:ln/>
        </p:spPr>
        <p:txBody>
          <a:bodyPr wrap="square" rtlCol="0" anchor="ctr"/>
          <a:lstStyle/>
          <a:p>
            <a:pPr marL="0" indent="0">
              <a:buNone/>
            </a:pPr>
            <a:r>
              <a:rPr lang="en-US" sz="930" dirty="0">
                <a:solidFill>
                  <a:srgbClr val="6B7280"/>
                </a:solidFill>
                <a:latin typeface="Calibri" pitchFamily="34" charset="0"/>
                <a:ea typeface="Calibri" pitchFamily="34" charset="-122"/>
                <a:cs typeface="Calibri" pitchFamily="34" charset="-120"/>
              </a:rPr>
              <a:t>Symbols that don't match users' expectations slow down recognition while driving</a:t>
            </a:r>
            <a:endParaRPr lang="en-US" sz="930" dirty="0"/>
          </a:p>
        </p:txBody>
      </p:sp>
      <p:sp>
        <p:nvSpPr>
          <p:cNvPr id="24" name="Text 18"/>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25" name="Text 19"/>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6 / 29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1.2 GOOD AND POOR DESIGN — SYNTHESIS</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What Separates Good Design from Poor Design?</a:t>
            </a:r>
            <a:endParaRPr lang="en-US" sz="2600" dirty="0"/>
          </a:p>
        </p:txBody>
      </p:sp>
      <p:sp>
        <p:nvSpPr>
          <p:cNvPr id="4" name="Text 2"/>
          <p:cNvSpPr/>
          <p:nvPr/>
        </p:nvSpPr>
        <p:spPr>
          <a:xfrm>
            <a:off x="457200" y="1280160"/>
            <a:ext cx="8229600" cy="320040"/>
          </a:xfrm>
          <a:prstGeom prst="rect">
            <a:avLst/>
          </a:prstGeom>
          <a:noFill/>
          <a:ln/>
        </p:spPr>
        <p:txBody>
          <a:bodyPr wrap="square" rtlCol="0" anchor="ctr"/>
          <a:lstStyle/>
          <a:p>
            <a:pPr marL="0" indent="0">
              <a:buNone/>
            </a:pPr>
            <a:r>
              <a:rPr lang="en-US" sz="1250" i="1" dirty="0">
                <a:solidFill>
                  <a:srgbClr val="6B7280"/>
                </a:solidFill>
                <a:latin typeface="Calibri" pitchFamily="34" charset="0"/>
                <a:ea typeface="Calibri" pitchFamily="34" charset="-122"/>
                <a:cs typeface="Calibri" pitchFamily="34" charset="-120"/>
              </a:rPr>
              <a:t>Across all these examples, good design consistently does four things:</a:t>
            </a:r>
            <a:endParaRPr lang="en-US" sz="1250" dirty="0"/>
          </a:p>
        </p:txBody>
      </p:sp>
      <p:sp>
        <p:nvSpPr>
          <p:cNvPr id="5" name="Shape 3"/>
          <p:cNvSpPr/>
          <p:nvPr/>
        </p:nvSpPr>
        <p:spPr>
          <a:xfrm>
            <a:off x="502920" y="1828800"/>
            <a:ext cx="502920" cy="502920"/>
          </a:xfrm>
          <a:prstGeom prst="ellipse">
            <a:avLst/>
          </a:prstGeom>
          <a:solidFill>
            <a:srgbClr val="4C3BCF"/>
          </a:solidFill>
          <a:ln/>
        </p:spPr>
      </p:sp>
      <p:pic>
        <p:nvPicPr>
          <p:cNvPr id="6" name="Image 0" descr="preencoded.png"/>
          <p:cNvPicPr>
            <a:picLocks noChangeAspect="1"/>
          </p:cNvPicPr>
          <p:nvPr/>
        </p:nvPicPr>
        <p:blipFill>
          <a:blip r:embed="rId3"/>
          <a:stretch>
            <a:fillRect/>
          </a:stretch>
        </p:blipFill>
        <p:spPr>
          <a:xfrm>
            <a:off x="578358" y="1904238"/>
            <a:ext cx="352044" cy="352044"/>
          </a:xfrm>
          <a:prstGeom prst="rect">
            <a:avLst/>
          </a:prstGeom>
        </p:spPr>
      </p:pic>
      <p:sp>
        <p:nvSpPr>
          <p:cNvPr id="7" name="Text 4"/>
          <p:cNvSpPr/>
          <p:nvPr/>
        </p:nvSpPr>
        <p:spPr>
          <a:xfrm>
            <a:off x="1188720" y="1810512"/>
            <a:ext cx="3017520" cy="502920"/>
          </a:xfrm>
          <a:prstGeom prst="rect">
            <a:avLst/>
          </a:prstGeom>
          <a:noFill/>
          <a:ln/>
        </p:spPr>
        <p:txBody>
          <a:bodyPr wrap="square" rtlCol="0" anchor="ctr"/>
          <a:lstStyle/>
          <a:p>
            <a:pPr marL="0" indent="0">
              <a:buNone/>
            </a:pPr>
            <a:r>
              <a:rPr lang="en-US" sz="1250" b="1" dirty="0">
                <a:solidFill>
                  <a:srgbClr val="22223B"/>
                </a:solidFill>
                <a:latin typeface="Calibri" pitchFamily="34" charset="0"/>
                <a:ea typeface="Calibri" pitchFamily="34" charset="-122"/>
                <a:cs typeface="Calibri" pitchFamily="34" charset="-120"/>
              </a:rPr>
              <a:t>Makes the right action obvious</a:t>
            </a:r>
            <a:endParaRPr lang="en-US" sz="1250" dirty="0"/>
          </a:p>
        </p:txBody>
      </p:sp>
      <p:sp>
        <p:nvSpPr>
          <p:cNvPr id="8" name="Text 5"/>
          <p:cNvSpPr/>
          <p:nvPr/>
        </p:nvSpPr>
        <p:spPr>
          <a:xfrm>
            <a:off x="4297680" y="1810512"/>
            <a:ext cx="4297680" cy="5029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Through visible cues (affordances) rather than instructions</a:t>
            </a:r>
            <a:endParaRPr lang="en-US" sz="1100" dirty="0"/>
          </a:p>
        </p:txBody>
      </p:sp>
      <p:sp>
        <p:nvSpPr>
          <p:cNvPr id="9" name="Shape 6"/>
          <p:cNvSpPr/>
          <p:nvPr/>
        </p:nvSpPr>
        <p:spPr>
          <a:xfrm>
            <a:off x="502920" y="2578608"/>
            <a:ext cx="502920" cy="502920"/>
          </a:xfrm>
          <a:prstGeom prst="ellipse">
            <a:avLst/>
          </a:prstGeom>
          <a:solidFill>
            <a:srgbClr val="4C3BCF"/>
          </a:solidFill>
          <a:ln/>
        </p:spPr>
      </p:sp>
      <p:pic>
        <p:nvPicPr>
          <p:cNvPr id="10" name="Image 1" descr="preencoded.png"/>
          <p:cNvPicPr>
            <a:picLocks noChangeAspect="1"/>
          </p:cNvPicPr>
          <p:nvPr/>
        </p:nvPicPr>
        <p:blipFill>
          <a:blip r:embed="rId4"/>
          <a:stretch>
            <a:fillRect/>
          </a:stretch>
        </p:blipFill>
        <p:spPr>
          <a:xfrm>
            <a:off x="578358" y="2654046"/>
            <a:ext cx="352044" cy="352044"/>
          </a:xfrm>
          <a:prstGeom prst="rect">
            <a:avLst/>
          </a:prstGeom>
        </p:spPr>
      </p:pic>
      <p:sp>
        <p:nvSpPr>
          <p:cNvPr id="11" name="Text 7"/>
          <p:cNvSpPr/>
          <p:nvPr/>
        </p:nvSpPr>
        <p:spPr>
          <a:xfrm>
            <a:off x="1188720" y="2560320"/>
            <a:ext cx="3017520" cy="502920"/>
          </a:xfrm>
          <a:prstGeom prst="rect">
            <a:avLst/>
          </a:prstGeom>
          <a:noFill/>
          <a:ln/>
        </p:spPr>
        <p:txBody>
          <a:bodyPr wrap="square" rtlCol="0" anchor="ctr"/>
          <a:lstStyle/>
          <a:p>
            <a:pPr marL="0" indent="0">
              <a:buNone/>
            </a:pPr>
            <a:r>
              <a:rPr lang="en-US" sz="1250" b="1" dirty="0">
                <a:solidFill>
                  <a:srgbClr val="22223B"/>
                </a:solidFill>
                <a:latin typeface="Calibri" pitchFamily="34" charset="0"/>
                <a:ea typeface="Calibri" pitchFamily="34" charset="-122"/>
                <a:cs typeface="Calibri" pitchFamily="34" charset="-120"/>
              </a:rPr>
              <a:t>Gives immediate feedback</a:t>
            </a:r>
            <a:endParaRPr lang="en-US" sz="1250" dirty="0"/>
          </a:p>
        </p:txBody>
      </p:sp>
      <p:sp>
        <p:nvSpPr>
          <p:cNvPr id="12" name="Text 8"/>
          <p:cNvSpPr/>
          <p:nvPr/>
        </p:nvSpPr>
        <p:spPr>
          <a:xfrm>
            <a:off x="4297680" y="2560320"/>
            <a:ext cx="4297680" cy="5029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So users always know whether their action succeeded</a:t>
            </a:r>
            <a:endParaRPr lang="en-US" sz="1100" dirty="0"/>
          </a:p>
        </p:txBody>
      </p:sp>
      <p:sp>
        <p:nvSpPr>
          <p:cNvPr id="13" name="Shape 9"/>
          <p:cNvSpPr/>
          <p:nvPr/>
        </p:nvSpPr>
        <p:spPr>
          <a:xfrm>
            <a:off x="502920" y="3328416"/>
            <a:ext cx="502920" cy="502920"/>
          </a:xfrm>
          <a:prstGeom prst="ellipse">
            <a:avLst/>
          </a:prstGeom>
          <a:solidFill>
            <a:srgbClr val="4C3BCF"/>
          </a:solidFill>
          <a:ln/>
        </p:spPr>
      </p:sp>
      <p:pic>
        <p:nvPicPr>
          <p:cNvPr id="14" name="Image 2" descr="preencoded.png"/>
          <p:cNvPicPr>
            <a:picLocks noChangeAspect="1"/>
          </p:cNvPicPr>
          <p:nvPr/>
        </p:nvPicPr>
        <p:blipFill>
          <a:blip r:embed="rId5"/>
          <a:stretch>
            <a:fillRect/>
          </a:stretch>
        </p:blipFill>
        <p:spPr>
          <a:xfrm>
            <a:off x="578358" y="3403854"/>
            <a:ext cx="352044" cy="352044"/>
          </a:xfrm>
          <a:prstGeom prst="rect">
            <a:avLst/>
          </a:prstGeom>
        </p:spPr>
      </p:pic>
      <p:sp>
        <p:nvSpPr>
          <p:cNvPr id="15" name="Text 10"/>
          <p:cNvSpPr/>
          <p:nvPr/>
        </p:nvSpPr>
        <p:spPr>
          <a:xfrm>
            <a:off x="1188720" y="3310128"/>
            <a:ext cx="3017520" cy="502920"/>
          </a:xfrm>
          <a:prstGeom prst="rect">
            <a:avLst/>
          </a:prstGeom>
          <a:noFill/>
          <a:ln/>
        </p:spPr>
        <p:txBody>
          <a:bodyPr wrap="square" rtlCol="0" anchor="ctr"/>
          <a:lstStyle/>
          <a:p>
            <a:pPr marL="0" indent="0">
              <a:buNone/>
            </a:pPr>
            <a:r>
              <a:rPr lang="en-US" sz="1250" b="1" dirty="0">
                <a:solidFill>
                  <a:srgbClr val="22223B"/>
                </a:solidFill>
                <a:latin typeface="Calibri" pitchFamily="34" charset="0"/>
                <a:ea typeface="Calibri" pitchFamily="34" charset="-122"/>
                <a:cs typeface="Calibri" pitchFamily="34" charset="-120"/>
              </a:rPr>
              <a:t>Constrains choices sensibly</a:t>
            </a:r>
            <a:endParaRPr lang="en-US" sz="1250" dirty="0"/>
          </a:p>
        </p:txBody>
      </p:sp>
      <p:sp>
        <p:nvSpPr>
          <p:cNvPr id="16" name="Text 11"/>
          <p:cNvSpPr/>
          <p:nvPr/>
        </p:nvSpPr>
        <p:spPr>
          <a:xfrm>
            <a:off x="4297680" y="3310128"/>
            <a:ext cx="4297680" cy="5029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Reducing the chance of pressing the wrong control</a:t>
            </a:r>
            <a:endParaRPr lang="en-US" sz="1100" dirty="0"/>
          </a:p>
        </p:txBody>
      </p:sp>
      <p:sp>
        <p:nvSpPr>
          <p:cNvPr id="17" name="Shape 12"/>
          <p:cNvSpPr/>
          <p:nvPr/>
        </p:nvSpPr>
        <p:spPr>
          <a:xfrm>
            <a:off x="502920" y="4078224"/>
            <a:ext cx="502920" cy="502920"/>
          </a:xfrm>
          <a:prstGeom prst="ellipse">
            <a:avLst/>
          </a:prstGeom>
          <a:solidFill>
            <a:srgbClr val="4C3BCF"/>
          </a:solidFill>
          <a:ln/>
        </p:spPr>
      </p:sp>
      <p:pic>
        <p:nvPicPr>
          <p:cNvPr id="18" name="Image 3" descr="preencoded.png"/>
          <p:cNvPicPr>
            <a:picLocks noChangeAspect="1"/>
          </p:cNvPicPr>
          <p:nvPr/>
        </p:nvPicPr>
        <p:blipFill>
          <a:blip r:embed="rId6"/>
          <a:stretch>
            <a:fillRect/>
          </a:stretch>
        </p:blipFill>
        <p:spPr>
          <a:xfrm>
            <a:off x="578358" y="4153662"/>
            <a:ext cx="352044" cy="352044"/>
          </a:xfrm>
          <a:prstGeom prst="rect">
            <a:avLst/>
          </a:prstGeom>
        </p:spPr>
      </p:pic>
      <p:sp>
        <p:nvSpPr>
          <p:cNvPr id="19" name="Text 13"/>
          <p:cNvSpPr/>
          <p:nvPr/>
        </p:nvSpPr>
        <p:spPr>
          <a:xfrm>
            <a:off x="1188720" y="4059936"/>
            <a:ext cx="3017520" cy="502920"/>
          </a:xfrm>
          <a:prstGeom prst="rect">
            <a:avLst/>
          </a:prstGeom>
          <a:noFill/>
          <a:ln/>
        </p:spPr>
        <p:txBody>
          <a:bodyPr wrap="square" rtlCol="0" anchor="ctr"/>
          <a:lstStyle/>
          <a:p>
            <a:pPr marL="0" indent="0">
              <a:buNone/>
            </a:pPr>
            <a:r>
              <a:rPr lang="en-US" sz="1250" b="1" dirty="0">
                <a:solidFill>
                  <a:srgbClr val="22223B"/>
                </a:solidFill>
                <a:latin typeface="Calibri" pitchFamily="34" charset="0"/>
                <a:ea typeface="Calibri" pitchFamily="34" charset="-122"/>
                <a:cs typeface="Calibri" pitchFamily="34" charset="-120"/>
              </a:rPr>
              <a:t>Behaves consistently</a:t>
            </a:r>
            <a:endParaRPr lang="en-US" sz="1250" dirty="0"/>
          </a:p>
        </p:txBody>
      </p:sp>
      <p:sp>
        <p:nvSpPr>
          <p:cNvPr id="20" name="Text 14"/>
          <p:cNvSpPr/>
          <p:nvPr/>
        </p:nvSpPr>
        <p:spPr>
          <a:xfrm>
            <a:off x="4297680" y="4059936"/>
            <a:ext cx="4297680" cy="5029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So knowledge from one part of the system transfers to another</a:t>
            </a:r>
            <a:endParaRPr lang="en-US" sz="1100" dirty="0"/>
          </a:p>
        </p:txBody>
      </p:sp>
      <p:sp>
        <p:nvSpPr>
          <p:cNvPr id="21" name="Text 15"/>
          <p:cNvSpPr/>
          <p:nvPr/>
        </p:nvSpPr>
        <p:spPr>
          <a:xfrm>
            <a:off x="457200" y="4572000"/>
            <a:ext cx="8229600" cy="274320"/>
          </a:xfrm>
          <a:prstGeom prst="rect">
            <a:avLst/>
          </a:prstGeom>
          <a:noFill/>
          <a:ln/>
        </p:spPr>
        <p:txBody>
          <a:bodyPr wrap="square" rtlCol="0" anchor="ctr"/>
          <a:lstStyle/>
          <a:p>
            <a:pPr marL="0" indent="0">
              <a:buNone/>
            </a:pPr>
            <a:r>
              <a:rPr lang="en-US" sz="1050" i="1" dirty="0">
                <a:solidFill>
                  <a:srgbClr val="342B81"/>
                </a:solidFill>
                <a:latin typeface="Calibri" pitchFamily="34" charset="0"/>
                <a:ea typeface="Calibri" pitchFamily="34" charset="-122"/>
                <a:cs typeface="Calibri" pitchFamily="34" charset="-120"/>
              </a:rPr>
              <a:t>These four ideas reappear later in this chapter as formal design principles.</a:t>
            </a:r>
            <a:endParaRPr lang="en-US" sz="1050" dirty="0"/>
          </a:p>
        </p:txBody>
      </p:sp>
      <p:sp>
        <p:nvSpPr>
          <p:cNvPr id="22" name="Text 16"/>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23" name="Text 17"/>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7 / 29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1.3 WHAT IS INTERACTION DESIGN?</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Defining Interaction Design</a:t>
            </a:r>
            <a:endParaRPr lang="en-US" sz="2600" dirty="0"/>
          </a:p>
        </p:txBody>
      </p:sp>
      <p:sp>
        <p:nvSpPr>
          <p:cNvPr id="4" name="Shape 2"/>
          <p:cNvSpPr/>
          <p:nvPr/>
        </p:nvSpPr>
        <p:spPr>
          <a:xfrm>
            <a:off x="457200" y="1371600"/>
            <a:ext cx="8229600" cy="1188720"/>
          </a:xfrm>
          <a:prstGeom prst="rect">
            <a:avLst/>
          </a:prstGeom>
          <a:solidFill>
            <a:srgbClr val="F4F2FF"/>
          </a:solidFill>
          <a:ln/>
          <a:effectLst>
            <a:outerShdw blurRad="101600" dist="38100" dir="2700000" algn="bl" rotWithShape="0">
              <a:srgbClr val="000000">
                <a:alpha val="12000"/>
              </a:srgbClr>
            </a:outerShdw>
          </a:effectLst>
        </p:spPr>
      </p:sp>
      <p:sp>
        <p:nvSpPr>
          <p:cNvPr id="5" name="Text 3"/>
          <p:cNvSpPr/>
          <p:nvPr/>
        </p:nvSpPr>
        <p:spPr>
          <a:xfrm>
            <a:off x="731520" y="1508760"/>
            <a:ext cx="7680960" cy="777240"/>
          </a:xfrm>
          <a:prstGeom prst="rect">
            <a:avLst/>
          </a:prstGeom>
          <a:noFill/>
          <a:ln/>
        </p:spPr>
        <p:txBody>
          <a:bodyPr wrap="square" rtlCol="0" anchor="ctr"/>
          <a:lstStyle/>
          <a:p>
            <a:pPr marL="0" indent="0">
              <a:buNone/>
            </a:pPr>
            <a:r>
              <a:rPr lang="en-US" sz="1500" i="1" dirty="0">
                <a:solidFill>
                  <a:srgbClr val="342B81"/>
                </a:solidFill>
                <a:latin typeface="Calibri" pitchFamily="34" charset="0"/>
                <a:ea typeface="Calibri" pitchFamily="34" charset="-122"/>
                <a:cs typeface="Calibri" pitchFamily="34" charset="-120"/>
              </a:rPr>
              <a:t>“Designing interactive products to support the way people communicate and interact in their everyday and working lives.”</a:t>
            </a:r>
            <a:endParaRPr lang="en-US" sz="1500" dirty="0"/>
          </a:p>
        </p:txBody>
      </p:sp>
      <p:sp>
        <p:nvSpPr>
          <p:cNvPr id="6" name="Text 4"/>
          <p:cNvSpPr/>
          <p:nvPr/>
        </p:nvSpPr>
        <p:spPr>
          <a:xfrm>
            <a:off x="731520" y="2331720"/>
            <a:ext cx="7315200" cy="2286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 Sharp, Rogers &amp; Preece</a:t>
            </a:r>
            <a:endParaRPr lang="en-US" sz="1050" dirty="0"/>
          </a:p>
        </p:txBody>
      </p:sp>
      <p:sp>
        <p:nvSpPr>
          <p:cNvPr id="7" name="Text 5"/>
          <p:cNvSpPr/>
          <p:nvPr/>
        </p:nvSpPr>
        <p:spPr>
          <a:xfrm>
            <a:off x="457200" y="2788920"/>
            <a:ext cx="8229600" cy="274320"/>
          </a:xfrm>
          <a:prstGeom prst="rect">
            <a:avLst/>
          </a:prstGeom>
          <a:noFill/>
          <a:ln/>
        </p:spPr>
        <p:txBody>
          <a:bodyPr wrap="square" rtlCol="0" anchor="ctr"/>
          <a:lstStyle/>
          <a:p>
            <a:pPr marL="0" indent="0">
              <a:buNone/>
            </a:pPr>
            <a:r>
              <a:rPr lang="en-US" sz="1250" b="1" dirty="0">
                <a:solidFill>
                  <a:srgbClr val="22223B"/>
                </a:solidFill>
                <a:latin typeface="Calibri" pitchFamily="34" charset="0"/>
                <a:ea typeface="Calibri" pitchFamily="34" charset="-122"/>
                <a:cs typeface="Calibri" pitchFamily="34" charset="-120"/>
              </a:rPr>
              <a:t>In practice, this means designers must:</a:t>
            </a:r>
            <a:endParaRPr lang="en-US" sz="1250" dirty="0"/>
          </a:p>
        </p:txBody>
      </p:sp>
      <p:sp>
        <p:nvSpPr>
          <p:cNvPr id="8" name="Shape 6"/>
          <p:cNvSpPr/>
          <p:nvPr/>
        </p:nvSpPr>
        <p:spPr>
          <a:xfrm>
            <a:off x="457200" y="3200400"/>
            <a:ext cx="502920" cy="502920"/>
          </a:xfrm>
          <a:prstGeom prst="ellipse">
            <a:avLst/>
          </a:prstGeom>
          <a:solidFill>
            <a:srgbClr val="FF6B57"/>
          </a:solidFill>
          <a:ln/>
        </p:spPr>
      </p:sp>
      <p:pic>
        <p:nvPicPr>
          <p:cNvPr id="9" name="Image 0" descr="preencoded.png"/>
          <p:cNvPicPr>
            <a:picLocks noChangeAspect="1"/>
          </p:cNvPicPr>
          <p:nvPr/>
        </p:nvPicPr>
        <p:blipFill>
          <a:blip r:embed="rId3"/>
          <a:stretch>
            <a:fillRect/>
          </a:stretch>
        </p:blipFill>
        <p:spPr>
          <a:xfrm>
            <a:off x="532638" y="3275838"/>
            <a:ext cx="352044" cy="352044"/>
          </a:xfrm>
          <a:prstGeom prst="rect">
            <a:avLst/>
          </a:prstGeom>
        </p:spPr>
      </p:pic>
      <p:sp>
        <p:nvSpPr>
          <p:cNvPr id="10" name="Text 7"/>
          <p:cNvSpPr/>
          <p:nvPr/>
        </p:nvSpPr>
        <p:spPr>
          <a:xfrm>
            <a:off x="1097280" y="3200400"/>
            <a:ext cx="2103120" cy="274320"/>
          </a:xfrm>
          <a:prstGeom prst="rect">
            <a:avLst/>
          </a:prstGeom>
          <a:noFill/>
          <a:ln/>
        </p:spPr>
        <p:txBody>
          <a:bodyPr wrap="square" rtlCol="0" anchor="ctr"/>
          <a:lstStyle/>
          <a:p>
            <a:pPr marL="0" indent="0">
              <a:buNone/>
            </a:pPr>
            <a:r>
              <a:rPr lang="en-US" sz="1200" b="1" dirty="0">
                <a:solidFill>
                  <a:srgbClr val="22223B"/>
                </a:solidFill>
                <a:latin typeface="Calibri" pitchFamily="34" charset="0"/>
                <a:ea typeface="Calibri" pitchFamily="34" charset="-122"/>
                <a:cs typeface="Calibri" pitchFamily="34" charset="-120"/>
              </a:rPr>
              <a:t>Involve users</a:t>
            </a:r>
            <a:endParaRPr lang="en-US" sz="1200" dirty="0"/>
          </a:p>
        </p:txBody>
      </p:sp>
      <p:sp>
        <p:nvSpPr>
          <p:cNvPr id="11" name="Text 8"/>
          <p:cNvSpPr/>
          <p:nvPr/>
        </p:nvSpPr>
        <p:spPr>
          <a:xfrm>
            <a:off x="1097280" y="3456432"/>
            <a:ext cx="2103120" cy="45720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Throughout design, not just at the end</a:t>
            </a:r>
            <a:endParaRPr lang="en-US" sz="950" dirty="0"/>
          </a:p>
        </p:txBody>
      </p:sp>
      <p:sp>
        <p:nvSpPr>
          <p:cNvPr id="12" name="Shape 9"/>
          <p:cNvSpPr/>
          <p:nvPr/>
        </p:nvSpPr>
        <p:spPr>
          <a:xfrm>
            <a:off x="3383280" y="3200400"/>
            <a:ext cx="502920" cy="502920"/>
          </a:xfrm>
          <a:prstGeom prst="ellipse">
            <a:avLst/>
          </a:prstGeom>
          <a:solidFill>
            <a:srgbClr val="FF6B57"/>
          </a:solidFill>
          <a:ln/>
        </p:spPr>
      </p:sp>
      <p:pic>
        <p:nvPicPr>
          <p:cNvPr id="13" name="Image 1" descr="preencoded.png"/>
          <p:cNvPicPr>
            <a:picLocks noChangeAspect="1"/>
          </p:cNvPicPr>
          <p:nvPr/>
        </p:nvPicPr>
        <p:blipFill>
          <a:blip r:embed="rId4"/>
          <a:stretch>
            <a:fillRect/>
          </a:stretch>
        </p:blipFill>
        <p:spPr>
          <a:xfrm>
            <a:off x="3458718" y="3275838"/>
            <a:ext cx="352044" cy="352044"/>
          </a:xfrm>
          <a:prstGeom prst="rect">
            <a:avLst/>
          </a:prstGeom>
        </p:spPr>
      </p:pic>
      <p:sp>
        <p:nvSpPr>
          <p:cNvPr id="14" name="Text 10"/>
          <p:cNvSpPr/>
          <p:nvPr/>
        </p:nvSpPr>
        <p:spPr>
          <a:xfrm>
            <a:off x="4023360" y="3200400"/>
            <a:ext cx="2103120" cy="274320"/>
          </a:xfrm>
          <a:prstGeom prst="rect">
            <a:avLst/>
          </a:prstGeom>
          <a:noFill/>
          <a:ln/>
        </p:spPr>
        <p:txBody>
          <a:bodyPr wrap="square" rtlCol="0" anchor="ctr"/>
          <a:lstStyle/>
          <a:p>
            <a:pPr marL="0" indent="0">
              <a:buNone/>
            </a:pPr>
            <a:r>
              <a:rPr lang="en-US" sz="1200" b="1" dirty="0">
                <a:solidFill>
                  <a:srgbClr val="22223B"/>
                </a:solidFill>
                <a:latin typeface="Calibri" pitchFamily="34" charset="0"/>
                <a:ea typeface="Calibri" pitchFamily="34" charset="-122"/>
                <a:cs typeface="Calibri" pitchFamily="34" charset="-120"/>
              </a:rPr>
              <a:t>Balance trade-offs</a:t>
            </a:r>
            <a:endParaRPr lang="en-US" sz="1200" dirty="0"/>
          </a:p>
        </p:txBody>
      </p:sp>
      <p:sp>
        <p:nvSpPr>
          <p:cNvPr id="15" name="Text 11"/>
          <p:cNvSpPr/>
          <p:nvPr/>
        </p:nvSpPr>
        <p:spPr>
          <a:xfrm>
            <a:off x="4023360" y="3456432"/>
            <a:ext cx="2103120" cy="45720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Between competing needs, constraints, and goals</a:t>
            </a:r>
            <a:endParaRPr lang="en-US" sz="950" dirty="0"/>
          </a:p>
        </p:txBody>
      </p:sp>
      <p:sp>
        <p:nvSpPr>
          <p:cNvPr id="16" name="Shape 12"/>
          <p:cNvSpPr/>
          <p:nvPr/>
        </p:nvSpPr>
        <p:spPr>
          <a:xfrm>
            <a:off x="6309360" y="3200400"/>
            <a:ext cx="502920" cy="502920"/>
          </a:xfrm>
          <a:prstGeom prst="ellipse">
            <a:avLst/>
          </a:prstGeom>
          <a:solidFill>
            <a:srgbClr val="FF6B57"/>
          </a:solidFill>
          <a:ln/>
        </p:spPr>
      </p:sp>
      <p:pic>
        <p:nvPicPr>
          <p:cNvPr id="17" name="Image 2" descr="preencoded.png"/>
          <p:cNvPicPr>
            <a:picLocks noChangeAspect="1"/>
          </p:cNvPicPr>
          <p:nvPr/>
        </p:nvPicPr>
        <p:blipFill>
          <a:blip r:embed="rId5"/>
          <a:stretch>
            <a:fillRect/>
          </a:stretch>
        </p:blipFill>
        <p:spPr>
          <a:xfrm>
            <a:off x="6384798" y="3275838"/>
            <a:ext cx="352044" cy="352044"/>
          </a:xfrm>
          <a:prstGeom prst="rect">
            <a:avLst/>
          </a:prstGeom>
        </p:spPr>
      </p:pic>
      <p:sp>
        <p:nvSpPr>
          <p:cNvPr id="18" name="Text 13"/>
          <p:cNvSpPr/>
          <p:nvPr/>
        </p:nvSpPr>
        <p:spPr>
          <a:xfrm>
            <a:off x="6949440" y="3200400"/>
            <a:ext cx="2103120" cy="274320"/>
          </a:xfrm>
          <a:prstGeom prst="rect">
            <a:avLst/>
          </a:prstGeom>
          <a:noFill/>
          <a:ln/>
        </p:spPr>
        <p:txBody>
          <a:bodyPr wrap="square" rtlCol="0" anchor="ctr"/>
          <a:lstStyle/>
          <a:p>
            <a:pPr marL="0" indent="0">
              <a:buNone/>
            </a:pPr>
            <a:r>
              <a:rPr lang="en-US" sz="1200" b="1" dirty="0">
                <a:solidFill>
                  <a:srgbClr val="22223B"/>
                </a:solidFill>
                <a:latin typeface="Calibri" pitchFamily="34" charset="0"/>
                <a:ea typeface="Calibri" pitchFamily="34" charset="-122"/>
                <a:cs typeface="Calibri" pitchFamily="34" charset="-120"/>
              </a:rPr>
              <a:t>Iterate</a:t>
            </a:r>
            <a:endParaRPr lang="en-US" sz="1200" dirty="0"/>
          </a:p>
        </p:txBody>
      </p:sp>
      <p:sp>
        <p:nvSpPr>
          <p:cNvPr id="19" name="Text 14"/>
          <p:cNvSpPr/>
          <p:nvPr/>
        </p:nvSpPr>
        <p:spPr>
          <a:xfrm>
            <a:off x="6949440" y="3456432"/>
            <a:ext cx="2103120" cy="45720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Test, learn, and refine designs repeatedly</a:t>
            </a:r>
            <a:endParaRPr lang="en-US" sz="950" dirty="0"/>
          </a:p>
        </p:txBody>
      </p:sp>
      <p:sp>
        <p:nvSpPr>
          <p:cNvPr id="20" name="Text 15"/>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21" name="Text 16"/>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8 / 29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1.3 WHAT IS INTERACTION DESIGN?</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An Interdisciplinary Field</a:t>
            </a:r>
            <a:endParaRPr lang="en-US" sz="2600" dirty="0"/>
          </a:p>
        </p:txBody>
      </p:sp>
      <p:sp>
        <p:nvSpPr>
          <p:cNvPr id="4" name="Text 2"/>
          <p:cNvSpPr/>
          <p:nvPr/>
        </p:nvSpPr>
        <p:spPr>
          <a:xfrm>
            <a:off x="457200" y="1188720"/>
            <a:ext cx="8229600" cy="27432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Interaction design draws on knowledge and methods from many disciplines:</a:t>
            </a:r>
            <a:endParaRPr lang="en-US" sz="1200" dirty="0"/>
          </a:p>
        </p:txBody>
      </p:sp>
      <p:sp>
        <p:nvSpPr>
          <p:cNvPr id="5" name="Shape 3"/>
          <p:cNvSpPr/>
          <p:nvPr/>
        </p:nvSpPr>
        <p:spPr>
          <a:xfrm>
            <a:off x="457200" y="1600200"/>
            <a:ext cx="2651760" cy="1280160"/>
          </a:xfrm>
          <a:prstGeom prst="rect">
            <a:avLst/>
          </a:prstGeom>
          <a:solidFill>
            <a:srgbClr val="F4F2FF"/>
          </a:solidFill>
          <a:ln/>
        </p:spPr>
      </p:sp>
      <p:sp>
        <p:nvSpPr>
          <p:cNvPr id="6" name="Shape 4"/>
          <p:cNvSpPr/>
          <p:nvPr/>
        </p:nvSpPr>
        <p:spPr>
          <a:xfrm>
            <a:off x="594360" y="1737360"/>
            <a:ext cx="502920" cy="502920"/>
          </a:xfrm>
          <a:prstGeom prst="ellipse">
            <a:avLst/>
          </a:prstGeom>
          <a:solidFill>
            <a:srgbClr val="4C3BCF"/>
          </a:solidFill>
          <a:ln/>
        </p:spPr>
      </p:sp>
      <p:pic>
        <p:nvPicPr>
          <p:cNvPr id="7" name="Image 0" descr="preencoded.png"/>
          <p:cNvPicPr>
            <a:picLocks noChangeAspect="1"/>
          </p:cNvPicPr>
          <p:nvPr/>
        </p:nvPicPr>
        <p:blipFill>
          <a:blip r:embed="rId3"/>
          <a:stretch>
            <a:fillRect/>
          </a:stretch>
        </p:blipFill>
        <p:spPr>
          <a:xfrm>
            <a:off x="669798" y="1812798"/>
            <a:ext cx="352044" cy="352044"/>
          </a:xfrm>
          <a:prstGeom prst="rect">
            <a:avLst/>
          </a:prstGeom>
        </p:spPr>
      </p:pic>
      <p:sp>
        <p:nvSpPr>
          <p:cNvPr id="8" name="Text 5"/>
          <p:cNvSpPr/>
          <p:nvPr/>
        </p:nvSpPr>
        <p:spPr>
          <a:xfrm>
            <a:off x="594360" y="2313432"/>
            <a:ext cx="2377440" cy="256032"/>
          </a:xfrm>
          <a:prstGeom prst="rect">
            <a:avLst/>
          </a:prstGeom>
          <a:noFill/>
          <a:ln/>
        </p:spPr>
        <p:txBody>
          <a:bodyPr wrap="square" rtlCol="0" anchor="ctr"/>
          <a:lstStyle/>
          <a:p>
            <a:pPr marL="0" indent="0">
              <a:buNone/>
            </a:pPr>
            <a:r>
              <a:rPr lang="en-US" sz="1150" b="1" dirty="0">
                <a:solidFill>
                  <a:srgbClr val="342B81"/>
                </a:solidFill>
                <a:latin typeface="Calibri" pitchFamily="34" charset="0"/>
                <a:ea typeface="Calibri" pitchFamily="34" charset="-122"/>
                <a:cs typeface="Calibri" pitchFamily="34" charset="-120"/>
              </a:rPr>
              <a:t>Psychology</a:t>
            </a:r>
            <a:endParaRPr lang="en-US" sz="1150" dirty="0"/>
          </a:p>
        </p:txBody>
      </p:sp>
      <p:sp>
        <p:nvSpPr>
          <p:cNvPr id="9" name="Text 6"/>
          <p:cNvSpPr/>
          <p:nvPr/>
        </p:nvSpPr>
        <p:spPr>
          <a:xfrm>
            <a:off x="594360" y="2551176"/>
            <a:ext cx="2377440" cy="365760"/>
          </a:xfrm>
          <a:prstGeom prst="rect">
            <a:avLst/>
          </a:prstGeom>
          <a:noFill/>
          <a:ln/>
        </p:spPr>
        <p:txBody>
          <a:bodyPr wrap="square" rtlCol="0" anchor="ctr"/>
          <a:lstStyle/>
          <a:p>
            <a:pPr marL="0" indent="0">
              <a:buNone/>
            </a:pPr>
            <a:r>
              <a:rPr lang="en-US" sz="850" dirty="0">
                <a:solidFill>
                  <a:srgbClr val="22223B"/>
                </a:solidFill>
                <a:latin typeface="Calibri" pitchFamily="34" charset="0"/>
                <a:ea typeface="Calibri" pitchFamily="34" charset="-122"/>
                <a:cs typeface="Calibri" pitchFamily="34" charset="-120"/>
              </a:rPr>
              <a:t>Understanding perception, cognition &amp; behaviour</a:t>
            </a:r>
            <a:endParaRPr lang="en-US" sz="850" dirty="0"/>
          </a:p>
        </p:txBody>
      </p:sp>
      <p:sp>
        <p:nvSpPr>
          <p:cNvPr id="10" name="Shape 7"/>
          <p:cNvSpPr/>
          <p:nvPr/>
        </p:nvSpPr>
        <p:spPr>
          <a:xfrm>
            <a:off x="3246120" y="1600200"/>
            <a:ext cx="2651760" cy="1280160"/>
          </a:xfrm>
          <a:prstGeom prst="rect">
            <a:avLst/>
          </a:prstGeom>
          <a:solidFill>
            <a:srgbClr val="EFEBFF"/>
          </a:solidFill>
          <a:ln/>
        </p:spPr>
      </p:sp>
      <p:sp>
        <p:nvSpPr>
          <p:cNvPr id="11" name="Shape 8"/>
          <p:cNvSpPr/>
          <p:nvPr/>
        </p:nvSpPr>
        <p:spPr>
          <a:xfrm>
            <a:off x="3383280" y="1737360"/>
            <a:ext cx="502920" cy="502920"/>
          </a:xfrm>
          <a:prstGeom prst="ellipse">
            <a:avLst/>
          </a:prstGeom>
          <a:solidFill>
            <a:srgbClr val="4C3BCF"/>
          </a:solidFill>
          <a:ln/>
        </p:spPr>
      </p:sp>
      <p:pic>
        <p:nvPicPr>
          <p:cNvPr id="12" name="Image 1" descr="preencoded.png"/>
          <p:cNvPicPr>
            <a:picLocks noChangeAspect="1"/>
          </p:cNvPicPr>
          <p:nvPr/>
        </p:nvPicPr>
        <p:blipFill>
          <a:blip r:embed="rId4"/>
          <a:stretch>
            <a:fillRect/>
          </a:stretch>
        </p:blipFill>
        <p:spPr>
          <a:xfrm>
            <a:off x="3458718" y="1812798"/>
            <a:ext cx="352044" cy="352044"/>
          </a:xfrm>
          <a:prstGeom prst="rect">
            <a:avLst/>
          </a:prstGeom>
        </p:spPr>
      </p:pic>
      <p:sp>
        <p:nvSpPr>
          <p:cNvPr id="13" name="Text 9"/>
          <p:cNvSpPr/>
          <p:nvPr/>
        </p:nvSpPr>
        <p:spPr>
          <a:xfrm>
            <a:off x="3383280" y="2313432"/>
            <a:ext cx="2377440" cy="256032"/>
          </a:xfrm>
          <a:prstGeom prst="rect">
            <a:avLst/>
          </a:prstGeom>
          <a:noFill/>
          <a:ln/>
        </p:spPr>
        <p:txBody>
          <a:bodyPr wrap="square" rtlCol="0" anchor="ctr"/>
          <a:lstStyle/>
          <a:p>
            <a:pPr marL="0" indent="0">
              <a:buNone/>
            </a:pPr>
            <a:r>
              <a:rPr lang="en-US" sz="1150" b="1" dirty="0">
                <a:solidFill>
                  <a:srgbClr val="342B81"/>
                </a:solidFill>
                <a:latin typeface="Calibri" pitchFamily="34" charset="0"/>
                <a:ea typeface="Calibri" pitchFamily="34" charset="-122"/>
                <a:cs typeface="Calibri" pitchFamily="34" charset="-120"/>
              </a:rPr>
              <a:t>Computer Science</a:t>
            </a:r>
            <a:endParaRPr lang="en-US" sz="1150" dirty="0"/>
          </a:p>
        </p:txBody>
      </p:sp>
      <p:sp>
        <p:nvSpPr>
          <p:cNvPr id="14" name="Text 10"/>
          <p:cNvSpPr/>
          <p:nvPr/>
        </p:nvSpPr>
        <p:spPr>
          <a:xfrm>
            <a:off x="3383280" y="2551176"/>
            <a:ext cx="2377440" cy="365760"/>
          </a:xfrm>
          <a:prstGeom prst="rect">
            <a:avLst/>
          </a:prstGeom>
          <a:noFill/>
          <a:ln/>
        </p:spPr>
        <p:txBody>
          <a:bodyPr wrap="square" rtlCol="0" anchor="ctr"/>
          <a:lstStyle/>
          <a:p>
            <a:pPr marL="0" indent="0">
              <a:buNone/>
            </a:pPr>
            <a:r>
              <a:rPr lang="en-US" sz="850" dirty="0">
                <a:solidFill>
                  <a:srgbClr val="22223B"/>
                </a:solidFill>
                <a:latin typeface="Calibri" pitchFamily="34" charset="0"/>
                <a:ea typeface="Calibri" pitchFamily="34" charset="-122"/>
                <a:cs typeface="Calibri" pitchFamily="34" charset="-120"/>
              </a:rPr>
              <a:t>Building the underlying software &amp; systems</a:t>
            </a:r>
            <a:endParaRPr lang="en-US" sz="850" dirty="0"/>
          </a:p>
        </p:txBody>
      </p:sp>
      <p:sp>
        <p:nvSpPr>
          <p:cNvPr id="15" name="Shape 11"/>
          <p:cNvSpPr/>
          <p:nvPr/>
        </p:nvSpPr>
        <p:spPr>
          <a:xfrm>
            <a:off x="6035040" y="1600200"/>
            <a:ext cx="2651760" cy="1280160"/>
          </a:xfrm>
          <a:prstGeom prst="rect">
            <a:avLst/>
          </a:prstGeom>
          <a:solidFill>
            <a:srgbClr val="F4F2FF"/>
          </a:solidFill>
          <a:ln/>
        </p:spPr>
      </p:sp>
      <p:sp>
        <p:nvSpPr>
          <p:cNvPr id="16" name="Shape 12"/>
          <p:cNvSpPr/>
          <p:nvPr/>
        </p:nvSpPr>
        <p:spPr>
          <a:xfrm>
            <a:off x="6172200" y="1737360"/>
            <a:ext cx="502920" cy="502920"/>
          </a:xfrm>
          <a:prstGeom prst="ellipse">
            <a:avLst/>
          </a:prstGeom>
          <a:solidFill>
            <a:srgbClr val="4C3BCF"/>
          </a:solidFill>
          <a:ln/>
        </p:spPr>
      </p:sp>
      <p:pic>
        <p:nvPicPr>
          <p:cNvPr id="17" name="Image 2" descr="preencoded.png"/>
          <p:cNvPicPr>
            <a:picLocks noChangeAspect="1"/>
          </p:cNvPicPr>
          <p:nvPr/>
        </p:nvPicPr>
        <p:blipFill>
          <a:blip r:embed="rId5"/>
          <a:stretch>
            <a:fillRect/>
          </a:stretch>
        </p:blipFill>
        <p:spPr>
          <a:xfrm>
            <a:off x="6247638" y="1812798"/>
            <a:ext cx="352044" cy="352044"/>
          </a:xfrm>
          <a:prstGeom prst="rect">
            <a:avLst/>
          </a:prstGeom>
        </p:spPr>
      </p:pic>
      <p:sp>
        <p:nvSpPr>
          <p:cNvPr id="18" name="Text 13"/>
          <p:cNvSpPr/>
          <p:nvPr/>
        </p:nvSpPr>
        <p:spPr>
          <a:xfrm>
            <a:off x="6172200" y="2313432"/>
            <a:ext cx="2377440" cy="256032"/>
          </a:xfrm>
          <a:prstGeom prst="rect">
            <a:avLst/>
          </a:prstGeom>
          <a:noFill/>
          <a:ln/>
        </p:spPr>
        <p:txBody>
          <a:bodyPr wrap="square" rtlCol="0" anchor="ctr"/>
          <a:lstStyle/>
          <a:p>
            <a:pPr marL="0" indent="0">
              <a:buNone/>
            </a:pPr>
            <a:r>
              <a:rPr lang="en-US" sz="1150" b="1" dirty="0">
                <a:solidFill>
                  <a:srgbClr val="342B81"/>
                </a:solidFill>
                <a:latin typeface="Calibri" pitchFamily="34" charset="0"/>
                <a:ea typeface="Calibri" pitchFamily="34" charset="-122"/>
                <a:cs typeface="Calibri" pitchFamily="34" charset="-120"/>
              </a:rPr>
              <a:t>Sociology &amp; Anthropology</a:t>
            </a:r>
            <a:endParaRPr lang="en-US" sz="1150" dirty="0"/>
          </a:p>
        </p:txBody>
      </p:sp>
      <p:sp>
        <p:nvSpPr>
          <p:cNvPr id="19" name="Text 14"/>
          <p:cNvSpPr/>
          <p:nvPr/>
        </p:nvSpPr>
        <p:spPr>
          <a:xfrm>
            <a:off x="6172200" y="2551176"/>
            <a:ext cx="2377440" cy="365760"/>
          </a:xfrm>
          <a:prstGeom prst="rect">
            <a:avLst/>
          </a:prstGeom>
          <a:noFill/>
          <a:ln/>
        </p:spPr>
        <p:txBody>
          <a:bodyPr wrap="square" rtlCol="0" anchor="ctr"/>
          <a:lstStyle/>
          <a:p>
            <a:pPr marL="0" indent="0">
              <a:buNone/>
            </a:pPr>
            <a:r>
              <a:rPr lang="en-US" sz="850" dirty="0">
                <a:solidFill>
                  <a:srgbClr val="22223B"/>
                </a:solidFill>
                <a:latin typeface="Calibri" pitchFamily="34" charset="0"/>
                <a:ea typeface="Calibri" pitchFamily="34" charset="-122"/>
                <a:cs typeface="Calibri" pitchFamily="34" charset="-120"/>
              </a:rPr>
              <a:t>Studying people in social &amp; cultural context</a:t>
            </a:r>
            <a:endParaRPr lang="en-US" sz="850" dirty="0"/>
          </a:p>
        </p:txBody>
      </p:sp>
      <p:sp>
        <p:nvSpPr>
          <p:cNvPr id="20" name="Shape 15"/>
          <p:cNvSpPr/>
          <p:nvPr/>
        </p:nvSpPr>
        <p:spPr>
          <a:xfrm>
            <a:off x="457200" y="3017520"/>
            <a:ext cx="2651760" cy="1280160"/>
          </a:xfrm>
          <a:prstGeom prst="rect">
            <a:avLst/>
          </a:prstGeom>
          <a:solidFill>
            <a:srgbClr val="EFEBFF"/>
          </a:solidFill>
          <a:ln/>
        </p:spPr>
      </p:sp>
      <p:sp>
        <p:nvSpPr>
          <p:cNvPr id="21" name="Shape 16"/>
          <p:cNvSpPr/>
          <p:nvPr/>
        </p:nvSpPr>
        <p:spPr>
          <a:xfrm>
            <a:off x="594360" y="3154680"/>
            <a:ext cx="502920" cy="502920"/>
          </a:xfrm>
          <a:prstGeom prst="ellipse">
            <a:avLst/>
          </a:prstGeom>
          <a:solidFill>
            <a:srgbClr val="4C3BCF"/>
          </a:solidFill>
          <a:ln/>
        </p:spPr>
      </p:sp>
      <p:pic>
        <p:nvPicPr>
          <p:cNvPr id="22" name="Image 3" descr="preencoded.png"/>
          <p:cNvPicPr>
            <a:picLocks noChangeAspect="1"/>
          </p:cNvPicPr>
          <p:nvPr/>
        </p:nvPicPr>
        <p:blipFill>
          <a:blip r:embed="rId6"/>
          <a:stretch>
            <a:fillRect/>
          </a:stretch>
        </p:blipFill>
        <p:spPr>
          <a:xfrm>
            <a:off x="669798" y="3230118"/>
            <a:ext cx="352044" cy="352044"/>
          </a:xfrm>
          <a:prstGeom prst="rect">
            <a:avLst/>
          </a:prstGeom>
        </p:spPr>
      </p:pic>
      <p:sp>
        <p:nvSpPr>
          <p:cNvPr id="23" name="Text 17"/>
          <p:cNvSpPr/>
          <p:nvPr/>
        </p:nvSpPr>
        <p:spPr>
          <a:xfrm>
            <a:off x="594360" y="3730752"/>
            <a:ext cx="2377440" cy="256032"/>
          </a:xfrm>
          <a:prstGeom prst="rect">
            <a:avLst/>
          </a:prstGeom>
          <a:noFill/>
          <a:ln/>
        </p:spPr>
        <p:txBody>
          <a:bodyPr wrap="square" rtlCol="0" anchor="ctr"/>
          <a:lstStyle/>
          <a:p>
            <a:pPr marL="0" indent="0">
              <a:buNone/>
            </a:pPr>
            <a:r>
              <a:rPr lang="en-US" sz="1150" b="1" dirty="0">
                <a:solidFill>
                  <a:srgbClr val="342B81"/>
                </a:solidFill>
                <a:latin typeface="Calibri" pitchFamily="34" charset="0"/>
                <a:ea typeface="Calibri" pitchFamily="34" charset="-122"/>
                <a:cs typeface="Calibri" pitchFamily="34" charset="-120"/>
              </a:rPr>
              <a:t>Ergonomics</a:t>
            </a:r>
            <a:endParaRPr lang="en-US" sz="1150" dirty="0"/>
          </a:p>
        </p:txBody>
      </p:sp>
      <p:sp>
        <p:nvSpPr>
          <p:cNvPr id="24" name="Text 18"/>
          <p:cNvSpPr/>
          <p:nvPr/>
        </p:nvSpPr>
        <p:spPr>
          <a:xfrm>
            <a:off x="594360" y="3968496"/>
            <a:ext cx="2377440" cy="365760"/>
          </a:xfrm>
          <a:prstGeom prst="rect">
            <a:avLst/>
          </a:prstGeom>
          <a:noFill/>
          <a:ln/>
        </p:spPr>
        <p:txBody>
          <a:bodyPr wrap="square" rtlCol="0" anchor="ctr"/>
          <a:lstStyle/>
          <a:p>
            <a:pPr marL="0" indent="0">
              <a:buNone/>
            </a:pPr>
            <a:r>
              <a:rPr lang="en-US" sz="850" dirty="0">
                <a:solidFill>
                  <a:srgbClr val="22223B"/>
                </a:solidFill>
                <a:latin typeface="Calibri" pitchFamily="34" charset="0"/>
                <a:ea typeface="Calibri" pitchFamily="34" charset="-122"/>
                <a:cs typeface="Calibri" pitchFamily="34" charset="-120"/>
              </a:rPr>
              <a:t>Fitting systems to human physical capabilities</a:t>
            </a:r>
            <a:endParaRPr lang="en-US" sz="850" dirty="0"/>
          </a:p>
        </p:txBody>
      </p:sp>
      <p:sp>
        <p:nvSpPr>
          <p:cNvPr id="25" name="Shape 19"/>
          <p:cNvSpPr/>
          <p:nvPr/>
        </p:nvSpPr>
        <p:spPr>
          <a:xfrm>
            <a:off x="3246120" y="3017520"/>
            <a:ext cx="2651760" cy="1280160"/>
          </a:xfrm>
          <a:prstGeom prst="rect">
            <a:avLst/>
          </a:prstGeom>
          <a:solidFill>
            <a:srgbClr val="F4F2FF"/>
          </a:solidFill>
          <a:ln/>
        </p:spPr>
      </p:sp>
      <p:sp>
        <p:nvSpPr>
          <p:cNvPr id="26" name="Shape 20"/>
          <p:cNvSpPr/>
          <p:nvPr/>
        </p:nvSpPr>
        <p:spPr>
          <a:xfrm>
            <a:off x="3383280" y="3154680"/>
            <a:ext cx="502920" cy="502920"/>
          </a:xfrm>
          <a:prstGeom prst="ellipse">
            <a:avLst/>
          </a:prstGeom>
          <a:solidFill>
            <a:srgbClr val="4C3BCF"/>
          </a:solidFill>
          <a:ln/>
        </p:spPr>
      </p:sp>
      <p:pic>
        <p:nvPicPr>
          <p:cNvPr id="27" name="Image 4" descr="preencoded.png"/>
          <p:cNvPicPr>
            <a:picLocks noChangeAspect="1"/>
          </p:cNvPicPr>
          <p:nvPr/>
        </p:nvPicPr>
        <p:blipFill>
          <a:blip r:embed="rId7"/>
          <a:stretch>
            <a:fillRect/>
          </a:stretch>
        </p:blipFill>
        <p:spPr>
          <a:xfrm>
            <a:off x="3458718" y="3230118"/>
            <a:ext cx="352044" cy="352044"/>
          </a:xfrm>
          <a:prstGeom prst="rect">
            <a:avLst/>
          </a:prstGeom>
        </p:spPr>
      </p:pic>
      <p:sp>
        <p:nvSpPr>
          <p:cNvPr id="28" name="Text 21"/>
          <p:cNvSpPr/>
          <p:nvPr/>
        </p:nvSpPr>
        <p:spPr>
          <a:xfrm>
            <a:off x="3383280" y="3730752"/>
            <a:ext cx="2377440" cy="256032"/>
          </a:xfrm>
          <a:prstGeom prst="rect">
            <a:avLst/>
          </a:prstGeom>
          <a:noFill/>
          <a:ln/>
        </p:spPr>
        <p:txBody>
          <a:bodyPr wrap="square" rtlCol="0" anchor="ctr"/>
          <a:lstStyle/>
          <a:p>
            <a:pPr marL="0" indent="0">
              <a:buNone/>
            </a:pPr>
            <a:r>
              <a:rPr lang="en-US" sz="1150" b="1" dirty="0">
                <a:solidFill>
                  <a:srgbClr val="342B81"/>
                </a:solidFill>
                <a:latin typeface="Calibri" pitchFamily="34" charset="0"/>
                <a:ea typeface="Calibri" pitchFamily="34" charset="-122"/>
                <a:cs typeface="Calibri" pitchFamily="34" charset="-120"/>
              </a:rPr>
              <a:t>Graphic &amp; Product Design</a:t>
            </a:r>
            <a:endParaRPr lang="en-US" sz="1150" dirty="0"/>
          </a:p>
        </p:txBody>
      </p:sp>
      <p:sp>
        <p:nvSpPr>
          <p:cNvPr id="29" name="Text 22"/>
          <p:cNvSpPr/>
          <p:nvPr/>
        </p:nvSpPr>
        <p:spPr>
          <a:xfrm>
            <a:off x="3383280" y="3968496"/>
            <a:ext cx="2377440" cy="365760"/>
          </a:xfrm>
          <a:prstGeom prst="rect">
            <a:avLst/>
          </a:prstGeom>
          <a:noFill/>
          <a:ln/>
        </p:spPr>
        <p:txBody>
          <a:bodyPr wrap="square" rtlCol="0" anchor="ctr"/>
          <a:lstStyle/>
          <a:p>
            <a:pPr marL="0" indent="0">
              <a:buNone/>
            </a:pPr>
            <a:r>
              <a:rPr lang="en-US" sz="850" dirty="0">
                <a:solidFill>
                  <a:srgbClr val="22223B"/>
                </a:solidFill>
                <a:latin typeface="Calibri" pitchFamily="34" charset="0"/>
                <a:ea typeface="Calibri" pitchFamily="34" charset="-122"/>
                <a:cs typeface="Calibri" pitchFamily="34" charset="-120"/>
              </a:rPr>
              <a:t>Crafting visual form and physical shape</a:t>
            </a:r>
            <a:endParaRPr lang="en-US" sz="850" dirty="0"/>
          </a:p>
        </p:txBody>
      </p:sp>
      <p:sp>
        <p:nvSpPr>
          <p:cNvPr id="30" name="Shape 23"/>
          <p:cNvSpPr/>
          <p:nvPr/>
        </p:nvSpPr>
        <p:spPr>
          <a:xfrm>
            <a:off x="6035040" y="3017520"/>
            <a:ext cx="2651760" cy="1280160"/>
          </a:xfrm>
          <a:prstGeom prst="rect">
            <a:avLst/>
          </a:prstGeom>
          <a:solidFill>
            <a:srgbClr val="EFEBFF"/>
          </a:solidFill>
          <a:ln/>
        </p:spPr>
      </p:sp>
      <p:sp>
        <p:nvSpPr>
          <p:cNvPr id="31" name="Shape 24"/>
          <p:cNvSpPr/>
          <p:nvPr/>
        </p:nvSpPr>
        <p:spPr>
          <a:xfrm>
            <a:off x="6172200" y="3154680"/>
            <a:ext cx="502920" cy="502920"/>
          </a:xfrm>
          <a:prstGeom prst="ellipse">
            <a:avLst/>
          </a:prstGeom>
          <a:solidFill>
            <a:srgbClr val="4C3BCF"/>
          </a:solidFill>
          <a:ln/>
        </p:spPr>
      </p:sp>
      <p:pic>
        <p:nvPicPr>
          <p:cNvPr id="32" name="Image 5" descr="preencoded.png"/>
          <p:cNvPicPr>
            <a:picLocks noChangeAspect="1"/>
          </p:cNvPicPr>
          <p:nvPr/>
        </p:nvPicPr>
        <p:blipFill>
          <a:blip r:embed="rId8"/>
          <a:stretch>
            <a:fillRect/>
          </a:stretch>
        </p:blipFill>
        <p:spPr>
          <a:xfrm>
            <a:off x="6247638" y="3230118"/>
            <a:ext cx="352044" cy="352044"/>
          </a:xfrm>
          <a:prstGeom prst="rect">
            <a:avLst/>
          </a:prstGeom>
        </p:spPr>
      </p:pic>
      <p:sp>
        <p:nvSpPr>
          <p:cNvPr id="33" name="Text 25"/>
          <p:cNvSpPr/>
          <p:nvPr/>
        </p:nvSpPr>
        <p:spPr>
          <a:xfrm>
            <a:off x="6172200" y="3730752"/>
            <a:ext cx="2377440" cy="256032"/>
          </a:xfrm>
          <a:prstGeom prst="rect">
            <a:avLst/>
          </a:prstGeom>
          <a:noFill/>
          <a:ln/>
        </p:spPr>
        <p:txBody>
          <a:bodyPr wrap="square" rtlCol="0" anchor="ctr"/>
          <a:lstStyle/>
          <a:p>
            <a:pPr marL="0" indent="0">
              <a:buNone/>
            </a:pPr>
            <a:r>
              <a:rPr lang="en-US" sz="1150" b="1" dirty="0">
                <a:solidFill>
                  <a:srgbClr val="342B81"/>
                </a:solidFill>
                <a:latin typeface="Calibri" pitchFamily="34" charset="0"/>
                <a:ea typeface="Calibri" pitchFamily="34" charset="-122"/>
                <a:cs typeface="Calibri" pitchFamily="34" charset="-120"/>
              </a:rPr>
              <a:t>Linguistics</a:t>
            </a:r>
            <a:endParaRPr lang="en-US" sz="1150" dirty="0"/>
          </a:p>
        </p:txBody>
      </p:sp>
      <p:sp>
        <p:nvSpPr>
          <p:cNvPr id="34" name="Text 26"/>
          <p:cNvSpPr/>
          <p:nvPr/>
        </p:nvSpPr>
        <p:spPr>
          <a:xfrm>
            <a:off x="6172200" y="3968496"/>
            <a:ext cx="2377440" cy="365760"/>
          </a:xfrm>
          <a:prstGeom prst="rect">
            <a:avLst/>
          </a:prstGeom>
          <a:noFill/>
          <a:ln/>
        </p:spPr>
        <p:txBody>
          <a:bodyPr wrap="square" rtlCol="0" anchor="ctr"/>
          <a:lstStyle/>
          <a:p>
            <a:pPr marL="0" indent="0">
              <a:buNone/>
            </a:pPr>
            <a:r>
              <a:rPr lang="en-US" sz="850" dirty="0">
                <a:solidFill>
                  <a:srgbClr val="22223B"/>
                </a:solidFill>
                <a:latin typeface="Calibri" pitchFamily="34" charset="0"/>
                <a:ea typeface="Calibri" pitchFamily="34" charset="-122"/>
                <a:cs typeface="Calibri" pitchFamily="34" charset="-120"/>
              </a:rPr>
              <a:t>Structuring clear, understandable communication</a:t>
            </a:r>
            <a:endParaRPr lang="en-US" sz="850" dirty="0"/>
          </a:p>
        </p:txBody>
      </p:sp>
      <p:sp>
        <p:nvSpPr>
          <p:cNvPr id="35" name="Text 27"/>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36" name="Text 28"/>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9 / 29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1.3 WHAT IS INTERACTION DESIGN?</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How Interaction Design Relates to HCI and UX</a:t>
            </a:r>
            <a:endParaRPr lang="en-US" sz="2600" dirty="0"/>
          </a:p>
        </p:txBody>
      </p:sp>
      <p:sp>
        <p:nvSpPr>
          <p:cNvPr id="4" name="Shape 2"/>
          <p:cNvSpPr/>
          <p:nvPr/>
        </p:nvSpPr>
        <p:spPr>
          <a:xfrm>
            <a:off x="1371600" y="1554480"/>
            <a:ext cx="2926080" cy="2926080"/>
          </a:xfrm>
          <a:prstGeom prst="ellipse">
            <a:avLst/>
          </a:prstGeom>
          <a:solidFill>
            <a:srgbClr val="EFEBFF"/>
          </a:solidFill>
          <a:ln w="25400">
            <a:solidFill>
              <a:srgbClr val="FFFFFF"/>
            </a:solidFill>
            <a:prstDash val="solid"/>
          </a:ln>
        </p:spPr>
      </p:sp>
      <p:sp>
        <p:nvSpPr>
          <p:cNvPr id="5" name="Shape 3"/>
          <p:cNvSpPr/>
          <p:nvPr/>
        </p:nvSpPr>
        <p:spPr>
          <a:xfrm>
            <a:off x="1783080" y="1965960"/>
            <a:ext cx="2103120" cy="2103120"/>
          </a:xfrm>
          <a:prstGeom prst="ellipse">
            <a:avLst/>
          </a:prstGeom>
          <a:solidFill>
            <a:srgbClr val="F4F2FF"/>
          </a:solidFill>
          <a:ln w="25400">
            <a:solidFill>
              <a:srgbClr val="FFFFFF"/>
            </a:solidFill>
            <a:prstDash val="solid"/>
          </a:ln>
        </p:spPr>
      </p:sp>
      <p:sp>
        <p:nvSpPr>
          <p:cNvPr id="6" name="Shape 4"/>
          <p:cNvSpPr/>
          <p:nvPr/>
        </p:nvSpPr>
        <p:spPr>
          <a:xfrm>
            <a:off x="2194560" y="2377440"/>
            <a:ext cx="1280160" cy="1280160"/>
          </a:xfrm>
          <a:prstGeom prst="ellipse">
            <a:avLst/>
          </a:prstGeom>
          <a:solidFill>
            <a:srgbClr val="4C3BCF"/>
          </a:solidFill>
          <a:ln w="25400">
            <a:solidFill>
              <a:srgbClr val="FFFFFF"/>
            </a:solidFill>
            <a:prstDash val="solid"/>
          </a:ln>
        </p:spPr>
      </p:sp>
      <p:sp>
        <p:nvSpPr>
          <p:cNvPr id="7" name="Text 5"/>
          <p:cNvSpPr/>
          <p:nvPr/>
        </p:nvSpPr>
        <p:spPr>
          <a:xfrm>
            <a:off x="1371600" y="1600200"/>
            <a:ext cx="2926080" cy="457200"/>
          </a:xfrm>
          <a:prstGeom prst="rect">
            <a:avLst/>
          </a:prstGeom>
          <a:noFill/>
          <a:ln/>
        </p:spPr>
        <p:txBody>
          <a:bodyPr wrap="square" rtlCol="0" anchor="ctr"/>
          <a:lstStyle/>
          <a:p>
            <a:pPr marL="0" indent="0" algn="ctr">
              <a:buNone/>
            </a:pPr>
            <a:r>
              <a:rPr lang="en-US" sz="1000" b="1" dirty="0">
                <a:solidFill>
                  <a:srgbClr val="22223B"/>
                </a:solidFill>
                <a:latin typeface="Calibri" pitchFamily="34" charset="0"/>
                <a:ea typeface="Calibri" pitchFamily="34" charset="-122"/>
                <a:cs typeface="Calibri" pitchFamily="34" charset="-120"/>
              </a:rPr>
              <a:t>User Experience</a:t>
            </a:r>
            <a:endParaRPr lang="en-US" sz="1000" dirty="0"/>
          </a:p>
          <a:p>
            <a:pPr marL="0" indent="0" algn="ctr">
              <a:buNone/>
            </a:pPr>
            <a:r>
              <a:rPr lang="en-US" sz="1000" b="1" dirty="0">
                <a:solidFill>
                  <a:srgbClr val="22223B"/>
                </a:solidFill>
                <a:latin typeface="Calibri" pitchFamily="34" charset="0"/>
                <a:ea typeface="Calibri" pitchFamily="34" charset="-122"/>
                <a:cs typeface="Calibri" pitchFamily="34" charset="-120"/>
              </a:rPr>
              <a:t>(UX) Design</a:t>
            </a:r>
            <a:endParaRPr lang="en-US" sz="1000" dirty="0"/>
          </a:p>
        </p:txBody>
      </p:sp>
      <p:sp>
        <p:nvSpPr>
          <p:cNvPr id="8" name="Text 6"/>
          <p:cNvSpPr/>
          <p:nvPr/>
        </p:nvSpPr>
        <p:spPr>
          <a:xfrm>
            <a:off x="1828800" y="2057400"/>
            <a:ext cx="2011680" cy="457200"/>
          </a:xfrm>
          <a:prstGeom prst="rect">
            <a:avLst/>
          </a:prstGeom>
          <a:noFill/>
          <a:ln/>
        </p:spPr>
        <p:txBody>
          <a:bodyPr wrap="square" rtlCol="0" anchor="ctr"/>
          <a:lstStyle/>
          <a:p>
            <a:pPr marL="0" indent="0" algn="ctr">
              <a:buNone/>
            </a:pPr>
            <a:r>
              <a:rPr lang="en-US" sz="950" b="1" dirty="0">
                <a:solidFill>
                  <a:srgbClr val="22223B"/>
                </a:solidFill>
                <a:latin typeface="Calibri" pitchFamily="34" charset="0"/>
                <a:ea typeface="Calibri" pitchFamily="34" charset="-122"/>
                <a:cs typeface="Calibri" pitchFamily="34" charset="-120"/>
              </a:rPr>
              <a:t>Human-Computer</a:t>
            </a:r>
            <a:endParaRPr lang="en-US" sz="950" dirty="0"/>
          </a:p>
          <a:p>
            <a:pPr marL="0" indent="0" algn="ctr">
              <a:buNone/>
            </a:pPr>
            <a:r>
              <a:rPr lang="en-US" sz="950" b="1" dirty="0">
                <a:solidFill>
                  <a:srgbClr val="22223B"/>
                </a:solidFill>
                <a:latin typeface="Calibri" pitchFamily="34" charset="0"/>
                <a:ea typeface="Calibri" pitchFamily="34" charset="-122"/>
                <a:cs typeface="Calibri" pitchFamily="34" charset="-120"/>
              </a:rPr>
              <a:t>Interaction (HCI)</a:t>
            </a:r>
            <a:endParaRPr lang="en-US" sz="950" dirty="0"/>
          </a:p>
        </p:txBody>
      </p:sp>
      <p:sp>
        <p:nvSpPr>
          <p:cNvPr id="9" name="Text 7"/>
          <p:cNvSpPr/>
          <p:nvPr/>
        </p:nvSpPr>
        <p:spPr>
          <a:xfrm>
            <a:off x="2240280" y="2697480"/>
            <a:ext cx="1188720" cy="64008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Interaction</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Design (ID)</a:t>
            </a:r>
            <a:endParaRPr lang="en-US" sz="900" dirty="0"/>
          </a:p>
        </p:txBody>
      </p:sp>
      <p:sp>
        <p:nvSpPr>
          <p:cNvPr id="10" name="Shape 8"/>
          <p:cNvSpPr/>
          <p:nvPr/>
        </p:nvSpPr>
        <p:spPr>
          <a:xfrm>
            <a:off x="4846320" y="1481328"/>
            <a:ext cx="256032" cy="256032"/>
          </a:xfrm>
          <a:prstGeom prst="ellipse">
            <a:avLst/>
          </a:prstGeom>
          <a:solidFill>
            <a:srgbClr val="EFEBFF"/>
          </a:solidFill>
          <a:ln w="12700">
            <a:solidFill>
              <a:srgbClr val="9CA3AF"/>
            </a:solidFill>
            <a:prstDash val="solid"/>
          </a:ln>
        </p:spPr>
      </p:sp>
      <p:sp>
        <p:nvSpPr>
          <p:cNvPr id="11" name="Text 9"/>
          <p:cNvSpPr/>
          <p:nvPr/>
        </p:nvSpPr>
        <p:spPr>
          <a:xfrm>
            <a:off x="5257800" y="1389888"/>
            <a:ext cx="3383280" cy="320040"/>
          </a:xfrm>
          <a:prstGeom prst="rect">
            <a:avLst/>
          </a:prstGeom>
          <a:noFill/>
          <a:ln/>
        </p:spPr>
        <p:txBody>
          <a:bodyPr wrap="square" rtlCol="0" anchor="ctr"/>
          <a:lstStyle/>
          <a:p>
            <a:pPr marL="0" indent="0">
              <a:buNone/>
            </a:pPr>
            <a:r>
              <a:rPr lang="en-US" sz="1250" b="1" dirty="0">
                <a:solidFill>
                  <a:srgbClr val="22223B"/>
                </a:solidFill>
                <a:latin typeface="Calibri" pitchFamily="34" charset="0"/>
                <a:ea typeface="Calibri" pitchFamily="34" charset="-122"/>
                <a:cs typeface="Calibri" pitchFamily="34" charset="-120"/>
              </a:rPr>
              <a:t>UX Design</a:t>
            </a:r>
            <a:endParaRPr lang="en-US" sz="1250" dirty="0"/>
          </a:p>
        </p:txBody>
      </p:sp>
      <p:sp>
        <p:nvSpPr>
          <p:cNvPr id="12" name="Text 10"/>
          <p:cNvSpPr/>
          <p:nvPr/>
        </p:nvSpPr>
        <p:spPr>
          <a:xfrm>
            <a:off x="5257800" y="1691640"/>
            <a:ext cx="3383280" cy="68580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The broadest scope — covers the entire experience, including branding, usability, and function</a:t>
            </a:r>
            <a:endParaRPr lang="en-US" sz="1000" dirty="0"/>
          </a:p>
        </p:txBody>
      </p:sp>
      <p:sp>
        <p:nvSpPr>
          <p:cNvPr id="13" name="Shape 11"/>
          <p:cNvSpPr/>
          <p:nvPr/>
        </p:nvSpPr>
        <p:spPr>
          <a:xfrm>
            <a:off x="4846320" y="2532888"/>
            <a:ext cx="256032" cy="256032"/>
          </a:xfrm>
          <a:prstGeom prst="ellipse">
            <a:avLst/>
          </a:prstGeom>
          <a:solidFill>
            <a:srgbClr val="F4F2FF"/>
          </a:solidFill>
          <a:ln w="12700">
            <a:solidFill>
              <a:srgbClr val="9CA3AF"/>
            </a:solidFill>
            <a:prstDash val="solid"/>
          </a:ln>
        </p:spPr>
      </p:sp>
      <p:sp>
        <p:nvSpPr>
          <p:cNvPr id="14" name="Text 12"/>
          <p:cNvSpPr/>
          <p:nvPr/>
        </p:nvSpPr>
        <p:spPr>
          <a:xfrm>
            <a:off x="5257800" y="2441448"/>
            <a:ext cx="3383280" cy="320040"/>
          </a:xfrm>
          <a:prstGeom prst="rect">
            <a:avLst/>
          </a:prstGeom>
          <a:noFill/>
          <a:ln/>
        </p:spPr>
        <p:txBody>
          <a:bodyPr wrap="square" rtlCol="0" anchor="ctr"/>
          <a:lstStyle/>
          <a:p>
            <a:pPr marL="0" indent="0">
              <a:buNone/>
            </a:pPr>
            <a:r>
              <a:rPr lang="en-US" sz="1250" b="1" dirty="0">
                <a:solidFill>
                  <a:srgbClr val="22223B"/>
                </a:solidFill>
                <a:latin typeface="Calibri" pitchFamily="34" charset="0"/>
                <a:ea typeface="Calibri" pitchFamily="34" charset="-122"/>
                <a:cs typeface="Calibri" pitchFamily="34" charset="-120"/>
              </a:rPr>
              <a:t>HCI</a:t>
            </a:r>
            <a:endParaRPr lang="en-US" sz="1250" dirty="0"/>
          </a:p>
        </p:txBody>
      </p:sp>
      <p:sp>
        <p:nvSpPr>
          <p:cNvPr id="15" name="Text 13"/>
          <p:cNvSpPr/>
          <p:nvPr/>
        </p:nvSpPr>
        <p:spPr>
          <a:xfrm>
            <a:off x="5257800" y="2743200"/>
            <a:ext cx="3383280" cy="68580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The academic field studying how humans and computers interact, going back to the 1980s</a:t>
            </a:r>
            <a:endParaRPr lang="en-US" sz="1000" dirty="0"/>
          </a:p>
        </p:txBody>
      </p:sp>
      <p:sp>
        <p:nvSpPr>
          <p:cNvPr id="16" name="Shape 14"/>
          <p:cNvSpPr/>
          <p:nvPr/>
        </p:nvSpPr>
        <p:spPr>
          <a:xfrm>
            <a:off x="4846320" y="3584448"/>
            <a:ext cx="256032" cy="256032"/>
          </a:xfrm>
          <a:prstGeom prst="ellipse">
            <a:avLst/>
          </a:prstGeom>
          <a:solidFill>
            <a:srgbClr val="4C3BCF"/>
          </a:solidFill>
          <a:ln w="12700">
            <a:solidFill>
              <a:srgbClr val="9CA3AF"/>
            </a:solidFill>
            <a:prstDash val="solid"/>
          </a:ln>
        </p:spPr>
      </p:sp>
      <p:sp>
        <p:nvSpPr>
          <p:cNvPr id="17" name="Text 15"/>
          <p:cNvSpPr/>
          <p:nvPr/>
        </p:nvSpPr>
        <p:spPr>
          <a:xfrm>
            <a:off x="5257800" y="3493008"/>
            <a:ext cx="3383280" cy="320040"/>
          </a:xfrm>
          <a:prstGeom prst="rect">
            <a:avLst/>
          </a:prstGeom>
          <a:noFill/>
          <a:ln/>
        </p:spPr>
        <p:txBody>
          <a:bodyPr wrap="square" rtlCol="0" anchor="ctr"/>
          <a:lstStyle/>
          <a:p>
            <a:pPr marL="0" indent="0">
              <a:buNone/>
            </a:pPr>
            <a:r>
              <a:rPr lang="en-US" sz="1250" b="1" dirty="0">
                <a:solidFill>
                  <a:srgbClr val="22223B"/>
                </a:solidFill>
                <a:latin typeface="Calibri" pitchFamily="34" charset="0"/>
                <a:ea typeface="Calibri" pitchFamily="34" charset="-122"/>
                <a:cs typeface="Calibri" pitchFamily="34" charset="-120"/>
              </a:rPr>
              <a:t>Interaction Design</a:t>
            </a:r>
            <a:endParaRPr lang="en-US" sz="1250" dirty="0"/>
          </a:p>
        </p:txBody>
      </p:sp>
      <p:sp>
        <p:nvSpPr>
          <p:cNvPr id="18" name="Text 16"/>
          <p:cNvSpPr/>
          <p:nvPr/>
        </p:nvSpPr>
        <p:spPr>
          <a:xfrm>
            <a:off x="5257800" y="3794760"/>
            <a:ext cx="3383280" cy="68580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A core practice within HCI/UX focused specifically on designing the interaction itself</a:t>
            </a:r>
            <a:endParaRPr lang="en-US" sz="1000" dirty="0"/>
          </a:p>
        </p:txBody>
      </p:sp>
      <p:sp>
        <p:nvSpPr>
          <p:cNvPr id="19" name="Text 17"/>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20" name="Text 18"/>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10 / 29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1.3 WHAT IS INTERACTION DESIGN?</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Who Practises Interaction Design?</a:t>
            </a:r>
            <a:endParaRPr lang="en-US" sz="2600" dirty="0"/>
          </a:p>
        </p:txBody>
      </p:sp>
      <p:sp>
        <p:nvSpPr>
          <p:cNvPr id="4" name="Text 2"/>
          <p:cNvSpPr/>
          <p:nvPr/>
        </p:nvSpPr>
        <p:spPr>
          <a:xfrm>
            <a:off x="457200" y="1188720"/>
            <a:ext cx="8229600" cy="32004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Real products are rarely designed by one person — they emerge from a team of specialists:</a:t>
            </a:r>
            <a:endParaRPr lang="en-US" sz="1200" dirty="0"/>
          </a:p>
        </p:txBody>
      </p:sp>
      <p:sp>
        <p:nvSpPr>
          <p:cNvPr id="5" name="Shape 3"/>
          <p:cNvSpPr/>
          <p:nvPr/>
        </p:nvSpPr>
        <p:spPr>
          <a:xfrm>
            <a:off x="457200" y="1645920"/>
            <a:ext cx="502920" cy="502920"/>
          </a:xfrm>
          <a:prstGeom prst="ellipse">
            <a:avLst/>
          </a:prstGeom>
          <a:solidFill>
            <a:srgbClr val="4C3BCF"/>
          </a:solidFill>
          <a:ln/>
        </p:spPr>
      </p:sp>
      <p:pic>
        <p:nvPicPr>
          <p:cNvPr id="6" name="Image 0" descr="preencoded.png"/>
          <p:cNvPicPr>
            <a:picLocks noChangeAspect="1"/>
          </p:cNvPicPr>
          <p:nvPr/>
        </p:nvPicPr>
        <p:blipFill>
          <a:blip r:embed="rId3"/>
          <a:stretch>
            <a:fillRect/>
          </a:stretch>
        </p:blipFill>
        <p:spPr>
          <a:xfrm>
            <a:off x="532638" y="1721358"/>
            <a:ext cx="352044" cy="352044"/>
          </a:xfrm>
          <a:prstGeom prst="rect">
            <a:avLst/>
          </a:prstGeom>
        </p:spPr>
      </p:pic>
      <p:sp>
        <p:nvSpPr>
          <p:cNvPr id="7" name="Text 4"/>
          <p:cNvSpPr/>
          <p:nvPr/>
        </p:nvSpPr>
        <p:spPr>
          <a:xfrm>
            <a:off x="1097280" y="1618488"/>
            <a:ext cx="2011680" cy="274320"/>
          </a:xfrm>
          <a:prstGeom prst="rect">
            <a:avLst/>
          </a:prstGeom>
          <a:noFill/>
          <a:ln/>
        </p:spPr>
        <p:txBody>
          <a:bodyPr wrap="square" rtlCol="0" anchor="ctr"/>
          <a:lstStyle/>
          <a:p>
            <a:pPr marL="0" indent="0">
              <a:buNone/>
            </a:pPr>
            <a:r>
              <a:rPr lang="en-US" sz="1100" b="1" dirty="0">
                <a:solidFill>
                  <a:srgbClr val="22223B"/>
                </a:solidFill>
                <a:latin typeface="Calibri" pitchFamily="34" charset="0"/>
                <a:ea typeface="Calibri" pitchFamily="34" charset="-122"/>
                <a:cs typeface="Calibri" pitchFamily="34" charset="-120"/>
              </a:rPr>
              <a:t>UX Researcher</a:t>
            </a:r>
            <a:endParaRPr lang="en-US" sz="1100" dirty="0"/>
          </a:p>
        </p:txBody>
      </p:sp>
      <p:sp>
        <p:nvSpPr>
          <p:cNvPr id="8" name="Text 5"/>
          <p:cNvSpPr/>
          <p:nvPr/>
        </p:nvSpPr>
        <p:spPr>
          <a:xfrm>
            <a:off x="1097280" y="1874520"/>
            <a:ext cx="2011680" cy="548640"/>
          </a:xfrm>
          <a:prstGeom prst="rect">
            <a:avLst/>
          </a:prstGeom>
          <a:noFill/>
          <a:ln/>
        </p:spPr>
        <p:txBody>
          <a:bodyPr wrap="square" rtlCol="0" anchor="ctr"/>
          <a:lstStyle/>
          <a:p>
            <a:pPr marL="0" indent="0">
              <a:buNone/>
            </a:pPr>
            <a:r>
              <a:rPr lang="en-US" sz="880" dirty="0">
                <a:solidFill>
                  <a:srgbClr val="6B7280"/>
                </a:solidFill>
                <a:latin typeface="Calibri" pitchFamily="34" charset="0"/>
                <a:ea typeface="Calibri" pitchFamily="34" charset="-122"/>
                <a:cs typeface="Calibri" pitchFamily="34" charset="-120"/>
              </a:rPr>
              <a:t>Studies user needs, behaviours, and pain points</a:t>
            </a:r>
            <a:endParaRPr lang="en-US" sz="880" dirty="0"/>
          </a:p>
        </p:txBody>
      </p:sp>
      <p:sp>
        <p:nvSpPr>
          <p:cNvPr id="9" name="Shape 6"/>
          <p:cNvSpPr/>
          <p:nvPr/>
        </p:nvSpPr>
        <p:spPr>
          <a:xfrm>
            <a:off x="3246120" y="1645920"/>
            <a:ext cx="502920" cy="502920"/>
          </a:xfrm>
          <a:prstGeom prst="ellipse">
            <a:avLst/>
          </a:prstGeom>
          <a:solidFill>
            <a:srgbClr val="4C3BCF"/>
          </a:solidFill>
          <a:ln/>
        </p:spPr>
      </p:sp>
      <p:pic>
        <p:nvPicPr>
          <p:cNvPr id="10" name="Image 1" descr="preencoded.png"/>
          <p:cNvPicPr>
            <a:picLocks noChangeAspect="1"/>
          </p:cNvPicPr>
          <p:nvPr/>
        </p:nvPicPr>
        <p:blipFill>
          <a:blip r:embed="rId4"/>
          <a:stretch>
            <a:fillRect/>
          </a:stretch>
        </p:blipFill>
        <p:spPr>
          <a:xfrm>
            <a:off x="3321558" y="1721358"/>
            <a:ext cx="352044" cy="352044"/>
          </a:xfrm>
          <a:prstGeom prst="rect">
            <a:avLst/>
          </a:prstGeom>
        </p:spPr>
      </p:pic>
      <p:sp>
        <p:nvSpPr>
          <p:cNvPr id="11" name="Text 7"/>
          <p:cNvSpPr/>
          <p:nvPr/>
        </p:nvSpPr>
        <p:spPr>
          <a:xfrm>
            <a:off x="3886200" y="1618488"/>
            <a:ext cx="2011680" cy="274320"/>
          </a:xfrm>
          <a:prstGeom prst="rect">
            <a:avLst/>
          </a:prstGeom>
          <a:noFill/>
          <a:ln/>
        </p:spPr>
        <p:txBody>
          <a:bodyPr wrap="square" rtlCol="0" anchor="ctr"/>
          <a:lstStyle/>
          <a:p>
            <a:pPr marL="0" indent="0">
              <a:buNone/>
            </a:pPr>
            <a:r>
              <a:rPr lang="en-US" sz="1100" b="1" dirty="0">
                <a:solidFill>
                  <a:srgbClr val="22223B"/>
                </a:solidFill>
                <a:latin typeface="Calibri" pitchFamily="34" charset="0"/>
                <a:ea typeface="Calibri" pitchFamily="34" charset="-122"/>
                <a:cs typeface="Calibri" pitchFamily="34" charset="-120"/>
              </a:rPr>
              <a:t>Interaction Designer</a:t>
            </a:r>
            <a:endParaRPr lang="en-US" sz="1100" dirty="0"/>
          </a:p>
        </p:txBody>
      </p:sp>
      <p:sp>
        <p:nvSpPr>
          <p:cNvPr id="12" name="Text 8"/>
          <p:cNvSpPr/>
          <p:nvPr/>
        </p:nvSpPr>
        <p:spPr>
          <a:xfrm>
            <a:off x="3886200" y="1874520"/>
            <a:ext cx="2011680" cy="548640"/>
          </a:xfrm>
          <a:prstGeom prst="rect">
            <a:avLst/>
          </a:prstGeom>
          <a:noFill/>
          <a:ln/>
        </p:spPr>
        <p:txBody>
          <a:bodyPr wrap="square" rtlCol="0" anchor="ctr"/>
          <a:lstStyle/>
          <a:p>
            <a:pPr marL="0" indent="0">
              <a:buNone/>
            </a:pPr>
            <a:r>
              <a:rPr lang="en-US" sz="880" dirty="0">
                <a:solidFill>
                  <a:srgbClr val="6B7280"/>
                </a:solidFill>
                <a:latin typeface="Calibri" pitchFamily="34" charset="0"/>
                <a:ea typeface="Calibri" pitchFamily="34" charset="-122"/>
                <a:cs typeface="Calibri" pitchFamily="34" charset="-120"/>
              </a:rPr>
              <a:t>Designs how users accomplish tasks step by step</a:t>
            </a:r>
            <a:endParaRPr lang="en-US" sz="880" dirty="0"/>
          </a:p>
        </p:txBody>
      </p:sp>
      <p:sp>
        <p:nvSpPr>
          <p:cNvPr id="13" name="Shape 9"/>
          <p:cNvSpPr/>
          <p:nvPr/>
        </p:nvSpPr>
        <p:spPr>
          <a:xfrm>
            <a:off x="6035040" y="1645920"/>
            <a:ext cx="502920" cy="502920"/>
          </a:xfrm>
          <a:prstGeom prst="ellipse">
            <a:avLst/>
          </a:prstGeom>
          <a:solidFill>
            <a:srgbClr val="4C3BCF"/>
          </a:solidFill>
          <a:ln/>
        </p:spPr>
      </p:sp>
      <p:pic>
        <p:nvPicPr>
          <p:cNvPr id="14" name="Image 2" descr="preencoded.png"/>
          <p:cNvPicPr>
            <a:picLocks noChangeAspect="1"/>
          </p:cNvPicPr>
          <p:nvPr/>
        </p:nvPicPr>
        <p:blipFill>
          <a:blip r:embed="rId5"/>
          <a:stretch>
            <a:fillRect/>
          </a:stretch>
        </p:blipFill>
        <p:spPr>
          <a:xfrm>
            <a:off x="6110478" y="1721358"/>
            <a:ext cx="352044" cy="352044"/>
          </a:xfrm>
          <a:prstGeom prst="rect">
            <a:avLst/>
          </a:prstGeom>
        </p:spPr>
      </p:pic>
      <p:sp>
        <p:nvSpPr>
          <p:cNvPr id="15" name="Text 10"/>
          <p:cNvSpPr/>
          <p:nvPr/>
        </p:nvSpPr>
        <p:spPr>
          <a:xfrm>
            <a:off x="6675120" y="1618488"/>
            <a:ext cx="2011680" cy="274320"/>
          </a:xfrm>
          <a:prstGeom prst="rect">
            <a:avLst/>
          </a:prstGeom>
          <a:noFill/>
          <a:ln/>
        </p:spPr>
        <p:txBody>
          <a:bodyPr wrap="square" rtlCol="0" anchor="ctr"/>
          <a:lstStyle/>
          <a:p>
            <a:pPr marL="0" indent="0">
              <a:buNone/>
            </a:pPr>
            <a:r>
              <a:rPr lang="en-US" sz="1100" b="1" dirty="0">
                <a:solidFill>
                  <a:srgbClr val="22223B"/>
                </a:solidFill>
                <a:latin typeface="Calibri" pitchFamily="34" charset="0"/>
                <a:ea typeface="Calibri" pitchFamily="34" charset="-122"/>
                <a:cs typeface="Calibri" pitchFamily="34" charset="-120"/>
              </a:rPr>
              <a:t>Visual / UI Designer</a:t>
            </a:r>
            <a:endParaRPr lang="en-US" sz="1100" dirty="0"/>
          </a:p>
        </p:txBody>
      </p:sp>
      <p:sp>
        <p:nvSpPr>
          <p:cNvPr id="16" name="Text 11"/>
          <p:cNvSpPr/>
          <p:nvPr/>
        </p:nvSpPr>
        <p:spPr>
          <a:xfrm>
            <a:off x="6675120" y="1874520"/>
            <a:ext cx="2011680" cy="548640"/>
          </a:xfrm>
          <a:prstGeom prst="rect">
            <a:avLst/>
          </a:prstGeom>
          <a:noFill/>
          <a:ln/>
        </p:spPr>
        <p:txBody>
          <a:bodyPr wrap="square" rtlCol="0" anchor="ctr"/>
          <a:lstStyle/>
          <a:p>
            <a:pPr marL="0" indent="0">
              <a:buNone/>
            </a:pPr>
            <a:r>
              <a:rPr lang="en-US" sz="880" dirty="0">
                <a:solidFill>
                  <a:srgbClr val="6B7280"/>
                </a:solidFill>
                <a:latin typeface="Calibri" pitchFamily="34" charset="0"/>
                <a:ea typeface="Calibri" pitchFamily="34" charset="-122"/>
                <a:cs typeface="Calibri" pitchFamily="34" charset="-120"/>
              </a:rPr>
              <a:t>Shapes the look, feel, and visual hierarchy</a:t>
            </a:r>
            <a:endParaRPr lang="en-US" sz="880" dirty="0"/>
          </a:p>
        </p:txBody>
      </p:sp>
      <p:sp>
        <p:nvSpPr>
          <p:cNvPr id="17" name="Shape 12"/>
          <p:cNvSpPr/>
          <p:nvPr/>
        </p:nvSpPr>
        <p:spPr>
          <a:xfrm>
            <a:off x="457200" y="2926080"/>
            <a:ext cx="502920" cy="502920"/>
          </a:xfrm>
          <a:prstGeom prst="ellipse">
            <a:avLst/>
          </a:prstGeom>
          <a:solidFill>
            <a:srgbClr val="4C3BCF"/>
          </a:solidFill>
          <a:ln/>
        </p:spPr>
      </p:sp>
      <p:pic>
        <p:nvPicPr>
          <p:cNvPr id="18" name="Image 3" descr="preencoded.png"/>
          <p:cNvPicPr>
            <a:picLocks noChangeAspect="1"/>
          </p:cNvPicPr>
          <p:nvPr/>
        </p:nvPicPr>
        <p:blipFill>
          <a:blip r:embed="rId6"/>
          <a:stretch>
            <a:fillRect/>
          </a:stretch>
        </p:blipFill>
        <p:spPr>
          <a:xfrm>
            <a:off x="532638" y="3001518"/>
            <a:ext cx="352044" cy="352044"/>
          </a:xfrm>
          <a:prstGeom prst="rect">
            <a:avLst/>
          </a:prstGeom>
        </p:spPr>
      </p:pic>
      <p:sp>
        <p:nvSpPr>
          <p:cNvPr id="19" name="Text 13"/>
          <p:cNvSpPr/>
          <p:nvPr/>
        </p:nvSpPr>
        <p:spPr>
          <a:xfrm>
            <a:off x="1097280" y="2898648"/>
            <a:ext cx="2011680" cy="274320"/>
          </a:xfrm>
          <a:prstGeom prst="rect">
            <a:avLst/>
          </a:prstGeom>
          <a:noFill/>
          <a:ln/>
        </p:spPr>
        <p:txBody>
          <a:bodyPr wrap="square" rtlCol="0" anchor="ctr"/>
          <a:lstStyle/>
          <a:p>
            <a:pPr marL="0" indent="0">
              <a:buNone/>
            </a:pPr>
            <a:r>
              <a:rPr lang="en-US" sz="1100" b="1" dirty="0">
                <a:solidFill>
                  <a:srgbClr val="22223B"/>
                </a:solidFill>
                <a:latin typeface="Calibri" pitchFamily="34" charset="0"/>
                <a:ea typeface="Calibri" pitchFamily="34" charset="-122"/>
                <a:cs typeface="Calibri" pitchFamily="34" charset="-120"/>
              </a:rPr>
              <a:t>Information Architect</a:t>
            </a:r>
            <a:endParaRPr lang="en-US" sz="1100" dirty="0"/>
          </a:p>
        </p:txBody>
      </p:sp>
      <p:sp>
        <p:nvSpPr>
          <p:cNvPr id="20" name="Text 14"/>
          <p:cNvSpPr/>
          <p:nvPr/>
        </p:nvSpPr>
        <p:spPr>
          <a:xfrm>
            <a:off x="1097280" y="3154680"/>
            <a:ext cx="2011680" cy="548640"/>
          </a:xfrm>
          <a:prstGeom prst="rect">
            <a:avLst/>
          </a:prstGeom>
          <a:noFill/>
          <a:ln/>
        </p:spPr>
        <p:txBody>
          <a:bodyPr wrap="square" rtlCol="0" anchor="ctr"/>
          <a:lstStyle/>
          <a:p>
            <a:pPr marL="0" indent="0">
              <a:buNone/>
            </a:pPr>
            <a:r>
              <a:rPr lang="en-US" sz="880" dirty="0">
                <a:solidFill>
                  <a:srgbClr val="6B7280"/>
                </a:solidFill>
                <a:latin typeface="Calibri" pitchFamily="34" charset="0"/>
                <a:ea typeface="Calibri" pitchFamily="34" charset="-122"/>
                <a:cs typeface="Calibri" pitchFamily="34" charset="-120"/>
              </a:rPr>
              <a:t>Organizes content and navigation structure</a:t>
            </a:r>
            <a:endParaRPr lang="en-US" sz="880" dirty="0"/>
          </a:p>
        </p:txBody>
      </p:sp>
      <p:sp>
        <p:nvSpPr>
          <p:cNvPr id="21" name="Shape 15"/>
          <p:cNvSpPr/>
          <p:nvPr/>
        </p:nvSpPr>
        <p:spPr>
          <a:xfrm>
            <a:off x="3246120" y="2926080"/>
            <a:ext cx="502920" cy="502920"/>
          </a:xfrm>
          <a:prstGeom prst="ellipse">
            <a:avLst/>
          </a:prstGeom>
          <a:solidFill>
            <a:srgbClr val="4C3BCF"/>
          </a:solidFill>
          <a:ln/>
        </p:spPr>
      </p:sp>
      <p:pic>
        <p:nvPicPr>
          <p:cNvPr id="22" name="Image 4" descr="preencoded.png"/>
          <p:cNvPicPr>
            <a:picLocks noChangeAspect="1"/>
          </p:cNvPicPr>
          <p:nvPr/>
        </p:nvPicPr>
        <p:blipFill>
          <a:blip r:embed="rId7"/>
          <a:stretch>
            <a:fillRect/>
          </a:stretch>
        </p:blipFill>
        <p:spPr>
          <a:xfrm>
            <a:off x="3321558" y="3001518"/>
            <a:ext cx="352044" cy="352044"/>
          </a:xfrm>
          <a:prstGeom prst="rect">
            <a:avLst/>
          </a:prstGeom>
        </p:spPr>
      </p:pic>
      <p:sp>
        <p:nvSpPr>
          <p:cNvPr id="23" name="Text 16"/>
          <p:cNvSpPr/>
          <p:nvPr/>
        </p:nvSpPr>
        <p:spPr>
          <a:xfrm>
            <a:off x="3886200" y="2898648"/>
            <a:ext cx="2011680" cy="274320"/>
          </a:xfrm>
          <a:prstGeom prst="rect">
            <a:avLst/>
          </a:prstGeom>
          <a:noFill/>
          <a:ln/>
        </p:spPr>
        <p:txBody>
          <a:bodyPr wrap="square" rtlCol="0" anchor="ctr"/>
          <a:lstStyle/>
          <a:p>
            <a:pPr marL="0" indent="0">
              <a:buNone/>
            </a:pPr>
            <a:r>
              <a:rPr lang="en-US" sz="1100" b="1" dirty="0">
                <a:solidFill>
                  <a:srgbClr val="22223B"/>
                </a:solidFill>
                <a:latin typeface="Calibri" pitchFamily="34" charset="0"/>
                <a:ea typeface="Calibri" pitchFamily="34" charset="-122"/>
                <a:cs typeface="Calibri" pitchFamily="34" charset="-120"/>
              </a:rPr>
              <a:t>Front-End Developer</a:t>
            </a:r>
            <a:endParaRPr lang="en-US" sz="1100" dirty="0"/>
          </a:p>
        </p:txBody>
      </p:sp>
      <p:sp>
        <p:nvSpPr>
          <p:cNvPr id="24" name="Text 17"/>
          <p:cNvSpPr/>
          <p:nvPr/>
        </p:nvSpPr>
        <p:spPr>
          <a:xfrm>
            <a:off x="3886200" y="3154680"/>
            <a:ext cx="2011680" cy="548640"/>
          </a:xfrm>
          <a:prstGeom prst="rect">
            <a:avLst/>
          </a:prstGeom>
          <a:noFill/>
          <a:ln/>
        </p:spPr>
        <p:txBody>
          <a:bodyPr wrap="square" rtlCol="0" anchor="ctr"/>
          <a:lstStyle/>
          <a:p>
            <a:pPr marL="0" indent="0">
              <a:buNone/>
            </a:pPr>
            <a:r>
              <a:rPr lang="en-US" sz="880" dirty="0">
                <a:solidFill>
                  <a:srgbClr val="6B7280"/>
                </a:solidFill>
                <a:latin typeface="Calibri" pitchFamily="34" charset="0"/>
                <a:ea typeface="Calibri" pitchFamily="34" charset="-122"/>
                <a:cs typeface="Calibri" pitchFamily="34" charset="-120"/>
              </a:rPr>
              <a:t>Implements the interface in working code</a:t>
            </a:r>
            <a:endParaRPr lang="en-US" sz="880" dirty="0"/>
          </a:p>
        </p:txBody>
      </p:sp>
      <p:sp>
        <p:nvSpPr>
          <p:cNvPr id="25" name="Shape 18"/>
          <p:cNvSpPr/>
          <p:nvPr/>
        </p:nvSpPr>
        <p:spPr>
          <a:xfrm>
            <a:off x="6035040" y="2926080"/>
            <a:ext cx="502920" cy="502920"/>
          </a:xfrm>
          <a:prstGeom prst="ellipse">
            <a:avLst/>
          </a:prstGeom>
          <a:solidFill>
            <a:srgbClr val="4C3BCF"/>
          </a:solidFill>
          <a:ln/>
        </p:spPr>
      </p:sp>
      <p:pic>
        <p:nvPicPr>
          <p:cNvPr id="26" name="Image 5" descr="preencoded.png"/>
          <p:cNvPicPr>
            <a:picLocks noChangeAspect="1"/>
          </p:cNvPicPr>
          <p:nvPr/>
        </p:nvPicPr>
        <p:blipFill>
          <a:blip r:embed="rId8"/>
          <a:stretch>
            <a:fillRect/>
          </a:stretch>
        </p:blipFill>
        <p:spPr>
          <a:xfrm>
            <a:off x="6110478" y="3001518"/>
            <a:ext cx="352044" cy="352044"/>
          </a:xfrm>
          <a:prstGeom prst="rect">
            <a:avLst/>
          </a:prstGeom>
        </p:spPr>
      </p:pic>
      <p:sp>
        <p:nvSpPr>
          <p:cNvPr id="27" name="Text 19"/>
          <p:cNvSpPr/>
          <p:nvPr/>
        </p:nvSpPr>
        <p:spPr>
          <a:xfrm>
            <a:off x="6675120" y="2898648"/>
            <a:ext cx="2011680" cy="274320"/>
          </a:xfrm>
          <a:prstGeom prst="rect">
            <a:avLst/>
          </a:prstGeom>
          <a:noFill/>
          <a:ln/>
        </p:spPr>
        <p:txBody>
          <a:bodyPr wrap="square" rtlCol="0" anchor="ctr"/>
          <a:lstStyle/>
          <a:p>
            <a:pPr marL="0" indent="0">
              <a:buNone/>
            </a:pPr>
            <a:r>
              <a:rPr lang="en-US" sz="1100" b="1" dirty="0">
                <a:solidFill>
                  <a:srgbClr val="22223B"/>
                </a:solidFill>
                <a:latin typeface="Calibri" pitchFamily="34" charset="0"/>
                <a:ea typeface="Calibri" pitchFamily="34" charset="-122"/>
                <a:cs typeface="Calibri" pitchFamily="34" charset="-120"/>
              </a:rPr>
              <a:t>Usability Analyst</a:t>
            </a:r>
            <a:endParaRPr lang="en-US" sz="1100" dirty="0"/>
          </a:p>
        </p:txBody>
      </p:sp>
      <p:sp>
        <p:nvSpPr>
          <p:cNvPr id="28" name="Text 20"/>
          <p:cNvSpPr/>
          <p:nvPr/>
        </p:nvSpPr>
        <p:spPr>
          <a:xfrm>
            <a:off x="6675120" y="3154680"/>
            <a:ext cx="2011680" cy="548640"/>
          </a:xfrm>
          <a:prstGeom prst="rect">
            <a:avLst/>
          </a:prstGeom>
          <a:noFill/>
          <a:ln/>
        </p:spPr>
        <p:txBody>
          <a:bodyPr wrap="square" rtlCol="0" anchor="ctr"/>
          <a:lstStyle/>
          <a:p>
            <a:pPr marL="0" indent="0">
              <a:buNone/>
            </a:pPr>
            <a:r>
              <a:rPr lang="en-US" sz="880" dirty="0">
                <a:solidFill>
                  <a:srgbClr val="6B7280"/>
                </a:solidFill>
                <a:latin typeface="Calibri" pitchFamily="34" charset="0"/>
                <a:ea typeface="Calibri" pitchFamily="34" charset="-122"/>
                <a:cs typeface="Calibri" pitchFamily="34" charset="-120"/>
              </a:rPr>
              <a:t>Tests designs against usability &amp; UX goals</a:t>
            </a:r>
            <a:endParaRPr lang="en-US" sz="880" dirty="0"/>
          </a:p>
        </p:txBody>
      </p:sp>
      <p:sp>
        <p:nvSpPr>
          <p:cNvPr id="29" name="Text 21"/>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30" name="Text 22"/>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11 / 29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1.4 THE USER EXPERIENCE</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What Do We Mean by “User Experience”?</a:t>
            </a:r>
            <a:endParaRPr lang="en-US" sz="2600" dirty="0"/>
          </a:p>
        </p:txBody>
      </p:sp>
      <p:sp>
        <p:nvSpPr>
          <p:cNvPr id="4" name="Shape 2"/>
          <p:cNvSpPr/>
          <p:nvPr/>
        </p:nvSpPr>
        <p:spPr>
          <a:xfrm>
            <a:off x="457200" y="1371600"/>
            <a:ext cx="8229600" cy="1051560"/>
          </a:xfrm>
          <a:prstGeom prst="rect">
            <a:avLst/>
          </a:prstGeom>
          <a:solidFill>
            <a:srgbClr val="F4F2FF"/>
          </a:solidFill>
          <a:ln/>
          <a:effectLst>
            <a:outerShdw blurRad="101600" dist="38100" dir="2700000" algn="bl" rotWithShape="0">
              <a:srgbClr val="000000">
                <a:alpha val="12000"/>
              </a:srgbClr>
            </a:outerShdw>
          </a:effectLst>
        </p:spPr>
      </p:sp>
      <p:sp>
        <p:nvSpPr>
          <p:cNvPr id="5" name="Text 3"/>
          <p:cNvSpPr/>
          <p:nvPr/>
        </p:nvSpPr>
        <p:spPr>
          <a:xfrm>
            <a:off x="731520" y="1481328"/>
            <a:ext cx="7680960" cy="868680"/>
          </a:xfrm>
          <a:prstGeom prst="rect">
            <a:avLst/>
          </a:prstGeom>
          <a:noFill/>
          <a:ln/>
        </p:spPr>
        <p:txBody>
          <a:bodyPr wrap="square" rtlCol="0" anchor="ctr"/>
          <a:lstStyle/>
          <a:p>
            <a:pPr marL="0" indent="0">
              <a:buNone/>
            </a:pPr>
            <a:r>
              <a:rPr lang="en-US" sz="1350" i="1" dirty="0">
                <a:solidFill>
                  <a:srgbClr val="342B81"/>
                </a:solidFill>
                <a:latin typeface="Calibri" pitchFamily="34" charset="0"/>
                <a:ea typeface="Calibri" pitchFamily="34" charset="-122"/>
                <a:cs typeface="Calibri" pitchFamily="34" charset="-120"/>
              </a:rPr>
              <a:t>Every aspect of how a person feels about using a product — how it makes them feel, whether it is satisfying, and how effectively it fits into their life.</a:t>
            </a:r>
            <a:endParaRPr lang="en-US" sz="1350" dirty="0"/>
          </a:p>
        </p:txBody>
      </p:sp>
      <p:sp>
        <p:nvSpPr>
          <p:cNvPr id="6" name="Text 4"/>
          <p:cNvSpPr/>
          <p:nvPr/>
        </p:nvSpPr>
        <p:spPr>
          <a:xfrm>
            <a:off x="457200" y="2606040"/>
            <a:ext cx="8229600" cy="1828800"/>
          </a:xfrm>
          <a:prstGeom prst="rect">
            <a:avLst/>
          </a:prstGeom>
          <a:noFill/>
          <a:ln/>
        </p:spPr>
        <p:txBody>
          <a:bodyPr wrap="square" rtlCol="0" anchor="ctr"/>
          <a:lstStyle/>
          <a:p>
            <a:pPr marL="342900" indent="-342900">
              <a:spcAft>
                <a:spcPts val="1000"/>
              </a:spcAft>
              <a:buSzPct val="100000"/>
              <a:buChar char="●"/>
            </a:pPr>
            <a:r>
              <a:rPr lang="en-US" sz="1250" dirty="0">
                <a:solidFill>
                  <a:srgbClr val="22223B"/>
                </a:solidFill>
                <a:latin typeface="Calibri" pitchFamily="34" charset="0"/>
                <a:ea typeface="Calibri" pitchFamily="34" charset="-122"/>
                <a:cs typeface="Calibri" pitchFamily="34" charset="-120"/>
              </a:rPr>
              <a:t>UX cannot be designed directly — designers can only design for a user experience, since the experience itself is subjective and personal</a:t>
            </a:r>
            <a:endParaRPr lang="en-US" sz="1250" dirty="0"/>
          </a:p>
          <a:p>
            <a:pPr marL="342900" indent="-342900">
              <a:spcAft>
                <a:spcPts val="1000"/>
              </a:spcAft>
              <a:buSzPct val="100000"/>
              <a:buChar char="●"/>
            </a:pPr>
            <a:r>
              <a:rPr lang="en-US" sz="1250" dirty="0">
                <a:solidFill>
                  <a:srgbClr val="22223B"/>
                </a:solidFill>
                <a:latin typeface="Calibri" pitchFamily="34" charset="0"/>
                <a:ea typeface="Calibri" pitchFamily="34" charset="-122"/>
                <a:cs typeface="Calibri" pitchFamily="34" charset="-120"/>
              </a:rPr>
              <a:t>It goes beyond usability: a system can be perfectly usable yet feel cold, boring, or untrustworthy</a:t>
            </a:r>
            <a:endParaRPr lang="en-US" sz="1250" dirty="0"/>
          </a:p>
          <a:p>
            <a:pPr marL="342900" indent="-342900">
              <a:spcAft>
                <a:spcPts val="1000"/>
              </a:spcAft>
              <a:buSzPct val="100000"/>
              <a:buChar char="●"/>
            </a:pPr>
            <a:r>
              <a:rPr lang="en-US" sz="1250" dirty="0">
                <a:solidFill>
                  <a:srgbClr val="22223B"/>
                </a:solidFill>
                <a:latin typeface="Calibri" pitchFamily="34" charset="0"/>
                <a:ea typeface="Calibri" pitchFamily="34" charset="-122"/>
                <a:cs typeface="Calibri" pitchFamily="34" charset="-120"/>
              </a:rPr>
              <a:t>Classic examples: the original iPod's simplicity, or TiVo's remote redesigned around how people actually watch television</a:t>
            </a:r>
            <a:endParaRPr lang="en-US" sz="1250" dirty="0"/>
          </a:p>
        </p:txBody>
      </p:sp>
      <p:sp>
        <p:nvSpPr>
          <p:cNvPr id="7" name="Text 5"/>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8" name="Text 6"/>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12 / 29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1.4 THE USER EXPERIENCE</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Factors That Shape the User Experience</a:t>
            </a:r>
            <a:endParaRPr lang="en-US" sz="2600" dirty="0"/>
          </a:p>
        </p:txBody>
      </p:sp>
      <p:sp>
        <p:nvSpPr>
          <p:cNvPr id="4" name="Shape 2"/>
          <p:cNvSpPr/>
          <p:nvPr/>
        </p:nvSpPr>
        <p:spPr>
          <a:xfrm>
            <a:off x="457200" y="1463040"/>
            <a:ext cx="2651760" cy="1188720"/>
          </a:xfrm>
          <a:prstGeom prst="rect">
            <a:avLst/>
          </a:prstGeom>
          <a:solidFill>
            <a:srgbClr val="FFF1EE"/>
          </a:solidFill>
          <a:ln/>
        </p:spPr>
      </p:sp>
      <p:sp>
        <p:nvSpPr>
          <p:cNvPr id="5" name="Shape 3"/>
          <p:cNvSpPr/>
          <p:nvPr/>
        </p:nvSpPr>
        <p:spPr>
          <a:xfrm>
            <a:off x="594360" y="1600200"/>
            <a:ext cx="457200" cy="457200"/>
          </a:xfrm>
          <a:prstGeom prst="ellipse">
            <a:avLst/>
          </a:prstGeom>
          <a:solidFill>
            <a:srgbClr val="FF6B57"/>
          </a:solidFill>
          <a:ln/>
        </p:spPr>
      </p:sp>
      <p:pic>
        <p:nvPicPr>
          <p:cNvPr id="6" name="Image 0" descr="preencoded.png"/>
          <p:cNvPicPr>
            <a:picLocks noChangeAspect="1"/>
          </p:cNvPicPr>
          <p:nvPr/>
        </p:nvPicPr>
        <p:blipFill>
          <a:blip r:embed="rId3"/>
          <a:stretch>
            <a:fillRect/>
          </a:stretch>
        </p:blipFill>
        <p:spPr>
          <a:xfrm>
            <a:off x="662940" y="1668780"/>
            <a:ext cx="320040" cy="320040"/>
          </a:xfrm>
          <a:prstGeom prst="rect">
            <a:avLst/>
          </a:prstGeom>
        </p:spPr>
      </p:pic>
      <p:sp>
        <p:nvSpPr>
          <p:cNvPr id="7" name="Text 4"/>
          <p:cNvSpPr/>
          <p:nvPr/>
        </p:nvSpPr>
        <p:spPr>
          <a:xfrm>
            <a:off x="594360" y="2103120"/>
            <a:ext cx="2377440" cy="256032"/>
          </a:xfrm>
          <a:prstGeom prst="rect">
            <a:avLst/>
          </a:prstGeom>
          <a:noFill/>
          <a:ln/>
        </p:spPr>
        <p:txBody>
          <a:bodyPr wrap="square" rtlCol="0" anchor="ctr"/>
          <a:lstStyle/>
          <a:p>
            <a:pPr marL="0" indent="0">
              <a:buNone/>
            </a:pPr>
            <a:r>
              <a:rPr lang="en-US" sz="1100" b="1" dirty="0">
                <a:solidFill>
                  <a:srgbClr val="22223B"/>
                </a:solidFill>
                <a:latin typeface="Calibri" pitchFamily="34" charset="0"/>
                <a:ea typeface="Calibri" pitchFamily="34" charset="-122"/>
                <a:cs typeface="Calibri" pitchFamily="34" charset="-120"/>
              </a:rPr>
              <a:t>Emotional response</a:t>
            </a:r>
            <a:endParaRPr lang="en-US" sz="1100" dirty="0"/>
          </a:p>
        </p:txBody>
      </p:sp>
      <p:sp>
        <p:nvSpPr>
          <p:cNvPr id="8" name="Text 5"/>
          <p:cNvSpPr/>
          <p:nvPr/>
        </p:nvSpPr>
        <p:spPr>
          <a:xfrm>
            <a:off x="594360" y="2340864"/>
            <a:ext cx="2377440" cy="320040"/>
          </a:xfrm>
          <a:prstGeom prst="rect">
            <a:avLst/>
          </a:prstGeom>
          <a:noFill/>
          <a:ln/>
        </p:spPr>
        <p:txBody>
          <a:bodyPr wrap="square" rtlCol="0" anchor="ctr"/>
          <a:lstStyle/>
          <a:p>
            <a:pPr marL="0" indent="0">
              <a:buNone/>
            </a:pPr>
            <a:r>
              <a:rPr lang="en-US" sz="830" dirty="0">
                <a:solidFill>
                  <a:srgbClr val="6B7280"/>
                </a:solidFill>
                <a:latin typeface="Calibri" pitchFamily="34" charset="0"/>
                <a:ea typeface="Calibri" pitchFamily="34" charset="-122"/>
                <a:cs typeface="Calibri" pitchFamily="34" charset="-120"/>
              </a:rPr>
              <a:t>Delight, frustration, trust, or anxiety while using the product</a:t>
            </a:r>
            <a:endParaRPr lang="en-US" sz="830" dirty="0"/>
          </a:p>
        </p:txBody>
      </p:sp>
      <p:sp>
        <p:nvSpPr>
          <p:cNvPr id="9" name="Shape 6"/>
          <p:cNvSpPr/>
          <p:nvPr/>
        </p:nvSpPr>
        <p:spPr>
          <a:xfrm>
            <a:off x="3246120" y="1463040"/>
            <a:ext cx="2651760" cy="1188720"/>
          </a:xfrm>
          <a:prstGeom prst="rect">
            <a:avLst/>
          </a:prstGeom>
          <a:solidFill>
            <a:srgbClr val="F4F2FF"/>
          </a:solidFill>
          <a:ln/>
        </p:spPr>
      </p:sp>
      <p:sp>
        <p:nvSpPr>
          <p:cNvPr id="10" name="Shape 7"/>
          <p:cNvSpPr/>
          <p:nvPr/>
        </p:nvSpPr>
        <p:spPr>
          <a:xfrm>
            <a:off x="3383280" y="1600200"/>
            <a:ext cx="457200" cy="457200"/>
          </a:xfrm>
          <a:prstGeom prst="ellipse">
            <a:avLst/>
          </a:prstGeom>
          <a:solidFill>
            <a:srgbClr val="FF6B57"/>
          </a:solidFill>
          <a:ln/>
        </p:spPr>
      </p:sp>
      <p:pic>
        <p:nvPicPr>
          <p:cNvPr id="11" name="Image 1" descr="preencoded.png"/>
          <p:cNvPicPr>
            <a:picLocks noChangeAspect="1"/>
          </p:cNvPicPr>
          <p:nvPr/>
        </p:nvPicPr>
        <p:blipFill>
          <a:blip r:embed="rId4"/>
          <a:stretch>
            <a:fillRect/>
          </a:stretch>
        </p:blipFill>
        <p:spPr>
          <a:xfrm>
            <a:off x="3451860" y="1668780"/>
            <a:ext cx="320040" cy="320040"/>
          </a:xfrm>
          <a:prstGeom prst="rect">
            <a:avLst/>
          </a:prstGeom>
        </p:spPr>
      </p:pic>
      <p:sp>
        <p:nvSpPr>
          <p:cNvPr id="12" name="Text 8"/>
          <p:cNvSpPr/>
          <p:nvPr/>
        </p:nvSpPr>
        <p:spPr>
          <a:xfrm>
            <a:off x="3383280" y="2103120"/>
            <a:ext cx="2377440" cy="256032"/>
          </a:xfrm>
          <a:prstGeom prst="rect">
            <a:avLst/>
          </a:prstGeom>
          <a:noFill/>
          <a:ln/>
        </p:spPr>
        <p:txBody>
          <a:bodyPr wrap="square" rtlCol="0" anchor="ctr"/>
          <a:lstStyle/>
          <a:p>
            <a:pPr marL="0" indent="0">
              <a:buNone/>
            </a:pPr>
            <a:r>
              <a:rPr lang="en-US" sz="1100" b="1" dirty="0">
                <a:solidFill>
                  <a:srgbClr val="22223B"/>
                </a:solidFill>
                <a:latin typeface="Calibri" pitchFamily="34" charset="0"/>
                <a:ea typeface="Calibri" pitchFamily="34" charset="-122"/>
                <a:cs typeface="Calibri" pitchFamily="34" charset="-120"/>
              </a:rPr>
              <a:t>Aesthetics</a:t>
            </a:r>
            <a:endParaRPr lang="en-US" sz="1100" dirty="0"/>
          </a:p>
        </p:txBody>
      </p:sp>
      <p:sp>
        <p:nvSpPr>
          <p:cNvPr id="13" name="Text 9"/>
          <p:cNvSpPr/>
          <p:nvPr/>
        </p:nvSpPr>
        <p:spPr>
          <a:xfrm>
            <a:off x="3383280" y="2340864"/>
            <a:ext cx="2377440" cy="320040"/>
          </a:xfrm>
          <a:prstGeom prst="rect">
            <a:avLst/>
          </a:prstGeom>
          <a:noFill/>
          <a:ln/>
        </p:spPr>
        <p:txBody>
          <a:bodyPr wrap="square" rtlCol="0" anchor="ctr"/>
          <a:lstStyle/>
          <a:p>
            <a:pPr marL="0" indent="0">
              <a:buNone/>
            </a:pPr>
            <a:r>
              <a:rPr lang="en-US" sz="830" dirty="0">
                <a:solidFill>
                  <a:srgbClr val="6B7280"/>
                </a:solidFill>
                <a:latin typeface="Calibri" pitchFamily="34" charset="0"/>
                <a:ea typeface="Calibri" pitchFamily="34" charset="-122"/>
                <a:cs typeface="Calibri" pitchFamily="34" charset="-120"/>
              </a:rPr>
              <a:t>Visual design, style, and overall polish</a:t>
            </a:r>
            <a:endParaRPr lang="en-US" sz="830" dirty="0"/>
          </a:p>
        </p:txBody>
      </p:sp>
      <p:sp>
        <p:nvSpPr>
          <p:cNvPr id="14" name="Shape 10"/>
          <p:cNvSpPr/>
          <p:nvPr/>
        </p:nvSpPr>
        <p:spPr>
          <a:xfrm>
            <a:off x="6035040" y="1463040"/>
            <a:ext cx="2651760" cy="1188720"/>
          </a:xfrm>
          <a:prstGeom prst="rect">
            <a:avLst/>
          </a:prstGeom>
          <a:solidFill>
            <a:srgbClr val="FFF1EE"/>
          </a:solidFill>
          <a:ln/>
        </p:spPr>
      </p:sp>
      <p:sp>
        <p:nvSpPr>
          <p:cNvPr id="15" name="Shape 11"/>
          <p:cNvSpPr/>
          <p:nvPr/>
        </p:nvSpPr>
        <p:spPr>
          <a:xfrm>
            <a:off x="6172200" y="1600200"/>
            <a:ext cx="457200" cy="457200"/>
          </a:xfrm>
          <a:prstGeom prst="ellipse">
            <a:avLst/>
          </a:prstGeom>
          <a:solidFill>
            <a:srgbClr val="FF6B57"/>
          </a:solidFill>
          <a:ln/>
        </p:spPr>
      </p:sp>
      <p:pic>
        <p:nvPicPr>
          <p:cNvPr id="16" name="Image 2" descr="preencoded.png"/>
          <p:cNvPicPr>
            <a:picLocks noChangeAspect="1"/>
          </p:cNvPicPr>
          <p:nvPr/>
        </p:nvPicPr>
        <p:blipFill>
          <a:blip r:embed="rId5"/>
          <a:stretch>
            <a:fillRect/>
          </a:stretch>
        </p:blipFill>
        <p:spPr>
          <a:xfrm>
            <a:off x="6240780" y="1668780"/>
            <a:ext cx="320040" cy="320040"/>
          </a:xfrm>
          <a:prstGeom prst="rect">
            <a:avLst/>
          </a:prstGeom>
        </p:spPr>
      </p:pic>
      <p:sp>
        <p:nvSpPr>
          <p:cNvPr id="17" name="Text 12"/>
          <p:cNvSpPr/>
          <p:nvPr/>
        </p:nvSpPr>
        <p:spPr>
          <a:xfrm>
            <a:off x="6172200" y="2103120"/>
            <a:ext cx="2377440" cy="256032"/>
          </a:xfrm>
          <a:prstGeom prst="rect">
            <a:avLst/>
          </a:prstGeom>
          <a:noFill/>
          <a:ln/>
        </p:spPr>
        <p:txBody>
          <a:bodyPr wrap="square" rtlCol="0" anchor="ctr"/>
          <a:lstStyle/>
          <a:p>
            <a:pPr marL="0" indent="0">
              <a:buNone/>
            </a:pPr>
            <a:r>
              <a:rPr lang="en-US" sz="1100" b="1" dirty="0">
                <a:solidFill>
                  <a:srgbClr val="22223B"/>
                </a:solidFill>
                <a:latin typeface="Calibri" pitchFamily="34" charset="0"/>
                <a:ea typeface="Calibri" pitchFamily="34" charset="-122"/>
                <a:cs typeface="Calibri" pitchFamily="34" charset="-120"/>
              </a:rPr>
              <a:t>Motivation</a:t>
            </a:r>
            <a:endParaRPr lang="en-US" sz="1100" dirty="0"/>
          </a:p>
        </p:txBody>
      </p:sp>
      <p:sp>
        <p:nvSpPr>
          <p:cNvPr id="18" name="Text 13"/>
          <p:cNvSpPr/>
          <p:nvPr/>
        </p:nvSpPr>
        <p:spPr>
          <a:xfrm>
            <a:off x="6172200" y="2340864"/>
            <a:ext cx="2377440" cy="320040"/>
          </a:xfrm>
          <a:prstGeom prst="rect">
            <a:avLst/>
          </a:prstGeom>
          <a:noFill/>
          <a:ln/>
        </p:spPr>
        <p:txBody>
          <a:bodyPr wrap="square" rtlCol="0" anchor="ctr"/>
          <a:lstStyle/>
          <a:p>
            <a:pPr marL="0" indent="0">
              <a:buNone/>
            </a:pPr>
            <a:r>
              <a:rPr lang="en-US" sz="830" dirty="0">
                <a:solidFill>
                  <a:srgbClr val="6B7280"/>
                </a:solidFill>
                <a:latin typeface="Calibri" pitchFamily="34" charset="0"/>
                <a:ea typeface="Calibri" pitchFamily="34" charset="-122"/>
                <a:cs typeface="Calibri" pitchFamily="34" charset="-120"/>
              </a:rPr>
              <a:t>Whether the product encourages continued, willing use</a:t>
            </a:r>
            <a:endParaRPr lang="en-US" sz="830" dirty="0"/>
          </a:p>
        </p:txBody>
      </p:sp>
      <p:sp>
        <p:nvSpPr>
          <p:cNvPr id="19" name="Shape 14"/>
          <p:cNvSpPr/>
          <p:nvPr/>
        </p:nvSpPr>
        <p:spPr>
          <a:xfrm>
            <a:off x="457200" y="2788920"/>
            <a:ext cx="2651760" cy="1188720"/>
          </a:xfrm>
          <a:prstGeom prst="rect">
            <a:avLst/>
          </a:prstGeom>
          <a:solidFill>
            <a:srgbClr val="F4F2FF"/>
          </a:solidFill>
          <a:ln/>
        </p:spPr>
      </p:sp>
      <p:sp>
        <p:nvSpPr>
          <p:cNvPr id="20" name="Shape 15"/>
          <p:cNvSpPr/>
          <p:nvPr/>
        </p:nvSpPr>
        <p:spPr>
          <a:xfrm>
            <a:off x="594360" y="2926080"/>
            <a:ext cx="457200" cy="457200"/>
          </a:xfrm>
          <a:prstGeom prst="ellipse">
            <a:avLst/>
          </a:prstGeom>
          <a:solidFill>
            <a:srgbClr val="FF6B57"/>
          </a:solidFill>
          <a:ln/>
        </p:spPr>
      </p:sp>
      <p:pic>
        <p:nvPicPr>
          <p:cNvPr id="21" name="Image 3" descr="preencoded.png"/>
          <p:cNvPicPr>
            <a:picLocks noChangeAspect="1"/>
          </p:cNvPicPr>
          <p:nvPr/>
        </p:nvPicPr>
        <p:blipFill>
          <a:blip r:embed="rId6"/>
          <a:stretch>
            <a:fillRect/>
          </a:stretch>
        </p:blipFill>
        <p:spPr>
          <a:xfrm>
            <a:off x="662940" y="2994660"/>
            <a:ext cx="320040" cy="320040"/>
          </a:xfrm>
          <a:prstGeom prst="rect">
            <a:avLst/>
          </a:prstGeom>
        </p:spPr>
      </p:pic>
      <p:sp>
        <p:nvSpPr>
          <p:cNvPr id="22" name="Text 16"/>
          <p:cNvSpPr/>
          <p:nvPr/>
        </p:nvSpPr>
        <p:spPr>
          <a:xfrm>
            <a:off x="594360" y="3429000"/>
            <a:ext cx="2377440" cy="256032"/>
          </a:xfrm>
          <a:prstGeom prst="rect">
            <a:avLst/>
          </a:prstGeom>
          <a:noFill/>
          <a:ln/>
        </p:spPr>
        <p:txBody>
          <a:bodyPr wrap="square" rtlCol="0" anchor="ctr"/>
          <a:lstStyle/>
          <a:p>
            <a:pPr marL="0" indent="0">
              <a:buNone/>
            </a:pPr>
            <a:r>
              <a:rPr lang="en-US" sz="1100" b="1" dirty="0">
                <a:solidFill>
                  <a:srgbClr val="22223B"/>
                </a:solidFill>
                <a:latin typeface="Calibri" pitchFamily="34" charset="0"/>
                <a:ea typeface="Calibri" pitchFamily="34" charset="-122"/>
                <a:cs typeface="Calibri" pitchFamily="34" charset="-120"/>
              </a:rPr>
              <a:t>Context of use</a:t>
            </a:r>
            <a:endParaRPr lang="en-US" sz="1100" dirty="0"/>
          </a:p>
        </p:txBody>
      </p:sp>
      <p:sp>
        <p:nvSpPr>
          <p:cNvPr id="23" name="Text 17"/>
          <p:cNvSpPr/>
          <p:nvPr/>
        </p:nvSpPr>
        <p:spPr>
          <a:xfrm>
            <a:off x="594360" y="3666744"/>
            <a:ext cx="2377440" cy="320040"/>
          </a:xfrm>
          <a:prstGeom prst="rect">
            <a:avLst/>
          </a:prstGeom>
          <a:noFill/>
          <a:ln/>
        </p:spPr>
        <p:txBody>
          <a:bodyPr wrap="square" rtlCol="0" anchor="ctr"/>
          <a:lstStyle/>
          <a:p>
            <a:pPr marL="0" indent="0">
              <a:buNone/>
            </a:pPr>
            <a:r>
              <a:rPr lang="en-US" sz="830" dirty="0">
                <a:solidFill>
                  <a:srgbClr val="6B7280"/>
                </a:solidFill>
                <a:latin typeface="Calibri" pitchFamily="34" charset="0"/>
                <a:ea typeface="Calibri" pitchFamily="34" charset="-122"/>
                <a:cs typeface="Calibri" pitchFamily="34" charset="-120"/>
              </a:rPr>
              <a:t>Physical setting, social situation, and available time</a:t>
            </a:r>
            <a:endParaRPr lang="en-US" sz="830" dirty="0"/>
          </a:p>
        </p:txBody>
      </p:sp>
      <p:sp>
        <p:nvSpPr>
          <p:cNvPr id="24" name="Shape 18"/>
          <p:cNvSpPr/>
          <p:nvPr/>
        </p:nvSpPr>
        <p:spPr>
          <a:xfrm>
            <a:off x="3246120" y="2788920"/>
            <a:ext cx="2651760" cy="1188720"/>
          </a:xfrm>
          <a:prstGeom prst="rect">
            <a:avLst/>
          </a:prstGeom>
          <a:solidFill>
            <a:srgbClr val="FFF1EE"/>
          </a:solidFill>
          <a:ln/>
        </p:spPr>
      </p:sp>
      <p:sp>
        <p:nvSpPr>
          <p:cNvPr id="25" name="Shape 19"/>
          <p:cNvSpPr/>
          <p:nvPr/>
        </p:nvSpPr>
        <p:spPr>
          <a:xfrm>
            <a:off x="3383280" y="2926080"/>
            <a:ext cx="457200" cy="457200"/>
          </a:xfrm>
          <a:prstGeom prst="ellipse">
            <a:avLst/>
          </a:prstGeom>
          <a:solidFill>
            <a:srgbClr val="FF6B57"/>
          </a:solidFill>
          <a:ln/>
        </p:spPr>
      </p:sp>
      <p:pic>
        <p:nvPicPr>
          <p:cNvPr id="26" name="Image 4" descr="preencoded.png"/>
          <p:cNvPicPr>
            <a:picLocks noChangeAspect="1"/>
          </p:cNvPicPr>
          <p:nvPr/>
        </p:nvPicPr>
        <p:blipFill>
          <a:blip r:embed="rId7"/>
          <a:stretch>
            <a:fillRect/>
          </a:stretch>
        </p:blipFill>
        <p:spPr>
          <a:xfrm>
            <a:off x="3451860" y="2994660"/>
            <a:ext cx="320040" cy="320040"/>
          </a:xfrm>
          <a:prstGeom prst="rect">
            <a:avLst/>
          </a:prstGeom>
        </p:spPr>
      </p:pic>
      <p:sp>
        <p:nvSpPr>
          <p:cNvPr id="27" name="Text 20"/>
          <p:cNvSpPr/>
          <p:nvPr/>
        </p:nvSpPr>
        <p:spPr>
          <a:xfrm>
            <a:off x="3383280" y="3429000"/>
            <a:ext cx="2377440" cy="256032"/>
          </a:xfrm>
          <a:prstGeom prst="rect">
            <a:avLst/>
          </a:prstGeom>
          <a:noFill/>
          <a:ln/>
        </p:spPr>
        <p:txBody>
          <a:bodyPr wrap="square" rtlCol="0" anchor="ctr"/>
          <a:lstStyle/>
          <a:p>
            <a:pPr marL="0" indent="0">
              <a:buNone/>
            </a:pPr>
            <a:r>
              <a:rPr lang="en-US" sz="1100" b="1" dirty="0">
                <a:solidFill>
                  <a:srgbClr val="22223B"/>
                </a:solidFill>
                <a:latin typeface="Calibri" pitchFamily="34" charset="0"/>
                <a:ea typeface="Calibri" pitchFamily="34" charset="-122"/>
                <a:cs typeface="Calibri" pitchFamily="34" charset="-120"/>
              </a:rPr>
              <a:t>Prior experience</a:t>
            </a:r>
            <a:endParaRPr lang="en-US" sz="1100" dirty="0"/>
          </a:p>
        </p:txBody>
      </p:sp>
      <p:sp>
        <p:nvSpPr>
          <p:cNvPr id="28" name="Text 21"/>
          <p:cNvSpPr/>
          <p:nvPr/>
        </p:nvSpPr>
        <p:spPr>
          <a:xfrm>
            <a:off x="3383280" y="3666744"/>
            <a:ext cx="2377440" cy="320040"/>
          </a:xfrm>
          <a:prstGeom prst="rect">
            <a:avLst/>
          </a:prstGeom>
          <a:noFill/>
          <a:ln/>
        </p:spPr>
        <p:txBody>
          <a:bodyPr wrap="square" rtlCol="0" anchor="ctr"/>
          <a:lstStyle/>
          <a:p>
            <a:pPr marL="0" indent="0">
              <a:buNone/>
            </a:pPr>
            <a:r>
              <a:rPr lang="en-US" sz="830" dirty="0">
                <a:solidFill>
                  <a:srgbClr val="6B7280"/>
                </a:solidFill>
                <a:latin typeface="Calibri" pitchFamily="34" charset="0"/>
                <a:ea typeface="Calibri" pitchFamily="34" charset="-122"/>
                <a:cs typeface="Calibri" pitchFamily="34" charset="-120"/>
              </a:rPr>
              <a:t>Expectations shaped by similar products used before</a:t>
            </a:r>
            <a:endParaRPr lang="en-US" sz="830" dirty="0"/>
          </a:p>
        </p:txBody>
      </p:sp>
      <p:sp>
        <p:nvSpPr>
          <p:cNvPr id="29" name="Shape 22"/>
          <p:cNvSpPr/>
          <p:nvPr/>
        </p:nvSpPr>
        <p:spPr>
          <a:xfrm>
            <a:off x="6035040" y="2788920"/>
            <a:ext cx="2651760" cy="1188720"/>
          </a:xfrm>
          <a:prstGeom prst="rect">
            <a:avLst/>
          </a:prstGeom>
          <a:solidFill>
            <a:srgbClr val="F4F2FF"/>
          </a:solidFill>
          <a:ln/>
        </p:spPr>
      </p:sp>
      <p:sp>
        <p:nvSpPr>
          <p:cNvPr id="30" name="Shape 23"/>
          <p:cNvSpPr/>
          <p:nvPr/>
        </p:nvSpPr>
        <p:spPr>
          <a:xfrm>
            <a:off x="6172200" y="2926080"/>
            <a:ext cx="457200" cy="457200"/>
          </a:xfrm>
          <a:prstGeom prst="ellipse">
            <a:avLst/>
          </a:prstGeom>
          <a:solidFill>
            <a:srgbClr val="FF6B57"/>
          </a:solidFill>
          <a:ln/>
        </p:spPr>
      </p:sp>
      <p:pic>
        <p:nvPicPr>
          <p:cNvPr id="31" name="Image 5" descr="preencoded.png"/>
          <p:cNvPicPr>
            <a:picLocks noChangeAspect="1"/>
          </p:cNvPicPr>
          <p:nvPr/>
        </p:nvPicPr>
        <p:blipFill>
          <a:blip r:embed="rId8"/>
          <a:stretch>
            <a:fillRect/>
          </a:stretch>
        </p:blipFill>
        <p:spPr>
          <a:xfrm>
            <a:off x="6240780" y="2994660"/>
            <a:ext cx="320040" cy="320040"/>
          </a:xfrm>
          <a:prstGeom prst="rect">
            <a:avLst/>
          </a:prstGeom>
        </p:spPr>
      </p:pic>
      <p:sp>
        <p:nvSpPr>
          <p:cNvPr id="32" name="Text 24"/>
          <p:cNvSpPr/>
          <p:nvPr/>
        </p:nvSpPr>
        <p:spPr>
          <a:xfrm>
            <a:off x="6172200" y="3429000"/>
            <a:ext cx="2377440" cy="256032"/>
          </a:xfrm>
          <a:prstGeom prst="rect">
            <a:avLst/>
          </a:prstGeom>
          <a:noFill/>
          <a:ln/>
        </p:spPr>
        <p:txBody>
          <a:bodyPr wrap="square" rtlCol="0" anchor="ctr"/>
          <a:lstStyle/>
          <a:p>
            <a:pPr marL="0" indent="0">
              <a:buNone/>
            </a:pPr>
            <a:r>
              <a:rPr lang="en-US" sz="1100" b="1" dirty="0">
                <a:solidFill>
                  <a:srgbClr val="22223B"/>
                </a:solidFill>
                <a:latin typeface="Calibri" pitchFamily="34" charset="0"/>
                <a:ea typeface="Calibri" pitchFamily="34" charset="-122"/>
                <a:cs typeface="Calibri" pitchFamily="34" charset="-120"/>
              </a:rPr>
              <a:t>Time pressure</a:t>
            </a:r>
            <a:endParaRPr lang="en-US" sz="1100" dirty="0"/>
          </a:p>
        </p:txBody>
      </p:sp>
      <p:sp>
        <p:nvSpPr>
          <p:cNvPr id="33" name="Text 25"/>
          <p:cNvSpPr/>
          <p:nvPr/>
        </p:nvSpPr>
        <p:spPr>
          <a:xfrm>
            <a:off x="6172200" y="3666744"/>
            <a:ext cx="2377440" cy="320040"/>
          </a:xfrm>
          <a:prstGeom prst="rect">
            <a:avLst/>
          </a:prstGeom>
          <a:noFill/>
          <a:ln/>
        </p:spPr>
        <p:txBody>
          <a:bodyPr wrap="square" rtlCol="0" anchor="ctr"/>
          <a:lstStyle/>
          <a:p>
            <a:pPr marL="0" indent="0">
              <a:buNone/>
            </a:pPr>
            <a:r>
              <a:rPr lang="en-US" sz="830" dirty="0">
                <a:solidFill>
                  <a:srgbClr val="6B7280"/>
                </a:solidFill>
                <a:latin typeface="Calibri" pitchFamily="34" charset="0"/>
                <a:ea typeface="Calibri" pitchFamily="34" charset="-122"/>
                <a:cs typeface="Calibri" pitchFamily="34" charset="-120"/>
              </a:rPr>
              <a:t>How rushed or relaxed the user is during the task</a:t>
            </a:r>
            <a:endParaRPr lang="en-US" sz="830" dirty="0"/>
          </a:p>
        </p:txBody>
      </p:sp>
      <p:sp>
        <p:nvSpPr>
          <p:cNvPr id="34" name="Text 26"/>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35" name="Text 27"/>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13 / 29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1.4 THE USER EXPERIENCE</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Desirable vs. Undesirable UX Qualities</a:t>
            </a:r>
            <a:endParaRPr lang="en-US" sz="2600" dirty="0"/>
          </a:p>
        </p:txBody>
      </p:sp>
      <p:sp>
        <p:nvSpPr>
          <p:cNvPr id="4" name="Text 2"/>
          <p:cNvSpPr/>
          <p:nvPr/>
        </p:nvSpPr>
        <p:spPr>
          <a:xfrm>
            <a:off x="457200" y="1188720"/>
            <a:ext cx="8229600" cy="274320"/>
          </a:xfrm>
          <a:prstGeom prst="rect">
            <a:avLst/>
          </a:prstGeom>
          <a:noFill/>
          <a:ln/>
        </p:spPr>
        <p:txBody>
          <a:bodyPr wrap="square"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When evaluating a design, it helps to name the quality you want it to have — or avoid:</a:t>
            </a:r>
            <a:endParaRPr lang="en-US" sz="1150" dirty="0"/>
          </a:p>
        </p:txBody>
      </p:sp>
      <p:sp>
        <p:nvSpPr>
          <p:cNvPr id="5" name="Shape 3"/>
          <p:cNvSpPr/>
          <p:nvPr/>
        </p:nvSpPr>
        <p:spPr>
          <a:xfrm>
            <a:off x="457200" y="1600200"/>
            <a:ext cx="4023360" cy="3063240"/>
          </a:xfrm>
          <a:prstGeom prst="rect">
            <a:avLst/>
          </a:prstGeom>
          <a:solidFill>
            <a:srgbClr val="E7F7F1"/>
          </a:solidFill>
          <a:ln/>
        </p:spPr>
      </p:sp>
      <p:sp>
        <p:nvSpPr>
          <p:cNvPr id="6" name="Text 4"/>
          <p:cNvSpPr/>
          <p:nvPr/>
        </p:nvSpPr>
        <p:spPr>
          <a:xfrm>
            <a:off x="685800" y="1737360"/>
            <a:ext cx="3657600" cy="320040"/>
          </a:xfrm>
          <a:prstGeom prst="rect">
            <a:avLst/>
          </a:prstGeom>
          <a:noFill/>
          <a:ln/>
        </p:spPr>
        <p:txBody>
          <a:bodyPr wrap="square" rtlCol="0" anchor="ctr"/>
          <a:lstStyle/>
          <a:p>
            <a:pPr marL="0" indent="0">
              <a:buNone/>
            </a:pPr>
            <a:r>
              <a:rPr lang="en-US" sz="1400" b="1" dirty="0">
                <a:solidFill>
                  <a:srgbClr val="1F9D74"/>
                </a:solidFill>
                <a:latin typeface="Calibri" pitchFamily="34" charset="0"/>
                <a:ea typeface="Calibri" pitchFamily="34" charset="-122"/>
                <a:cs typeface="Calibri" pitchFamily="34" charset="-120"/>
              </a:rPr>
              <a:t>Desirable</a:t>
            </a:r>
            <a:endParaRPr lang="en-US" sz="1400" dirty="0"/>
          </a:p>
        </p:txBody>
      </p:sp>
      <p:sp>
        <p:nvSpPr>
          <p:cNvPr id="7" name="Text 5"/>
          <p:cNvSpPr/>
          <p:nvPr/>
        </p:nvSpPr>
        <p:spPr>
          <a:xfrm>
            <a:off x="685800" y="2103120"/>
            <a:ext cx="3657600" cy="2468880"/>
          </a:xfrm>
          <a:prstGeom prst="rect">
            <a:avLst/>
          </a:prstGeom>
          <a:noFill/>
          <a:ln/>
        </p:spPr>
        <p:txBody>
          <a:bodyPr wrap="square" rtlCol="0" anchor="ctr"/>
          <a:lstStyle/>
          <a:p>
            <a:pPr marL="342900" indent="-342900">
              <a:spcAft>
                <a:spcPts val="400"/>
              </a:spcAft>
              <a:buSzPct val="100000"/>
              <a:buChar char="✓"/>
            </a:pPr>
            <a:r>
              <a:rPr lang="en-US" sz="1100" dirty="0">
                <a:solidFill>
                  <a:srgbClr val="22223B"/>
                </a:solidFill>
                <a:latin typeface="Calibri" pitchFamily="34" charset="0"/>
                <a:ea typeface="Calibri" pitchFamily="34" charset="-122"/>
                <a:cs typeface="Calibri" pitchFamily="34" charset="-120"/>
              </a:rPr>
              <a:t>Satisfying</a:t>
            </a:r>
            <a:endParaRPr lang="en-US" sz="1100" dirty="0"/>
          </a:p>
          <a:p>
            <a:pPr marL="342900" indent="-342900">
              <a:spcAft>
                <a:spcPts val="400"/>
              </a:spcAft>
              <a:buSzPct val="100000"/>
              <a:buChar char="✓"/>
            </a:pPr>
            <a:r>
              <a:rPr lang="en-US" sz="1100" dirty="0">
                <a:solidFill>
                  <a:srgbClr val="22223B"/>
                </a:solidFill>
                <a:latin typeface="Calibri" pitchFamily="34" charset="0"/>
                <a:ea typeface="Calibri" pitchFamily="34" charset="-122"/>
                <a:cs typeface="Calibri" pitchFamily="34" charset="-120"/>
              </a:rPr>
              <a:t>Enjoyable / fun</a:t>
            </a:r>
            <a:endParaRPr lang="en-US" sz="1100" dirty="0"/>
          </a:p>
          <a:p>
            <a:pPr marL="342900" indent="-342900">
              <a:spcAft>
                <a:spcPts val="400"/>
              </a:spcAft>
              <a:buSzPct val="100000"/>
              <a:buChar char="✓"/>
            </a:pPr>
            <a:r>
              <a:rPr lang="en-US" sz="1100" dirty="0">
                <a:solidFill>
                  <a:srgbClr val="22223B"/>
                </a:solidFill>
                <a:latin typeface="Calibri" pitchFamily="34" charset="0"/>
                <a:ea typeface="Calibri" pitchFamily="34" charset="-122"/>
                <a:cs typeface="Calibri" pitchFamily="34" charset="-120"/>
              </a:rPr>
              <a:t>Engaging</a:t>
            </a:r>
            <a:endParaRPr lang="en-US" sz="1100" dirty="0"/>
          </a:p>
          <a:p>
            <a:pPr marL="342900" indent="-342900">
              <a:spcAft>
                <a:spcPts val="400"/>
              </a:spcAft>
              <a:buSzPct val="100000"/>
              <a:buChar char="✓"/>
            </a:pPr>
            <a:r>
              <a:rPr lang="en-US" sz="1100" dirty="0">
                <a:solidFill>
                  <a:srgbClr val="22223B"/>
                </a:solidFill>
                <a:latin typeface="Calibri" pitchFamily="34" charset="0"/>
                <a:ea typeface="Calibri" pitchFamily="34" charset="-122"/>
                <a:cs typeface="Calibri" pitchFamily="34" charset="-120"/>
              </a:rPr>
              <a:t>Pleasurable</a:t>
            </a:r>
            <a:endParaRPr lang="en-US" sz="1100" dirty="0"/>
          </a:p>
          <a:p>
            <a:pPr marL="342900" indent="-342900">
              <a:spcAft>
                <a:spcPts val="400"/>
              </a:spcAft>
              <a:buSzPct val="100000"/>
              <a:buChar char="✓"/>
            </a:pPr>
            <a:r>
              <a:rPr lang="en-US" sz="1100" dirty="0">
                <a:solidFill>
                  <a:srgbClr val="22223B"/>
                </a:solidFill>
                <a:latin typeface="Calibri" pitchFamily="34" charset="0"/>
                <a:ea typeface="Calibri" pitchFamily="34" charset="-122"/>
                <a:cs typeface="Calibri" pitchFamily="34" charset="-120"/>
              </a:rPr>
              <a:t>Exciting</a:t>
            </a:r>
            <a:endParaRPr lang="en-US" sz="1100" dirty="0"/>
          </a:p>
          <a:p>
            <a:pPr marL="342900" indent="-342900">
              <a:spcAft>
                <a:spcPts val="400"/>
              </a:spcAft>
              <a:buSzPct val="100000"/>
              <a:buChar char="✓"/>
            </a:pPr>
            <a:r>
              <a:rPr lang="en-US" sz="1100" dirty="0">
                <a:solidFill>
                  <a:srgbClr val="22223B"/>
                </a:solidFill>
                <a:latin typeface="Calibri" pitchFamily="34" charset="0"/>
                <a:ea typeface="Calibri" pitchFamily="34" charset="-122"/>
                <a:cs typeface="Calibri" pitchFamily="34" charset="-120"/>
              </a:rPr>
              <a:t>Helpful</a:t>
            </a:r>
            <a:endParaRPr lang="en-US" sz="1100" dirty="0"/>
          </a:p>
          <a:p>
            <a:pPr marL="342900" indent="-342900">
              <a:spcAft>
                <a:spcPts val="400"/>
              </a:spcAft>
              <a:buSzPct val="100000"/>
              <a:buChar char="✓"/>
            </a:pPr>
            <a:r>
              <a:rPr lang="en-US" sz="1100" dirty="0">
                <a:solidFill>
                  <a:srgbClr val="22223B"/>
                </a:solidFill>
                <a:latin typeface="Calibri" pitchFamily="34" charset="0"/>
                <a:ea typeface="Calibri" pitchFamily="34" charset="-122"/>
                <a:cs typeface="Calibri" pitchFamily="34" charset="-120"/>
              </a:rPr>
              <a:t>Motivating</a:t>
            </a:r>
            <a:endParaRPr lang="en-US" sz="1100" dirty="0"/>
          </a:p>
          <a:p>
            <a:pPr marL="342900" indent="-342900">
              <a:spcAft>
                <a:spcPts val="400"/>
              </a:spcAft>
              <a:buSzPct val="100000"/>
              <a:buChar char="✓"/>
            </a:pPr>
            <a:r>
              <a:rPr lang="en-US" sz="1100" dirty="0">
                <a:solidFill>
                  <a:srgbClr val="22223B"/>
                </a:solidFill>
                <a:latin typeface="Calibri" pitchFamily="34" charset="0"/>
                <a:ea typeface="Calibri" pitchFamily="34" charset="-122"/>
                <a:cs typeface="Calibri" pitchFamily="34" charset="-120"/>
              </a:rPr>
              <a:t>Rewarding</a:t>
            </a:r>
            <a:endParaRPr lang="en-US" sz="1100" dirty="0"/>
          </a:p>
          <a:p>
            <a:pPr marL="342900" indent="-342900">
              <a:spcAft>
                <a:spcPts val="400"/>
              </a:spcAft>
              <a:buSzPct val="100000"/>
              <a:buChar char="✓"/>
            </a:pPr>
            <a:r>
              <a:rPr lang="en-US" sz="1100" dirty="0">
                <a:solidFill>
                  <a:srgbClr val="22223B"/>
                </a:solidFill>
                <a:latin typeface="Calibri" pitchFamily="34" charset="0"/>
                <a:ea typeface="Calibri" pitchFamily="34" charset="-122"/>
                <a:cs typeface="Calibri" pitchFamily="34" charset="-120"/>
              </a:rPr>
              <a:t>Emotionally fulfilling</a:t>
            </a:r>
            <a:endParaRPr lang="en-US" sz="1100" dirty="0"/>
          </a:p>
          <a:p>
            <a:pPr marL="342900" indent="-342900">
              <a:spcAft>
                <a:spcPts val="400"/>
              </a:spcAft>
              <a:buSzPct val="100000"/>
              <a:buChar char="✓"/>
            </a:pPr>
            <a:r>
              <a:rPr lang="en-US" sz="1100" dirty="0">
                <a:solidFill>
                  <a:srgbClr val="22223B"/>
                </a:solidFill>
                <a:latin typeface="Calibri" pitchFamily="34" charset="0"/>
                <a:ea typeface="Calibri" pitchFamily="34" charset="-122"/>
                <a:cs typeface="Calibri" pitchFamily="34" charset="-120"/>
              </a:rPr>
              <a:t>Supports creativity</a:t>
            </a:r>
            <a:endParaRPr lang="en-US" sz="1100" dirty="0"/>
          </a:p>
        </p:txBody>
      </p:sp>
      <p:sp>
        <p:nvSpPr>
          <p:cNvPr id="8" name="Shape 6"/>
          <p:cNvSpPr/>
          <p:nvPr/>
        </p:nvSpPr>
        <p:spPr>
          <a:xfrm>
            <a:off x="4663440" y="1600200"/>
            <a:ext cx="4023360" cy="3063240"/>
          </a:xfrm>
          <a:prstGeom prst="rect">
            <a:avLst/>
          </a:prstGeom>
          <a:solidFill>
            <a:srgbClr val="FFF1EE"/>
          </a:solidFill>
          <a:ln/>
        </p:spPr>
      </p:sp>
      <p:sp>
        <p:nvSpPr>
          <p:cNvPr id="9" name="Text 7"/>
          <p:cNvSpPr/>
          <p:nvPr/>
        </p:nvSpPr>
        <p:spPr>
          <a:xfrm>
            <a:off x="4892040" y="1737360"/>
            <a:ext cx="3657600" cy="320040"/>
          </a:xfrm>
          <a:prstGeom prst="rect">
            <a:avLst/>
          </a:prstGeom>
          <a:noFill/>
          <a:ln/>
        </p:spPr>
        <p:txBody>
          <a:bodyPr wrap="square" rtlCol="0" anchor="ctr"/>
          <a:lstStyle/>
          <a:p>
            <a:pPr marL="0" indent="0">
              <a:buNone/>
            </a:pPr>
            <a:r>
              <a:rPr lang="en-US" sz="1400" b="1" dirty="0">
                <a:solidFill>
                  <a:srgbClr val="FF6B57"/>
                </a:solidFill>
                <a:latin typeface="Calibri" pitchFamily="34" charset="0"/>
                <a:ea typeface="Calibri" pitchFamily="34" charset="-122"/>
                <a:cs typeface="Calibri" pitchFamily="34" charset="-120"/>
              </a:rPr>
              <a:t>Undesirable</a:t>
            </a:r>
            <a:endParaRPr lang="en-US" sz="1400" dirty="0"/>
          </a:p>
        </p:txBody>
      </p:sp>
      <p:sp>
        <p:nvSpPr>
          <p:cNvPr id="10" name="Text 8"/>
          <p:cNvSpPr/>
          <p:nvPr/>
        </p:nvSpPr>
        <p:spPr>
          <a:xfrm>
            <a:off x="4892040" y="2103120"/>
            <a:ext cx="3657600" cy="2468880"/>
          </a:xfrm>
          <a:prstGeom prst="rect">
            <a:avLst/>
          </a:prstGeom>
          <a:noFill/>
          <a:ln/>
        </p:spPr>
        <p:txBody>
          <a:bodyPr wrap="square" rtlCol="0" anchor="ctr"/>
          <a:lstStyle/>
          <a:p>
            <a:pPr marL="342900" indent="-342900">
              <a:spcAft>
                <a:spcPts val="400"/>
              </a:spcAft>
              <a:buSzPct val="100000"/>
              <a:buChar char="✗"/>
            </a:pPr>
            <a:r>
              <a:rPr lang="en-US" sz="1100" dirty="0">
                <a:solidFill>
                  <a:srgbClr val="22223B"/>
                </a:solidFill>
                <a:latin typeface="Calibri" pitchFamily="34" charset="0"/>
                <a:ea typeface="Calibri" pitchFamily="34" charset="-122"/>
                <a:cs typeface="Calibri" pitchFamily="34" charset="-120"/>
              </a:rPr>
              <a:t>Boring</a:t>
            </a:r>
            <a:endParaRPr lang="en-US" sz="1100" dirty="0"/>
          </a:p>
          <a:p>
            <a:pPr marL="342900" indent="-342900">
              <a:spcAft>
                <a:spcPts val="400"/>
              </a:spcAft>
              <a:buSzPct val="100000"/>
              <a:buChar char="✗"/>
            </a:pPr>
            <a:r>
              <a:rPr lang="en-US" sz="1100" dirty="0">
                <a:solidFill>
                  <a:srgbClr val="22223B"/>
                </a:solidFill>
                <a:latin typeface="Calibri" pitchFamily="34" charset="0"/>
                <a:ea typeface="Calibri" pitchFamily="34" charset="-122"/>
                <a:cs typeface="Calibri" pitchFamily="34" charset="-120"/>
              </a:rPr>
              <a:t>Frustrating</a:t>
            </a:r>
            <a:endParaRPr lang="en-US" sz="1100" dirty="0"/>
          </a:p>
          <a:p>
            <a:pPr marL="342900" indent="-342900">
              <a:spcAft>
                <a:spcPts val="400"/>
              </a:spcAft>
              <a:buSzPct val="100000"/>
              <a:buChar char="✗"/>
            </a:pPr>
            <a:r>
              <a:rPr lang="en-US" sz="1100" dirty="0">
                <a:solidFill>
                  <a:srgbClr val="22223B"/>
                </a:solidFill>
                <a:latin typeface="Calibri" pitchFamily="34" charset="0"/>
                <a:ea typeface="Calibri" pitchFamily="34" charset="-122"/>
                <a:cs typeface="Calibri" pitchFamily="34" charset="-120"/>
              </a:rPr>
              <a:t>Annoying</a:t>
            </a:r>
            <a:endParaRPr lang="en-US" sz="1100" dirty="0"/>
          </a:p>
          <a:p>
            <a:pPr marL="342900" indent="-342900">
              <a:spcAft>
                <a:spcPts val="400"/>
              </a:spcAft>
              <a:buSzPct val="100000"/>
              <a:buChar char="✗"/>
            </a:pPr>
            <a:r>
              <a:rPr lang="en-US" sz="1100" dirty="0">
                <a:solidFill>
                  <a:srgbClr val="22223B"/>
                </a:solidFill>
                <a:latin typeface="Calibri" pitchFamily="34" charset="0"/>
                <a:ea typeface="Calibri" pitchFamily="34" charset="-122"/>
                <a:cs typeface="Calibri" pitchFamily="34" charset="-120"/>
              </a:rPr>
              <a:t>Patronizing</a:t>
            </a:r>
            <a:endParaRPr lang="en-US" sz="1100" dirty="0"/>
          </a:p>
          <a:p>
            <a:pPr marL="342900" indent="-342900">
              <a:spcAft>
                <a:spcPts val="400"/>
              </a:spcAft>
              <a:buSzPct val="100000"/>
              <a:buChar char="✗"/>
            </a:pPr>
            <a:r>
              <a:rPr lang="en-US" sz="1100" dirty="0">
                <a:solidFill>
                  <a:srgbClr val="22223B"/>
                </a:solidFill>
                <a:latin typeface="Calibri" pitchFamily="34" charset="0"/>
                <a:ea typeface="Calibri" pitchFamily="34" charset="-122"/>
                <a:cs typeface="Calibri" pitchFamily="34" charset="-120"/>
              </a:rPr>
              <a:t>Making one feel guilty</a:t>
            </a:r>
            <a:endParaRPr lang="en-US" sz="1100" dirty="0"/>
          </a:p>
          <a:p>
            <a:pPr marL="342900" indent="-342900">
              <a:spcAft>
                <a:spcPts val="400"/>
              </a:spcAft>
              <a:buSzPct val="100000"/>
              <a:buChar char="✗"/>
            </a:pPr>
            <a:r>
              <a:rPr lang="en-US" sz="1100" dirty="0">
                <a:solidFill>
                  <a:srgbClr val="22223B"/>
                </a:solidFill>
                <a:latin typeface="Calibri" pitchFamily="34" charset="0"/>
                <a:ea typeface="Calibri" pitchFamily="34" charset="-122"/>
                <a:cs typeface="Calibri" pitchFamily="34" charset="-120"/>
              </a:rPr>
              <a:t>Making one feel stupid</a:t>
            </a:r>
            <a:endParaRPr lang="en-US" sz="1100" dirty="0"/>
          </a:p>
          <a:p>
            <a:pPr marL="342900" indent="-342900">
              <a:spcAft>
                <a:spcPts val="400"/>
              </a:spcAft>
              <a:buSzPct val="100000"/>
              <a:buChar char="✗"/>
            </a:pPr>
            <a:r>
              <a:rPr lang="en-US" sz="1100" dirty="0">
                <a:solidFill>
                  <a:srgbClr val="22223B"/>
                </a:solidFill>
                <a:latin typeface="Calibri" pitchFamily="34" charset="0"/>
                <a:ea typeface="Calibri" pitchFamily="34" charset="-122"/>
                <a:cs typeface="Calibri" pitchFamily="34" charset="-120"/>
              </a:rPr>
              <a:t>Cutesy / gimmicky</a:t>
            </a:r>
            <a:endParaRPr lang="en-US" sz="1100" dirty="0"/>
          </a:p>
          <a:p>
            <a:pPr marL="342900" indent="-342900">
              <a:spcAft>
                <a:spcPts val="400"/>
              </a:spcAft>
              <a:buSzPct val="100000"/>
              <a:buChar char="✗"/>
            </a:pPr>
            <a:r>
              <a:rPr lang="en-US" sz="1100" dirty="0">
                <a:solidFill>
                  <a:srgbClr val="22223B"/>
                </a:solidFill>
                <a:latin typeface="Calibri" pitchFamily="34" charset="0"/>
                <a:ea typeface="Calibri" pitchFamily="34" charset="-122"/>
                <a:cs typeface="Calibri" pitchFamily="34" charset="-120"/>
              </a:rPr>
              <a:t>Unpleasant</a:t>
            </a:r>
            <a:endParaRPr lang="en-US" sz="1100" dirty="0"/>
          </a:p>
          <a:p>
            <a:pPr marL="342900" indent="-342900">
              <a:spcAft>
                <a:spcPts val="400"/>
              </a:spcAft>
              <a:buSzPct val="100000"/>
              <a:buChar char="✗"/>
            </a:pPr>
            <a:r>
              <a:rPr lang="en-US" sz="1100" dirty="0">
                <a:solidFill>
                  <a:srgbClr val="22223B"/>
                </a:solidFill>
                <a:latin typeface="Calibri" pitchFamily="34" charset="0"/>
                <a:ea typeface="Calibri" pitchFamily="34" charset="-122"/>
                <a:cs typeface="Calibri" pitchFamily="34" charset="-120"/>
              </a:rPr>
              <a:t>Confusing</a:t>
            </a:r>
            <a:endParaRPr lang="en-US" sz="1100" dirty="0"/>
          </a:p>
          <a:p>
            <a:pPr marL="342900" indent="-342900">
              <a:spcAft>
                <a:spcPts val="400"/>
              </a:spcAft>
              <a:buSzPct val="100000"/>
              <a:buChar char="✗"/>
            </a:pPr>
            <a:r>
              <a:rPr lang="en-US" sz="1100" dirty="0">
                <a:solidFill>
                  <a:srgbClr val="22223B"/>
                </a:solidFill>
                <a:latin typeface="Calibri" pitchFamily="34" charset="0"/>
                <a:ea typeface="Calibri" pitchFamily="34" charset="-122"/>
                <a:cs typeface="Calibri" pitchFamily="34" charset="-120"/>
              </a:rPr>
              <a:t>Alienating</a:t>
            </a:r>
            <a:endParaRPr lang="en-US" sz="1100" dirty="0"/>
          </a:p>
        </p:txBody>
      </p:sp>
      <p:sp>
        <p:nvSpPr>
          <p:cNvPr id="11" name="Text 9"/>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12" name="Text 10"/>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14 / 29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1.5 UNDERSTANDING USERS</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Users Are Not All the Same</a:t>
            </a:r>
            <a:endParaRPr lang="en-US" sz="2600" dirty="0"/>
          </a:p>
        </p:txBody>
      </p:sp>
      <p:sp>
        <p:nvSpPr>
          <p:cNvPr id="4" name="Text 2"/>
          <p:cNvSpPr/>
          <p:nvPr/>
        </p:nvSpPr>
        <p:spPr>
          <a:xfrm>
            <a:off x="457200" y="1188720"/>
            <a:ext cx="8229600" cy="27432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Designing well requires recognizing how people differ along several dimensions:</a:t>
            </a:r>
            <a:endParaRPr lang="en-US" sz="1200" dirty="0"/>
          </a:p>
        </p:txBody>
      </p:sp>
      <p:sp>
        <p:nvSpPr>
          <p:cNvPr id="5" name="Shape 3"/>
          <p:cNvSpPr/>
          <p:nvPr/>
        </p:nvSpPr>
        <p:spPr>
          <a:xfrm>
            <a:off x="457200" y="1600200"/>
            <a:ext cx="3977640" cy="914400"/>
          </a:xfrm>
          <a:prstGeom prst="rect">
            <a:avLst/>
          </a:prstGeom>
          <a:solidFill>
            <a:srgbClr val="F4F2FF"/>
          </a:solidFill>
          <a:ln/>
        </p:spPr>
      </p:sp>
      <p:sp>
        <p:nvSpPr>
          <p:cNvPr id="6" name="Shape 4"/>
          <p:cNvSpPr/>
          <p:nvPr/>
        </p:nvSpPr>
        <p:spPr>
          <a:xfrm>
            <a:off x="594360" y="1783080"/>
            <a:ext cx="548640" cy="548640"/>
          </a:xfrm>
          <a:prstGeom prst="ellipse">
            <a:avLst/>
          </a:prstGeom>
          <a:solidFill>
            <a:srgbClr val="4C3BCF"/>
          </a:solidFill>
          <a:ln/>
        </p:spPr>
      </p:sp>
      <p:pic>
        <p:nvPicPr>
          <p:cNvPr id="7" name="Image 0" descr="preencoded.png"/>
          <p:cNvPicPr>
            <a:picLocks noChangeAspect="1"/>
          </p:cNvPicPr>
          <p:nvPr/>
        </p:nvPicPr>
        <p:blipFill>
          <a:blip r:embed="rId3"/>
          <a:stretch>
            <a:fillRect/>
          </a:stretch>
        </p:blipFill>
        <p:spPr>
          <a:xfrm>
            <a:off x="676656" y="1865376"/>
            <a:ext cx="384048" cy="384048"/>
          </a:xfrm>
          <a:prstGeom prst="rect">
            <a:avLst/>
          </a:prstGeom>
        </p:spPr>
      </p:pic>
      <p:sp>
        <p:nvSpPr>
          <p:cNvPr id="8" name="Text 5"/>
          <p:cNvSpPr/>
          <p:nvPr/>
        </p:nvSpPr>
        <p:spPr>
          <a:xfrm>
            <a:off x="1280160" y="1673352"/>
            <a:ext cx="3063240" cy="274320"/>
          </a:xfrm>
          <a:prstGeom prst="rect">
            <a:avLst/>
          </a:prstGeom>
          <a:noFill/>
          <a:ln/>
        </p:spPr>
        <p:txBody>
          <a:bodyPr wrap="square" rtlCol="0" anchor="ctr"/>
          <a:lstStyle/>
          <a:p>
            <a:pPr marL="0" indent="0">
              <a:buNone/>
            </a:pPr>
            <a:r>
              <a:rPr lang="en-US" sz="1180" b="1" dirty="0">
                <a:solidFill>
                  <a:srgbClr val="22223B"/>
                </a:solidFill>
                <a:latin typeface="Calibri" pitchFamily="34" charset="0"/>
                <a:ea typeface="Calibri" pitchFamily="34" charset="-122"/>
                <a:cs typeface="Calibri" pitchFamily="34" charset="-120"/>
              </a:rPr>
              <a:t>Physical &amp; sensory abilities</a:t>
            </a:r>
            <a:endParaRPr lang="en-US" sz="1180" dirty="0"/>
          </a:p>
        </p:txBody>
      </p:sp>
      <p:sp>
        <p:nvSpPr>
          <p:cNvPr id="9" name="Text 6"/>
          <p:cNvSpPr/>
          <p:nvPr/>
        </p:nvSpPr>
        <p:spPr>
          <a:xfrm>
            <a:off x="1280160" y="1947672"/>
            <a:ext cx="3063240" cy="502920"/>
          </a:xfrm>
          <a:prstGeom prst="rect">
            <a:avLst/>
          </a:prstGeom>
          <a:noFill/>
          <a:ln/>
        </p:spPr>
        <p:txBody>
          <a:bodyPr wrap="square" rtlCol="0" anchor="ctr"/>
          <a:lstStyle/>
          <a:p>
            <a:pPr marL="0" indent="0">
              <a:buNone/>
            </a:pPr>
            <a:r>
              <a:rPr lang="en-US" sz="930" dirty="0">
                <a:solidFill>
                  <a:srgbClr val="6B7280"/>
                </a:solidFill>
                <a:latin typeface="Calibri" pitchFamily="34" charset="0"/>
                <a:ea typeface="Calibri" pitchFamily="34" charset="-122"/>
                <a:cs typeface="Calibri" pitchFamily="34" charset="-120"/>
              </a:rPr>
              <a:t>Age, dexterity, vision, hearing, and motor control vary widely</a:t>
            </a:r>
            <a:endParaRPr lang="en-US" sz="930" dirty="0"/>
          </a:p>
        </p:txBody>
      </p:sp>
      <p:sp>
        <p:nvSpPr>
          <p:cNvPr id="10" name="Shape 7"/>
          <p:cNvSpPr/>
          <p:nvPr/>
        </p:nvSpPr>
        <p:spPr>
          <a:xfrm>
            <a:off x="4709160" y="1600200"/>
            <a:ext cx="3977640" cy="914400"/>
          </a:xfrm>
          <a:prstGeom prst="rect">
            <a:avLst/>
          </a:prstGeom>
          <a:solidFill>
            <a:srgbClr val="F4F2FF"/>
          </a:solidFill>
          <a:ln/>
        </p:spPr>
      </p:sp>
      <p:sp>
        <p:nvSpPr>
          <p:cNvPr id="11" name="Shape 8"/>
          <p:cNvSpPr/>
          <p:nvPr/>
        </p:nvSpPr>
        <p:spPr>
          <a:xfrm>
            <a:off x="4846320" y="1783080"/>
            <a:ext cx="548640" cy="548640"/>
          </a:xfrm>
          <a:prstGeom prst="ellipse">
            <a:avLst/>
          </a:prstGeom>
          <a:solidFill>
            <a:srgbClr val="4C3BCF"/>
          </a:solidFill>
          <a:ln/>
        </p:spPr>
      </p:sp>
      <p:pic>
        <p:nvPicPr>
          <p:cNvPr id="12" name="Image 1" descr="preencoded.png"/>
          <p:cNvPicPr>
            <a:picLocks noChangeAspect="1"/>
          </p:cNvPicPr>
          <p:nvPr/>
        </p:nvPicPr>
        <p:blipFill>
          <a:blip r:embed="rId4"/>
          <a:stretch>
            <a:fillRect/>
          </a:stretch>
        </p:blipFill>
        <p:spPr>
          <a:xfrm>
            <a:off x="4928616" y="1865376"/>
            <a:ext cx="384048" cy="384048"/>
          </a:xfrm>
          <a:prstGeom prst="rect">
            <a:avLst/>
          </a:prstGeom>
        </p:spPr>
      </p:pic>
      <p:sp>
        <p:nvSpPr>
          <p:cNvPr id="13" name="Text 9"/>
          <p:cNvSpPr/>
          <p:nvPr/>
        </p:nvSpPr>
        <p:spPr>
          <a:xfrm>
            <a:off x="5532120" y="1673352"/>
            <a:ext cx="3063240" cy="274320"/>
          </a:xfrm>
          <a:prstGeom prst="rect">
            <a:avLst/>
          </a:prstGeom>
          <a:noFill/>
          <a:ln/>
        </p:spPr>
        <p:txBody>
          <a:bodyPr wrap="square" rtlCol="0" anchor="ctr"/>
          <a:lstStyle/>
          <a:p>
            <a:pPr marL="0" indent="0">
              <a:buNone/>
            </a:pPr>
            <a:r>
              <a:rPr lang="en-US" sz="1180" b="1" dirty="0">
                <a:solidFill>
                  <a:srgbClr val="22223B"/>
                </a:solidFill>
                <a:latin typeface="Calibri" pitchFamily="34" charset="0"/>
                <a:ea typeface="Calibri" pitchFamily="34" charset="-122"/>
                <a:cs typeface="Calibri" pitchFamily="34" charset="-120"/>
              </a:rPr>
              <a:t>Cognitive characteristics</a:t>
            </a:r>
            <a:endParaRPr lang="en-US" sz="1180" dirty="0"/>
          </a:p>
        </p:txBody>
      </p:sp>
      <p:sp>
        <p:nvSpPr>
          <p:cNvPr id="14" name="Text 10"/>
          <p:cNvSpPr/>
          <p:nvPr/>
        </p:nvSpPr>
        <p:spPr>
          <a:xfrm>
            <a:off x="5532120" y="1947672"/>
            <a:ext cx="3063240" cy="502920"/>
          </a:xfrm>
          <a:prstGeom prst="rect">
            <a:avLst/>
          </a:prstGeom>
          <a:noFill/>
          <a:ln/>
        </p:spPr>
        <p:txBody>
          <a:bodyPr wrap="square" rtlCol="0" anchor="ctr"/>
          <a:lstStyle/>
          <a:p>
            <a:pPr marL="0" indent="0">
              <a:buNone/>
            </a:pPr>
            <a:r>
              <a:rPr lang="en-US" sz="930" dirty="0">
                <a:solidFill>
                  <a:srgbClr val="6B7280"/>
                </a:solidFill>
                <a:latin typeface="Calibri" pitchFamily="34" charset="0"/>
                <a:ea typeface="Calibri" pitchFamily="34" charset="-122"/>
                <a:cs typeface="Calibri" pitchFamily="34" charset="-120"/>
              </a:rPr>
              <a:t>Memory, attention, prior knowledge, and learning speed differ</a:t>
            </a:r>
            <a:endParaRPr lang="en-US" sz="930" dirty="0"/>
          </a:p>
        </p:txBody>
      </p:sp>
      <p:sp>
        <p:nvSpPr>
          <p:cNvPr id="15" name="Shape 11"/>
          <p:cNvSpPr/>
          <p:nvPr/>
        </p:nvSpPr>
        <p:spPr>
          <a:xfrm>
            <a:off x="457200" y="2651760"/>
            <a:ext cx="3977640" cy="914400"/>
          </a:xfrm>
          <a:prstGeom prst="rect">
            <a:avLst/>
          </a:prstGeom>
          <a:solidFill>
            <a:srgbClr val="F4F2FF"/>
          </a:solidFill>
          <a:ln/>
        </p:spPr>
      </p:sp>
      <p:sp>
        <p:nvSpPr>
          <p:cNvPr id="16" name="Shape 12"/>
          <p:cNvSpPr/>
          <p:nvPr/>
        </p:nvSpPr>
        <p:spPr>
          <a:xfrm>
            <a:off x="594360" y="2834640"/>
            <a:ext cx="548640" cy="548640"/>
          </a:xfrm>
          <a:prstGeom prst="ellipse">
            <a:avLst/>
          </a:prstGeom>
          <a:solidFill>
            <a:srgbClr val="4C3BCF"/>
          </a:solidFill>
          <a:ln/>
        </p:spPr>
      </p:sp>
      <p:pic>
        <p:nvPicPr>
          <p:cNvPr id="17" name="Image 2" descr="preencoded.png"/>
          <p:cNvPicPr>
            <a:picLocks noChangeAspect="1"/>
          </p:cNvPicPr>
          <p:nvPr/>
        </p:nvPicPr>
        <p:blipFill>
          <a:blip r:embed="rId5"/>
          <a:stretch>
            <a:fillRect/>
          </a:stretch>
        </p:blipFill>
        <p:spPr>
          <a:xfrm>
            <a:off x="676656" y="2916936"/>
            <a:ext cx="384048" cy="384048"/>
          </a:xfrm>
          <a:prstGeom prst="rect">
            <a:avLst/>
          </a:prstGeom>
        </p:spPr>
      </p:pic>
      <p:sp>
        <p:nvSpPr>
          <p:cNvPr id="18" name="Text 13"/>
          <p:cNvSpPr/>
          <p:nvPr/>
        </p:nvSpPr>
        <p:spPr>
          <a:xfrm>
            <a:off x="1280160" y="2724912"/>
            <a:ext cx="3063240" cy="274320"/>
          </a:xfrm>
          <a:prstGeom prst="rect">
            <a:avLst/>
          </a:prstGeom>
          <a:noFill/>
          <a:ln/>
        </p:spPr>
        <p:txBody>
          <a:bodyPr wrap="square" rtlCol="0" anchor="ctr"/>
          <a:lstStyle/>
          <a:p>
            <a:pPr marL="0" indent="0">
              <a:buNone/>
            </a:pPr>
            <a:r>
              <a:rPr lang="en-US" sz="1180" b="1" dirty="0">
                <a:solidFill>
                  <a:srgbClr val="22223B"/>
                </a:solidFill>
                <a:latin typeface="Calibri" pitchFamily="34" charset="0"/>
                <a:ea typeface="Calibri" pitchFamily="34" charset="-122"/>
                <a:cs typeface="Calibri" pitchFamily="34" charset="-120"/>
              </a:rPr>
              <a:t>Social &amp; cultural background</a:t>
            </a:r>
            <a:endParaRPr lang="en-US" sz="1180" dirty="0"/>
          </a:p>
        </p:txBody>
      </p:sp>
      <p:sp>
        <p:nvSpPr>
          <p:cNvPr id="19" name="Text 14"/>
          <p:cNvSpPr/>
          <p:nvPr/>
        </p:nvSpPr>
        <p:spPr>
          <a:xfrm>
            <a:off x="1280160" y="2999232"/>
            <a:ext cx="3063240" cy="502920"/>
          </a:xfrm>
          <a:prstGeom prst="rect">
            <a:avLst/>
          </a:prstGeom>
          <a:noFill/>
          <a:ln/>
        </p:spPr>
        <p:txBody>
          <a:bodyPr wrap="square" rtlCol="0" anchor="ctr"/>
          <a:lstStyle/>
          <a:p>
            <a:pPr marL="0" indent="0">
              <a:buNone/>
            </a:pPr>
            <a:r>
              <a:rPr lang="en-US" sz="930" dirty="0">
                <a:solidFill>
                  <a:srgbClr val="6B7280"/>
                </a:solidFill>
                <a:latin typeface="Calibri" pitchFamily="34" charset="0"/>
                <a:ea typeface="Calibri" pitchFamily="34" charset="-122"/>
                <a:cs typeface="Calibri" pitchFamily="34" charset="-120"/>
              </a:rPr>
              <a:t>Language, norms, and familiarity with technology shape expectations</a:t>
            </a:r>
            <a:endParaRPr lang="en-US" sz="930" dirty="0"/>
          </a:p>
        </p:txBody>
      </p:sp>
      <p:sp>
        <p:nvSpPr>
          <p:cNvPr id="20" name="Shape 15"/>
          <p:cNvSpPr/>
          <p:nvPr/>
        </p:nvSpPr>
        <p:spPr>
          <a:xfrm>
            <a:off x="4709160" y="2651760"/>
            <a:ext cx="3977640" cy="914400"/>
          </a:xfrm>
          <a:prstGeom prst="rect">
            <a:avLst/>
          </a:prstGeom>
          <a:solidFill>
            <a:srgbClr val="F4F2FF"/>
          </a:solidFill>
          <a:ln/>
        </p:spPr>
      </p:sp>
      <p:sp>
        <p:nvSpPr>
          <p:cNvPr id="21" name="Shape 16"/>
          <p:cNvSpPr/>
          <p:nvPr/>
        </p:nvSpPr>
        <p:spPr>
          <a:xfrm>
            <a:off x="4846320" y="2834640"/>
            <a:ext cx="548640" cy="548640"/>
          </a:xfrm>
          <a:prstGeom prst="ellipse">
            <a:avLst/>
          </a:prstGeom>
          <a:solidFill>
            <a:srgbClr val="4C3BCF"/>
          </a:solidFill>
          <a:ln/>
        </p:spPr>
      </p:sp>
      <p:pic>
        <p:nvPicPr>
          <p:cNvPr id="22" name="Image 3" descr="preencoded.png"/>
          <p:cNvPicPr>
            <a:picLocks noChangeAspect="1"/>
          </p:cNvPicPr>
          <p:nvPr/>
        </p:nvPicPr>
        <p:blipFill>
          <a:blip r:embed="rId6"/>
          <a:stretch>
            <a:fillRect/>
          </a:stretch>
        </p:blipFill>
        <p:spPr>
          <a:xfrm>
            <a:off x="4928616" y="2916936"/>
            <a:ext cx="384048" cy="384048"/>
          </a:xfrm>
          <a:prstGeom prst="rect">
            <a:avLst/>
          </a:prstGeom>
        </p:spPr>
      </p:pic>
      <p:sp>
        <p:nvSpPr>
          <p:cNvPr id="23" name="Text 17"/>
          <p:cNvSpPr/>
          <p:nvPr/>
        </p:nvSpPr>
        <p:spPr>
          <a:xfrm>
            <a:off x="5532120" y="2724912"/>
            <a:ext cx="3063240" cy="274320"/>
          </a:xfrm>
          <a:prstGeom prst="rect">
            <a:avLst/>
          </a:prstGeom>
          <a:noFill/>
          <a:ln/>
        </p:spPr>
        <p:txBody>
          <a:bodyPr wrap="square" rtlCol="0" anchor="ctr"/>
          <a:lstStyle/>
          <a:p>
            <a:pPr marL="0" indent="0">
              <a:buNone/>
            </a:pPr>
            <a:r>
              <a:rPr lang="en-US" sz="1180" b="1" dirty="0">
                <a:solidFill>
                  <a:srgbClr val="22223B"/>
                </a:solidFill>
                <a:latin typeface="Calibri" pitchFamily="34" charset="0"/>
                <a:ea typeface="Calibri" pitchFamily="34" charset="-122"/>
                <a:cs typeface="Calibri" pitchFamily="34" charset="-120"/>
              </a:rPr>
              <a:t>Role &amp; expertise</a:t>
            </a:r>
            <a:endParaRPr lang="en-US" sz="1180" dirty="0"/>
          </a:p>
        </p:txBody>
      </p:sp>
      <p:sp>
        <p:nvSpPr>
          <p:cNvPr id="24" name="Text 18"/>
          <p:cNvSpPr/>
          <p:nvPr/>
        </p:nvSpPr>
        <p:spPr>
          <a:xfrm>
            <a:off x="5532120" y="2999232"/>
            <a:ext cx="3063240" cy="502920"/>
          </a:xfrm>
          <a:prstGeom prst="rect">
            <a:avLst/>
          </a:prstGeom>
          <a:noFill/>
          <a:ln/>
        </p:spPr>
        <p:txBody>
          <a:bodyPr wrap="square" rtlCol="0" anchor="ctr"/>
          <a:lstStyle/>
          <a:p>
            <a:pPr marL="0" indent="0">
              <a:buNone/>
            </a:pPr>
            <a:r>
              <a:rPr lang="en-US" sz="930" dirty="0">
                <a:solidFill>
                  <a:srgbClr val="6B7280"/>
                </a:solidFill>
                <a:latin typeface="Calibri" pitchFamily="34" charset="0"/>
                <a:ea typeface="Calibri" pitchFamily="34" charset="-122"/>
                <a:cs typeface="Calibri" pitchFamily="34" charset="-120"/>
              </a:rPr>
              <a:t>A novice, an occasional user, and an expert need different support</a:t>
            </a:r>
            <a:endParaRPr lang="en-US" sz="930" dirty="0"/>
          </a:p>
        </p:txBody>
      </p:sp>
      <p:sp>
        <p:nvSpPr>
          <p:cNvPr id="25" name="Text 19"/>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26" name="Text 20"/>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15 / 29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1.5 UNDERSTANDING USERS</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Designing for Real People: Personas</a:t>
            </a:r>
            <a:endParaRPr lang="en-US" sz="2600" dirty="0"/>
          </a:p>
        </p:txBody>
      </p:sp>
      <p:sp>
        <p:nvSpPr>
          <p:cNvPr id="4" name="Shape 2"/>
          <p:cNvSpPr/>
          <p:nvPr/>
        </p:nvSpPr>
        <p:spPr>
          <a:xfrm>
            <a:off x="457200" y="1371600"/>
            <a:ext cx="4023360" cy="3200400"/>
          </a:xfrm>
          <a:prstGeom prst="rect">
            <a:avLst/>
          </a:prstGeom>
          <a:solidFill>
            <a:srgbClr val="F4F2FF"/>
          </a:solidFill>
          <a:ln/>
          <a:effectLst>
            <a:outerShdw blurRad="101600" dist="38100" dir="2700000" algn="bl" rotWithShape="0">
              <a:srgbClr val="000000">
                <a:alpha val="12000"/>
              </a:srgbClr>
            </a:outerShdw>
          </a:effectLst>
        </p:spPr>
      </p:sp>
      <p:sp>
        <p:nvSpPr>
          <p:cNvPr id="5" name="Shape 3"/>
          <p:cNvSpPr/>
          <p:nvPr/>
        </p:nvSpPr>
        <p:spPr>
          <a:xfrm>
            <a:off x="731520" y="1645920"/>
            <a:ext cx="594360" cy="594360"/>
          </a:xfrm>
          <a:prstGeom prst="ellipse">
            <a:avLst/>
          </a:prstGeom>
          <a:solidFill>
            <a:srgbClr val="4C3BCF"/>
          </a:solidFill>
          <a:ln/>
        </p:spPr>
      </p:sp>
      <p:pic>
        <p:nvPicPr>
          <p:cNvPr id="6" name="Image 0" descr="preencoded.png"/>
          <p:cNvPicPr>
            <a:picLocks noChangeAspect="1"/>
          </p:cNvPicPr>
          <p:nvPr/>
        </p:nvPicPr>
        <p:blipFill>
          <a:blip r:embed="rId3"/>
          <a:stretch>
            <a:fillRect/>
          </a:stretch>
        </p:blipFill>
        <p:spPr>
          <a:xfrm>
            <a:off x="820674" y="1735074"/>
            <a:ext cx="416052" cy="416052"/>
          </a:xfrm>
          <a:prstGeom prst="rect">
            <a:avLst/>
          </a:prstGeom>
        </p:spPr>
      </p:pic>
      <p:sp>
        <p:nvSpPr>
          <p:cNvPr id="7" name="Text 4"/>
          <p:cNvSpPr/>
          <p:nvPr/>
        </p:nvSpPr>
        <p:spPr>
          <a:xfrm>
            <a:off x="1463040" y="1737360"/>
            <a:ext cx="2880360" cy="457200"/>
          </a:xfrm>
          <a:prstGeom prst="rect">
            <a:avLst/>
          </a:prstGeom>
          <a:noFill/>
          <a:ln/>
        </p:spPr>
        <p:txBody>
          <a:bodyPr wrap="square" rtlCol="0" anchor="ctr"/>
          <a:lstStyle/>
          <a:p>
            <a:pPr marL="0" indent="0">
              <a:buNone/>
            </a:pPr>
            <a:r>
              <a:rPr lang="en-US" sz="1350" b="1" dirty="0">
                <a:solidFill>
                  <a:srgbClr val="342B81"/>
                </a:solidFill>
                <a:latin typeface="Calibri" pitchFamily="34" charset="0"/>
                <a:ea typeface="Calibri" pitchFamily="34" charset="-122"/>
                <a:cs typeface="Calibri" pitchFamily="34" charset="-120"/>
              </a:rPr>
              <a:t>What Is a Persona?</a:t>
            </a:r>
            <a:endParaRPr lang="en-US" sz="1350" dirty="0"/>
          </a:p>
        </p:txBody>
      </p:sp>
      <p:sp>
        <p:nvSpPr>
          <p:cNvPr id="8" name="Text 5"/>
          <p:cNvSpPr/>
          <p:nvPr/>
        </p:nvSpPr>
        <p:spPr>
          <a:xfrm>
            <a:off x="731520" y="2331720"/>
            <a:ext cx="3520440" cy="777240"/>
          </a:xfrm>
          <a:prstGeom prst="rect">
            <a:avLst/>
          </a:prstGeom>
          <a:noFill/>
          <a:ln/>
        </p:spPr>
        <p:txBody>
          <a:bodyPr wrap="square" rtlCol="0" anchor="ctr"/>
          <a:lstStyle/>
          <a:p>
            <a:pPr marL="0" indent="0">
              <a:buNone/>
            </a:pPr>
            <a:r>
              <a:rPr lang="en-US" sz="1150" dirty="0">
                <a:solidFill>
                  <a:srgbClr val="22223B"/>
                </a:solidFill>
                <a:latin typeface="Calibri" pitchFamily="34" charset="0"/>
                <a:ea typeface="Calibri" pitchFamily="34" charset="-122"/>
                <a:cs typeface="Calibri" pitchFamily="34" charset="-120"/>
              </a:rPr>
              <a:t>A fictional but realistic profile representing a key group of users, built from real research data — not guesswork.</a:t>
            </a:r>
            <a:endParaRPr lang="en-US" sz="1150" dirty="0"/>
          </a:p>
        </p:txBody>
      </p:sp>
      <p:sp>
        <p:nvSpPr>
          <p:cNvPr id="9" name="Text 6"/>
          <p:cNvSpPr/>
          <p:nvPr/>
        </p:nvSpPr>
        <p:spPr>
          <a:xfrm>
            <a:off x="731520" y="3154680"/>
            <a:ext cx="3520440" cy="1280160"/>
          </a:xfrm>
          <a:prstGeom prst="rect">
            <a:avLst/>
          </a:prstGeom>
          <a:noFill/>
          <a:ln/>
        </p:spPr>
        <p:txBody>
          <a:bodyPr wrap="square" rtlCol="0" anchor="ctr"/>
          <a:lstStyle/>
          <a:p>
            <a:pPr marL="342900" indent="-342900">
              <a:spcAft>
                <a:spcPts val="600"/>
              </a:spcAft>
              <a:buSzPct val="100000"/>
              <a:buChar char="●"/>
            </a:pPr>
            <a:r>
              <a:rPr lang="en-US" sz="1100" dirty="0">
                <a:solidFill>
                  <a:srgbClr val="22223B"/>
                </a:solidFill>
                <a:latin typeface="Calibri" pitchFamily="34" charset="0"/>
                <a:ea typeface="Calibri" pitchFamily="34" charset="-122"/>
                <a:cs typeface="Calibri" pitchFamily="34" charset="-120"/>
              </a:rPr>
              <a:t>Name, goals, and frustrations</a:t>
            </a:r>
            <a:endParaRPr lang="en-US" sz="1100" dirty="0"/>
          </a:p>
          <a:p>
            <a:pPr marL="342900" indent="-342900">
              <a:spcAft>
                <a:spcPts val="600"/>
              </a:spcAft>
              <a:buSzPct val="100000"/>
              <a:buChar char="●"/>
            </a:pPr>
            <a:r>
              <a:rPr lang="en-US" sz="1100" dirty="0">
                <a:solidFill>
                  <a:srgbClr val="22223B"/>
                </a:solidFill>
                <a:latin typeface="Calibri" pitchFamily="34" charset="0"/>
                <a:ea typeface="Calibri" pitchFamily="34" charset="-122"/>
                <a:cs typeface="Calibri" pitchFamily="34" charset="-120"/>
              </a:rPr>
              <a:t>Typical tasks and context of use</a:t>
            </a:r>
            <a:endParaRPr lang="en-US" sz="1100" dirty="0"/>
          </a:p>
          <a:p>
            <a:pPr marL="342900" indent="-342900">
              <a:spcAft>
                <a:spcPts val="600"/>
              </a:spcAft>
              <a:buSzPct val="100000"/>
              <a:buChar char="●"/>
            </a:pPr>
            <a:r>
              <a:rPr lang="en-US" sz="1100" dirty="0">
                <a:solidFill>
                  <a:srgbClr val="22223B"/>
                </a:solidFill>
                <a:latin typeface="Calibri" pitchFamily="34" charset="0"/>
                <a:ea typeface="Calibri" pitchFamily="34" charset="-122"/>
                <a:cs typeface="Calibri" pitchFamily="34" charset="-120"/>
              </a:rPr>
              <a:t>Level of experience with technology</a:t>
            </a:r>
            <a:endParaRPr lang="en-US" sz="1100" dirty="0"/>
          </a:p>
        </p:txBody>
      </p:sp>
      <p:sp>
        <p:nvSpPr>
          <p:cNvPr id="10" name="Shape 7"/>
          <p:cNvSpPr/>
          <p:nvPr/>
        </p:nvSpPr>
        <p:spPr>
          <a:xfrm>
            <a:off x="4663440" y="1371600"/>
            <a:ext cx="4023360" cy="3200400"/>
          </a:xfrm>
          <a:prstGeom prst="rect">
            <a:avLst/>
          </a:prstGeom>
          <a:solidFill>
            <a:srgbClr val="EFEBFF"/>
          </a:solidFill>
          <a:ln/>
          <a:effectLst>
            <a:outerShdw blurRad="101600" dist="38100" dir="2700000" algn="bl" rotWithShape="0">
              <a:srgbClr val="000000">
                <a:alpha val="12000"/>
              </a:srgbClr>
            </a:outerShdw>
          </a:effectLst>
        </p:spPr>
      </p:sp>
      <p:sp>
        <p:nvSpPr>
          <p:cNvPr id="11" name="Shape 8"/>
          <p:cNvSpPr/>
          <p:nvPr/>
        </p:nvSpPr>
        <p:spPr>
          <a:xfrm>
            <a:off x="4937760" y="1645920"/>
            <a:ext cx="594360" cy="594360"/>
          </a:xfrm>
          <a:prstGeom prst="ellipse">
            <a:avLst/>
          </a:prstGeom>
          <a:solidFill>
            <a:srgbClr val="FF6B57"/>
          </a:solidFill>
          <a:ln/>
        </p:spPr>
      </p:sp>
      <p:pic>
        <p:nvPicPr>
          <p:cNvPr id="12" name="Image 1" descr="preencoded.png"/>
          <p:cNvPicPr>
            <a:picLocks noChangeAspect="1"/>
          </p:cNvPicPr>
          <p:nvPr/>
        </p:nvPicPr>
        <p:blipFill>
          <a:blip r:embed="rId4"/>
          <a:stretch>
            <a:fillRect/>
          </a:stretch>
        </p:blipFill>
        <p:spPr>
          <a:xfrm>
            <a:off x="5026914" y="1735074"/>
            <a:ext cx="416052" cy="416052"/>
          </a:xfrm>
          <a:prstGeom prst="rect">
            <a:avLst/>
          </a:prstGeom>
        </p:spPr>
      </p:pic>
      <p:sp>
        <p:nvSpPr>
          <p:cNvPr id="13" name="Text 9"/>
          <p:cNvSpPr/>
          <p:nvPr/>
        </p:nvSpPr>
        <p:spPr>
          <a:xfrm>
            <a:off x="5669280" y="1737360"/>
            <a:ext cx="2880360" cy="457200"/>
          </a:xfrm>
          <a:prstGeom prst="rect">
            <a:avLst/>
          </a:prstGeom>
          <a:noFill/>
          <a:ln/>
        </p:spPr>
        <p:txBody>
          <a:bodyPr wrap="square" rtlCol="0" anchor="ctr"/>
          <a:lstStyle/>
          <a:p>
            <a:pPr marL="0" indent="0">
              <a:buNone/>
            </a:pPr>
            <a:r>
              <a:rPr lang="en-US" sz="1350" b="1" dirty="0">
                <a:solidFill>
                  <a:srgbClr val="FF6B57"/>
                </a:solidFill>
                <a:latin typeface="Calibri" pitchFamily="34" charset="0"/>
                <a:ea typeface="Calibri" pitchFamily="34" charset="-122"/>
                <a:cs typeface="Calibri" pitchFamily="34" charset="-120"/>
              </a:rPr>
              <a:t>Why Personas Help</a:t>
            </a:r>
            <a:endParaRPr lang="en-US" sz="1350" dirty="0"/>
          </a:p>
        </p:txBody>
      </p:sp>
      <p:sp>
        <p:nvSpPr>
          <p:cNvPr id="14" name="Text 10"/>
          <p:cNvSpPr/>
          <p:nvPr/>
        </p:nvSpPr>
        <p:spPr>
          <a:xfrm>
            <a:off x="4937760" y="2331720"/>
            <a:ext cx="3520440" cy="2103120"/>
          </a:xfrm>
          <a:prstGeom prst="rect">
            <a:avLst/>
          </a:prstGeom>
          <a:noFill/>
          <a:ln/>
        </p:spPr>
        <p:txBody>
          <a:bodyPr wrap="square" rtlCol="0" anchor="ctr"/>
          <a:lstStyle/>
          <a:p>
            <a:pPr marL="342900" indent="-342900">
              <a:spcAft>
                <a:spcPts val="800"/>
              </a:spcAft>
              <a:buSzPct val="100000"/>
              <a:buChar char="●"/>
            </a:pPr>
            <a:r>
              <a:rPr lang="en-US" sz="1150" dirty="0">
                <a:solidFill>
                  <a:srgbClr val="22223B"/>
                </a:solidFill>
                <a:latin typeface="Calibri" pitchFamily="34" charset="0"/>
                <a:ea typeface="Calibri" pitchFamily="34" charset="-122"/>
                <a:cs typeface="Calibri" pitchFamily="34" charset="-120"/>
              </a:rPr>
              <a:t>Keep the whole team focused on real needs, not personal preference</a:t>
            </a:r>
            <a:endParaRPr lang="en-US" sz="1150" dirty="0"/>
          </a:p>
          <a:p>
            <a:pPr marL="342900" indent="-342900">
              <a:spcAft>
                <a:spcPts val="800"/>
              </a:spcAft>
              <a:buSzPct val="100000"/>
              <a:buChar char="●"/>
            </a:pPr>
            <a:r>
              <a:rPr lang="en-US" sz="1150" dirty="0">
                <a:solidFill>
                  <a:srgbClr val="22223B"/>
                </a:solidFill>
                <a:latin typeface="Calibri" pitchFamily="34" charset="0"/>
                <a:ea typeface="Calibri" pitchFamily="34" charset="-122"/>
                <a:cs typeface="Calibri" pitchFamily="34" charset="-120"/>
              </a:rPr>
              <a:t>Prevent designing only for “users like me”</a:t>
            </a:r>
            <a:endParaRPr lang="en-US" sz="1150" dirty="0"/>
          </a:p>
          <a:p>
            <a:pPr marL="342900" indent="-342900">
              <a:spcAft>
                <a:spcPts val="800"/>
              </a:spcAft>
              <a:buSzPct val="100000"/>
              <a:buChar char="●"/>
            </a:pPr>
            <a:r>
              <a:rPr lang="en-US" sz="1150" dirty="0">
                <a:solidFill>
                  <a:srgbClr val="22223B"/>
                </a:solidFill>
                <a:latin typeface="Calibri" pitchFamily="34" charset="0"/>
                <a:ea typeface="Calibri" pitchFamily="34" charset="-122"/>
                <a:cs typeface="Calibri" pitchFamily="34" charset="-120"/>
              </a:rPr>
              <a:t>Provide a shared reference point during design debates</a:t>
            </a:r>
            <a:endParaRPr lang="en-US" sz="1150" dirty="0"/>
          </a:p>
        </p:txBody>
      </p:sp>
      <p:sp>
        <p:nvSpPr>
          <p:cNvPr id="15" name="Text 11"/>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16" name="Text 12"/>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16 / 29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1.6 ACCESSIBILITY AND INCLUSIVENESS</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Accessibility</a:t>
            </a:r>
            <a:endParaRPr lang="en-US" sz="2600" dirty="0"/>
          </a:p>
        </p:txBody>
      </p:sp>
      <p:sp>
        <p:nvSpPr>
          <p:cNvPr id="4" name="Shape 2"/>
          <p:cNvSpPr/>
          <p:nvPr/>
        </p:nvSpPr>
        <p:spPr>
          <a:xfrm>
            <a:off x="457200" y="1371600"/>
            <a:ext cx="8229600" cy="1005840"/>
          </a:xfrm>
          <a:prstGeom prst="rect">
            <a:avLst/>
          </a:prstGeom>
          <a:solidFill>
            <a:srgbClr val="F4F2FF"/>
          </a:solidFill>
          <a:ln/>
          <a:effectLst>
            <a:outerShdw blurRad="101600" dist="38100" dir="2700000" algn="bl" rotWithShape="0">
              <a:srgbClr val="000000">
                <a:alpha val="12000"/>
              </a:srgbClr>
            </a:outerShdw>
          </a:effectLst>
        </p:spPr>
      </p:sp>
      <p:sp>
        <p:nvSpPr>
          <p:cNvPr id="5" name="Shape 3"/>
          <p:cNvSpPr/>
          <p:nvPr/>
        </p:nvSpPr>
        <p:spPr>
          <a:xfrm>
            <a:off x="685800" y="1536192"/>
            <a:ext cx="685800" cy="685800"/>
          </a:xfrm>
          <a:prstGeom prst="ellipse">
            <a:avLst/>
          </a:prstGeom>
          <a:solidFill>
            <a:srgbClr val="4C3BCF"/>
          </a:solidFill>
          <a:ln/>
        </p:spPr>
      </p:sp>
      <p:pic>
        <p:nvPicPr>
          <p:cNvPr id="6" name="Image 0" descr="preencoded.png"/>
          <p:cNvPicPr>
            <a:picLocks noChangeAspect="1"/>
          </p:cNvPicPr>
          <p:nvPr/>
        </p:nvPicPr>
        <p:blipFill>
          <a:blip r:embed="rId3"/>
          <a:stretch>
            <a:fillRect/>
          </a:stretch>
        </p:blipFill>
        <p:spPr>
          <a:xfrm>
            <a:off x="788670" y="1639062"/>
            <a:ext cx="480060" cy="480060"/>
          </a:xfrm>
          <a:prstGeom prst="rect">
            <a:avLst/>
          </a:prstGeom>
        </p:spPr>
      </p:pic>
      <p:sp>
        <p:nvSpPr>
          <p:cNvPr id="7" name="Text 4"/>
          <p:cNvSpPr/>
          <p:nvPr/>
        </p:nvSpPr>
        <p:spPr>
          <a:xfrm>
            <a:off x="1554480" y="1481328"/>
            <a:ext cx="6949440" cy="868680"/>
          </a:xfrm>
          <a:prstGeom prst="rect">
            <a:avLst/>
          </a:prstGeom>
          <a:noFill/>
          <a:ln/>
        </p:spPr>
        <p:txBody>
          <a:bodyPr wrap="square" rtlCol="0" anchor="ctr"/>
          <a:lstStyle/>
          <a:p>
            <a:pPr marL="0" indent="0">
              <a:buNone/>
            </a:pPr>
            <a:r>
              <a:rPr lang="en-US" sz="1350" dirty="0">
                <a:solidFill>
                  <a:srgbClr val="342B81"/>
                </a:solidFill>
                <a:latin typeface="Calibri" pitchFamily="34" charset="0"/>
                <a:ea typeface="Calibri" pitchFamily="34" charset="-122"/>
                <a:cs typeface="Calibri" pitchFamily="34" charset="-120"/>
              </a:rPr>
              <a:t>The extent to which a product can be used by people with disabilities — visual, auditory, motor, speech, or cognitive.</a:t>
            </a:r>
            <a:endParaRPr lang="en-US" sz="1350" dirty="0"/>
          </a:p>
        </p:txBody>
      </p:sp>
      <p:sp>
        <p:nvSpPr>
          <p:cNvPr id="8" name="Shape 5"/>
          <p:cNvSpPr/>
          <p:nvPr/>
        </p:nvSpPr>
        <p:spPr>
          <a:xfrm>
            <a:off x="1188720" y="2606040"/>
            <a:ext cx="502920" cy="502920"/>
          </a:xfrm>
          <a:prstGeom prst="ellipse">
            <a:avLst/>
          </a:prstGeom>
          <a:solidFill>
            <a:srgbClr val="FF6B57"/>
          </a:solidFill>
          <a:ln/>
        </p:spPr>
      </p:sp>
      <p:pic>
        <p:nvPicPr>
          <p:cNvPr id="9" name="Image 1" descr="preencoded.png"/>
          <p:cNvPicPr>
            <a:picLocks noChangeAspect="1"/>
          </p:cNvPicPr>
          <p:nvPr/>
        </p:nvPicPr>
        <p:blipFill>
          <a:blip r:embed="rId4"/>
          <a:stretch>
            <a:fillRect/>
          </a:stretch>
        </p:blipFill>
        <p:spPr>
          <a:xfrm>
            <a:off x="1264158" y="2681478"/>
            <a:ext cx="352044" cy="352044"/>
          </a:xfrm>
          <a:prstGeom prst="rect">
            <a:avLst/>
          </a:prstGeom>
        </p:spPr>
      </p:pic>
      <p:sp>
        <p:nvSpPr>
          <p:cNvPr id="10" name="Text 6"/>
          <p:cNvSpPr/>
          <p:nvPr/>
        </p:nvSpPr>
        <p:spPr>
          <a:xfrm>
            <a:off x="457200" y="3200400"/>
            <a:ext cx="1965960" cy="274320"/>
          </a:xfrm>
          <a:prstGeom prst="rect">
            <a:avLst/>
          </a:prstGeom>
          <a:noFill/>
          <a:ln/>
        </p:spPr>
        <p:txBody>
          <a:bodyPr wrap="square" rtlCol="0" anchor="ctr"/>
          <a:lstStyle/>
          <a:p>
            <a:pPr marL="0" indent="0" algn="ctr">
              <a:buNone/>
            </a:pPr>
            <a:r>
              <a:rPr lang="en-US" sz="1150" b="1" dirty="0">
                <a:solidFill>
                  <a:srgbClr val="22223B"/>
                </a:solidFill>
                <a:latin typeface="Calibri" pitchFamily="34" charset="0"/>
                <a:ea typeface="Calibri" pitchFamily="34" charset="-122"/>
                <a:cs typeface="Calibri" pitchFamily="34" charset="-120"/>
              </a:rPr>
              <a:t>Visual</a:t>
            </a:r>
            <a:endParaRPr lang="en-US" sz="1150" dirty="0"/>
          </a:p>
        </p:txBody>
      </p:sp>
      <p:sp>
        <p:nvSpPr>
          <p:cNvPr id="11" name="Text 7"/>
          <p:cNvSpPr/>
          <p:nvPr/>
        </p:nvSpPr>
        <p:spPr>
          <a:xfrm>
            <a:off x="457200" y="3474720"/>
            <a:ext cx="1965960" cy="777240"/>
          </a:xfrm>
          <a:prstGeom prst="rect">
            <a:avLst/>
          </a:prstGeom>
          <a:noFill/>
          <a:ln/>
        </p:spPr>
        <p:txBody>
          <a:bodyPr wrap="square" rtlCol="0" anchor="ctr"/>
          <a:lstStyle/>
          <a:p>
            <a:pPr marL="0" indent="0" algn="ctr">
              <a:buNone/>
            </a:pPr>
            <a:r>
              <a:rPr lang="en-US" sz="850" dirty="0">
                <a:solidFill>
                  <a:srgbClr val="6B7280"/>
                </a:solidFill>
                <a:latin typeface="Calibri" pitchFamily="34" charset="0"/>
                <a:ea typeface="Calibri" pitchFamily="34" charset="-122"/>
                <a:cs typeface="Calibri" pitchFamily="34" charset="-120"/>
              </a:rPr>
              <a:t>Screen readers, high contrast, resizable text</a:t>
            </a:r>
            <a:endParaRPr lang="en-US" sz="850" dirty="0"/>
          </a:p>
        </p:txBody>
      </p:sp>
      <p:sp>
        <p:nvSpPr>
          <p:cNvPr id="12" name="Shape 8"/>
          <p:cNvSpPr/>
          <p:nvPr/>
        </p:nvSpPr>
        <p:spPr>
          <a:xfrm>
            <a:off x="3337560" y="2606040"/>
            <a:ext cx="502920" cy="502920"/>
          </a:xfrm>
          <a:prstGeom prst="ellipse">
            <a:avLst/>
          </a:prstGeom>
          <a:solidFill>
            <a:srgbClr val="FF6B57"/>
          </a:solidFill>
          <a:ln/>
        </p:spPr>
      </p:sp>
      <p:pic>
        <p:nvPicPr>
          <p:cNvPr id="13" name="Image 2" descr="preencoded.png"/>
          <p:cNvPicPr>
            <a:picLocks noChangeAspect="1"/>
          </p:cNvPicPr>
          <p:nvPr/>
        </p:nvPicPr>
        <p:blipFill>
          <a:blip r:embed="rId5"/>
          <a:stretch>
            <a:fillRect/>
          </a:stretch>
        </p:blipFill>
        <p:spPr>
          <a:xfrm>
            <a:off x="3412998" y="2681478"/>
            <a:ext cx="352044" cy="352044"/>
          </a:xfrm>
          <a:prstGeom prst="rect">
            <a:avLst/>
          </a:prstGeom>
        </p:spPr>
      </p:pic>
      <p:sp>
        <p:nvSpPr>
          <p:cNvPr id="14" name="Text 9"/>
          <p:cNvSpPr/>
          <p:nvPr/>
        </p:nvSpPr>
        <p:spPr>
          <a:xfrm>
            <a:off x="2606040" y="3200400"/>
            <a:ext cx="1965960" cy="274320"/>
          </a:xfrm>
          <a:prstGeom prst="rect">
            <a:avLst/>
          </a:prstGeom>
          <a:noFill/>
          <a:ln/>
        </p:spPr>
        <p:txBody>
          <a:bodyPr wrap="square" rtlCol="0" anchor="ctr"/>
          <a:lstStyle/>
          <a:p>
            <a:pPr marL="0" indent="0" algn="ctr">
              <a:buNone/>
            </a:pPr>
            <a:r>
              <a:rPr lang="en-US" sz="1150" b="1" dirty="0">
                <a:solidFill>
                  <a:srgbClr val="22223B"/>
                </a:solidFill>
                <a:latin typeface="Calibri" pitchFamily="34" charset="0"/>
                <a:ea typeface="Calibri" pitchFamily="34" charset="-122"/>
                <a:cs typeface="Calibri" pitchFamily="34" charset="-120"/>
              </a:rPr>
              <a:t>Hearing</a:t>
            </a:r>
            <a:endParaRPr lang="en-US" sz="1150" dirty="0"/>
          </a:p>
        </p:txBody>
      </p:sp>
      <p:sp>
        <p:nvSpPr>
          <p:cNvPr id="15" name="Text 10"/>
          <p:cNvSpPr/>
          <p:nvPr/>
        </p:nvSpPr>
        <p:spPr>
          <a:xfrm>
            <a:off x="2606040" y="3474720"/>
            <a:ext cx="1965960" cy="777240"/>
          </a:xfrm>
          <a:prstGeom prst="rect">
            <a:avLst/>
          </a:prstGeom>
          <a:noFill/>
          <a:ln/>
        </p:spPr>
        <p:txBody>
          <a:bodyPr wrap="square" rtlCol="0" anchor="ctr"/>
          <a:lstStyle/>
          <a:p>
            <a:pPr marL="0" indent="0" algn="ctr">
              <a:buNone/>
            </a:pPr>
            <a:r>
              <a:rPr lang="en-US" sz="850" dirty="0">
                <a:solidFill>
                  <a:srgbClr val="6B7280"/>
                </a:solidFill>
                <a:latin typeface="Calibri" pitchFamily="34" charset="0"/>
                <a:ea typeface="Calibri" pitchFamily="34" charset="-122"/>
                <a:cs typeface="Calibri" pitchFamily="34" charset="-120"/>
              </a:rPr>
              <a:t>Captions, visual alerts, transcripts</a:t>
            </a:r>
            <a:endParaRPr lang="en-US" sz="850" dirty="0"/>
          </a:p>
        </p:txBody>
      </p:sp>
      <p:sp>
        <p:nvSpPr>
          <p:cNvPr id="16" name="Shape 11"/>
          <p:cNvSpPr/>
          <p:nvPr/>
        </p:nvSpPr>
        <p:spPr>
          <a:xfrm>
            <a:off x="5486400" y="2606040"/>
            <a:ext cx="502920" cy="502920"/>
          </a:xfrm>
          <a:prstGeom prst="ellipse">
            <a:avLst/>
          </a:prstGeom>
          <a:solidFill>
            <a:srgbClr val="FF6B57"/>
          </a:solidFill>
          <a:ln/>
        </p:spPr>
      </p:sp>
      <p:pic>
        <p:nvPicPr>
          <p:cNvPr id="17" name="Image 3" descr="preencoded.png"/>
          <p:cNvPicPr>
            <a:picLocks noChangeAspect="1"/>
          </p:cNvPicPr>
          <p:nvPr/>
        </p:nvPicPr>
        <p:blipFill>
          <a:blip r:embed="rId6"/>
          <a:stretch>
            <a:fillRect/>
          </a:stretch>
        </p:blipFill>
        <p:spPr>
          <a:xfrm>
            <a:off x="5561838" y="2681478"/>
            <a:ext cx="352044" cy="352044"/>
          </a:xfrm>
          <a:prstGeom prst="rect">
            <a:avLst/>
          </a:prstGeom>
        </p:spPr>
      </p:pic>
      <p:sp>
        <p:nvSpPr>
          <p:cNvPr id="18" name="Text 12"/>
          <p:cNvSpPr/>
          <p:nvPr/>
        </p:nvSpPr>
        <p:spPr>
          <a:xfrm>
            <a:off x="4754880" y="3200400"/>
            <a:ext cx="1965960" cy="274320"/>
          </a:xfrm>
          <a:prstGeom prst="rect">
            <a:avLst/>
          </a:prstGeom>
          <a:noFill/>
          <a:ln/>
        </p:spPr>
        <p:txBody>
          <a:bodyPr wrap="square" rtlCol="0" anchor="ctr"/>
          <a:lstStyle/>
          <a:p>
            <a:pPr marL="0" indent="0" algn="ctr">
              <a:buNone/>
            </a:pPr>
            <a:r>
              <a:rPr lang="en-US" sz="1150" b="1" dirty="0">
                <a:solidFill>
                  <a:srgbClr val="22223B"/>
                </a:solidFill>
                <a:latin typeface="Calibri" pitchFamily="34" charset="0"/>
                <a:ea typeface="Calibri" pitchFamily="34" charset="-122"/>
                <a:cs typeface="Calibri" pitchFamily="34" charset="-120"/>
              </a:rPr>
              <a:t>Motor</a:t>
            </a:r>
            <a:endParaRPr lang="en-US" sz="1150" dirty="0"/>
          </a:p>
        </p:txBody>
      </p:sp>
      <p:sp>
        <p:nvSpPr>
          <p:cNvPr id="19" name="Text 13"/>
          <p:cNvSpPr/>
          <p:nvPr/>
        </p:nvSpPr>
        <p:spPr>
          <a:xfrm>
            <a:off x="4754880" y="3474720"/>
            <a:ext cx="1965960" cy="777240"/>
          </a:xfrm>
          <a:prstGeom prst="rect">
            <a:avLst/>
          </a:prstGeom>
          <a:noFill/>
          <a:ln/>
        </p:spPr>
        <p:txBody>
          <a:bodyPr wrap="square" rtlCol="0" anchor="ctr"/>
          <a:lstStyle/>
          <a:p>
            <a:pPr marL="0" indent="0" algn="ctr">
              <a:buNone/>
            </a:pPr>
            <a:r>
              <a:rPr lang="en-US" sz="850" dirty="0">
                <a:solidFill>
                  <a:srgbClr val="6B7280"/>
                </a:solidFill>
                <a:latin typeface="Calibri" pitchFamily="34" charset="0"/>
                <a:ea typeface="Calibri" pitchFamily="34" charset="-122"/>
                <a:cs typeface="Calibri" pitchFamily="34" charset="-120"/>
              </a:rPr>
              <a:t>Keyboard navigation, larger touch targets</a:t>
            </a:r>
            <a:endParaRPr lang="en-US" sz="850" dirty="0"/>
          </a:p>
        </p:txBody>
      </p:sp>
      <p:sp>
        <p:nvSpPr>
          <p:cNvPr id="20" name="Shape 14"/>
          <p:cNvSpPr/>
          <p:nvPr/>
        </p:nvSpPr>
        <p:spPr>
          <a:xfrm>
            <a:off x="7635240" y="2606040"/>
            <a:ext cx="502920" cy="502920"/>
          </a:xfrm>
          <a:prstGeom prst="ellipse">
            <a:avLst/>
          </a:prstGeom>
          <a:solidFill>
            <a:srgbClr val="FF6B57"/>
          </a:solidFill>
          <a:ln/>
        </p:spPr>
      </p:sp>
      <p:pic>
        <p:nvPicPr>
          <p:cNvPr id="21" name="Image 4" descr="preencoded.png"/>
          <p:cNvPicPr>
            <a:picLocks noChangeAspect="1"/>
          </p:cNvPicPr>
          <p:nvPr/>
        </p:nvPicPr>
        <p:blipFill>
          <a:blip r:embed="rId7"/>
          <a:stretch>
            <a:fillRect/>
          </a:stretch>
        </p:blipFill>
        <p:spPr>
          <a:xfrm>
            <a:off x="7710678" y="2681478"/>
            <a:ext cx="352044" cy="352044"/>
          </a:xfrm>
          <a:prstGeom prst="rect">
            <a:avLst/>
          </a:prstGeom>
        </p:spPr>
      </p:pic>
      <p:sp>
        <p:nvSpPr>
          <p:cNvPr id="22" name="Text 15"/>
          <p:cNvSpPr/>
          <p:nvPr/>
        </p:nvSpPr>
        <p:spPr>
          <a:xfrm>
            <a:off x="6903720" y="3200400"/>
            <a:ext cx="1965960" cy="274320"/>
          </a:xfrm>
          <a:prstGeom prst="rect">
            <a:avLst/>
          </a:prstGeom>
          <a:noFill/>
          <a:ln/>
        </p:spPr>
        <p:txBody>
          <a:bodyPr wrap="square" rtlCol="0" anchor="ctr"/>
          <a:lstStyle/>
          <a:p>
            <a:pPr marL="0" indent="0" algn="ctr">
              <a:buNone/>
            </a:pPr>
            <a:r>
              <a:rPr lang="en-US" sz="1150" b="1" dirty="0">
                <a:solidFill>
                  <a:srgbClr val="22223B"/>
                </a:solidFill>
                <a:latin typeface="Calibri" pitchFamily="34" charset="0"/>
                <a:ea typeface="Calibri" pitchFamily="34" charset="-122"/>
                <a:cs typeface="Calibri" pitchFamily="34" charset="-120"/>
              </a:rPr>
              <a:t>Cognitive</a:t>
            </a:r>
            <a:endParaRPr lang="en-US" sz="1150" dirty="0"/>
          </a:p>
        </p:txBody>
      </p:sp>
      <p:sp>
        <p:nvSpPr>
          <p:cNvPr id="23" name="Text 16"/>
          <p:cNvSpPr/>
          <p:nvPr/>
        </p:nvSpPr>
        <p:spPr>
          <a:xfrm>
            <a:off x="6903720" y="3474720"/>
            <a:ext cx="1965960" cy="777240"/>
          </a:xfrm>
          <a:prstGeom prst="rect">
            <a:avLst/>
          </a:prstGeom>
          <a:noFill/>
          <a:ln/>
        </p:spPr>
        <p:txBody>
          <a:bodyPr wrap="square" rtlCol="0" anchor="ctr"/>
          <a:lstStyle/>
          <a:p>
            <a:pPr marL="0" indent="0" algn="ctr">
              <a:buNone/>
            </a:pPr>
            <a:r>
              <a:rPr lang="en-US" sz="850" dirty="0">
                <a:solidFill>
                  <a:srgbClr val="6B7280"/>
                </a:solidFill>
                <a:latin typeface="Calibri" pitchFamily="34" charset="0"/>
                <a:ea typeface="Calibri" pitchFamily="34" charset="-122"/>
                <a:cs typeface="Calibri" pitchFamily="34" charset="-120"/>
              </a:rPr>
              <a:t>Simple language, consistent layout, clear steps</a:t>
            </a:r>
            <a:endParaRPr lang="en-US" sz="850" dirty="0"/>
          </a:p>
        </p:txBody>
      </p:sp>
      <p:sp>
        <p:nvSpPr>
          <p:cNvPr id="24" name="Text 17"/>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25" name="Text 18"/>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17 / 29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1.6 ACCESSIBILITY AND INCLUSIVENESS</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Inclusiveness and Universal Design</a:t>
            </a:r>
            <a:endParaRPr lang="en-US" sz="2600" dirty="0"/>
          </a:p>
        </p:txBody>
      </p:sp>
      <p:sp>
        <p:nvSpPr>
          <p:cNvPr id="4" name="Text 2"/>
          <p:cNvSpPr/>
          <p:nvPr/>
        </p:nvSpPr>
        <p:spPr>
          <a:xfrm>
            <a:off x="457200" y="1371600"/>
            <a:ext cx="8229600" cy="777240"/>
          </a:xfrm>
          <a:prstGeom prst="rect">
            <a:avLst/>
          </a:prstGeom>
          <a:noFill/>
          <a:ln/>
        </p:spPr>
        <p:txBody>
          <a:bodyPr wrap="square" rtlCol="0" anchor="ctr"/>
          <a:lstStyle/>
          <a:p>
            <a:pPr marL="0" indent="0">
              <a:buNone/>
            </a:pPr>
            <a:r>
              <a:rPr lang="en-US" sz="1300" b="1" dirty="0">
                <a:solidFill>
                  <a:srgbClr val="22223B"/>
                </a:solidFill>
                <a:latin typeface="Calibri" pitchFamily="34" charset="0"/>
                <a:ea typeface="Calibri" pitchFamily="34" charset="-122"/>
                <a:cs typeface="Calibri" pitchFamily="34" charset="-120"/>
              </a:rPr>
              <a:t>Inclusiveness </a:t>
            </a:r>
            <a:r>
              <a:rPr lang="en-US" sz="1300" dirty="0">
                <a:solidFill>
                  <a:srgbClr val="22223B"/>
                </a:solidFill>
                <a:latin typeface="Calibri" pitchFamily="34" charset="0"/>
                <a:ea typeface="Calibri" pitchFamily="34" charset="-122"/>
                <a:cs typeface="Calibri" pitchFamily="34" charset="-120"/>
              </a:rPr>
              <a:t>means designing so the widest possible range of people can use a product effectively — across age, literacy, culture, income, and language.</a:t>
            </a:r>
            <a:endParaRPr lang="en-US" sz="1300" dirty="0"/>
          </a:p>
        </p:txBody>
      </p:sp>
      <p:sp>
        <p:nvSpPr>
          <p:cNvPr id="5" name="Shape 3"/>
          <p:cNvSpPr/>
          <p:nvPr/>
        </p:nvSpPr>
        <p:spPr>
          <a:xfrm>
            <a:off x="457200" y="2286000"/>
            <a:ext cx="8229600" cy="2148840"/>
          </a:xfrm>
          <a:prstGeom prst="rect">
            <a:avLst/>
          </a:prstGeom>
          <a:solidFill>
            <a:srgbClr val="F4F2FF"/>
          </a:solidFill>
          <a:ln/>
          <a:effectLst>
            <a:outerShdw blurRad="101600" dist="38100" dir="2700000" algn="bl" rotWithShape="0">
              <a:srgbClr val="000000">
                <a:alpha val="12000"/>
              </a:srgbClr>
            </a:outerShdw>
          </a:effectLst>
        </p:spPr>
      </p:sp>
      <p:sp>
        <p:nvSpPr>
          <p:cNvPr id="6" name="Shape 4"/>
          <p:cNvSpPr/>
          <p:nvPr/>
        </p:nvSpPr>
        <p:spPr>
          <a:xfrm>
            <a:off x="731520" y="2514600"/>
            <a:ext cx="640080" cy="640080"/>
          </a:xfrm>
          <a:prstGeom prst="ellipse">
            <a:avLst/>
          </a:prstGeom>
          <a:solidFill>
            <a:srgbClr val="4C3BCF"/>
          </a:solidFill>
          <a:ln/>
        </p:spPr>
      </p:sp>
      <p:pic>
        <p:nvPicPr>
          <p:cNvPr id="7" name="Image 0" descr="preencoded.png"/>
          <p:cNvPicPr>
            <a:picLocks noChangeAspect="1"/>
          </p:cNvPicPr>
          <p:nvPr/>
        </p:nvPicPr>
        <p:blipFill>
          <a:blip r:embed="rId3"/>
          <a:stretch>
            <a:fillRect/>
          </a:stretch>
        </p:blipFill>
        <p:spPr>
          <a:xfrm>
            <a:off x="827532" y="2610612"/>
            <a:ext cx="448056" cy="448056"/>
          </a:xfrm>
          <a:prstGeom prst="rect">
            <a:avLst/>
          </a:prstGeom>
        </p:spPr>
      </p:pic>
      <p:sp>
        <p:nvSpPr>
          <p:cNvPr id="8" name="Text 5"/>
          <p:cNvSpPr/>
          <p:nvPr/>
        </p:nvSpPr>
        <p:spPr>
          <a:xfrm>
            <a:off x="1554480" y="2560320"/>
            <a:ext cx="5486400" cy="365760"/>
          </a:xfrm>
          <a:prstGeom prst="rect">
            <a:avLst/>
          </a:prstGeom>
          <a:noFill/>
          <a:ln/>
        </p:spPr>
        <p:txBody>
          <a:bodyPr wrap="square" rtlCol="0" anchor="ctr"/>
          <a:lstStyle/>
          <a:p>
            <a:pPr marL="0" indent="0">
              <a:buNone/>
            </a:pPr>
            <a:r>
              <a:rPr lang="en-US" sz="1400" b="1" dirty="0">
                <a:solidFill>
                  <a:srgbClr val="342B81"/>
                </a:solidFill>
                <a:latin typeface="Calibri" pitchFamily="34" charset="0"/>
                <a:ea typeface="Calibri" pitchFamily="34" charset="-122"/>
                <a:cs typeface="Calibri" pitchFamily="34" charset="-120"/>
              </a:rPr>
              <a:t>The Curb-Cut Effect</a:t>
            </a:r>
            <a:endParaRPr lang="en-US" sz="1400" dirty="0"/>
          </a:p>
        </p:txBody>
      </p:sp>
      <p:sp>
        <p:nvSpPr>
          <p:cNvPr id="9" name="Text 6"/>
          <p:cNvSpPr/>
          <p:nvPr/>
        </p:nvSpPr>
        <p:spPr>
          <a:xfrm>
            <a:off x="1554480" y="2971800"/>
            <a:ext cx="6766560" cy="1280160"/>
          </a:xfrm>
          <a:prstGeom prst="rect">
            <a:avLst/>
          </a:prstGeom>
          <a:noFill/>
          <a:ln/>
        </p:spPr>
        <p:txBody>
          <a:bodyPr wrap="square" rtlCol="0" anchor="ctr"/>
          <a:lstStyle/>
          <a:p>
            <a:pPr marL="0" indent="0">
              <a:buNone/>
            </a:pPr>
            <a:r>
              <a:rPr lang="en-US" sz="1200" dirty="0">
                <a:solidFill>
                  <a:srgbClr val="22223B"/>
                </a:solidFill>
                <a:latin typeface="Calibri" pitchFamily="34" charset="0"/>
                <a:ea typeface="Calibri" pitchFamily="34" charset="-122"/>
                <a:cs typeface="Calibri" pitchFamily="34" charset="-120"/>
              </a:rPr>
              <a:t>Sidewalk ramps were built for wheelchair users — but today they also help parents with strollers, travellers with luggage, and delivery workers with carts. Designing for accessibility often improves the experience for everyone, not just the original target group.</a:t>
            </a:r>
            <a:endParaRPr lang="en-US" sz="1200" dirty="0"/>
          </a:p>
        </p:txBody>
      </p:sp>
      <p:sp>
        <p:nvSpPr>
          <p:cNvPr id="10" name="Text 7"/>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11" name="Text 8"/>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18 / 29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1.7 USABILITY AND UX GOALS</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Usability Goals — Concrete &amp; Measurable</a:t>
            </a:r>
            <a:endParaRPr lang="en-US" sz="2600" dirty="0"/>
          </a:p>
        </p:txBody>
      </p:sp>
      <p:sp>
        <p:nvSpPr>
          <p:cNvPr id="4" name="Shape 2"/>
          <p:cNvSpPr/>
          <p:nvPr/>
        </p:nvSpPr>
        <p:spPr>
          <a:xfrm>
            <a:off x="457200" y="1417320"/>
            <a:ext cx="2743200" cy="1280160"/>
          </a:xfrm>
          <a:prstGeom prst="rect">
            <a:avLst/>
          </a:prstGeom>
          <a:solidFill>
            <a:srgbClr val="EFEBFF"/>
          </a:solidFill>
          <a:ln/>
        </p:spPr>
      </p:sp>
      <p:sp>
        <p:nvSpPr>
          <p:cNvPr id="5" name="Shape 3"/>
          <p:cNvSpPr/>
          <p:nvPr/>
        </p:nvSpPr>
        <p:spPr>
          <a:xfrm>
            <a:off x="594360" y="1554480"/>
            <a:ext cx="502920" cy="502920"/>
          </a:xfrm>
          <a:prstGeom prst="ellipse">
            <a:avLst/>
          </a:prstGeom>
          <a:solidFill>
            <a:srgbClr val="4C3BCF"/>
          </a:solidFill>
          <a:ln/>
        </p:spPr>
      </p:sp>
      <p:pic>
        <p:nvPicPr>
          <p:cNvPr id="6" name="Image 0" descr="preencoded.png"/>
          <p:cNvPicPr>
            <a:picLocks noChangeAspect="1"/>
          </p:cNvPicPr>
          <p:nvPr/>
        </p:nvPicPr>
        <p:blipFill>
          <a:blip r:embed="rId3"/>
          <a:stretch>
            <a:fillRect/>
          </a:stretch>
        </p:blipFill>
        <p:spPr>
          <a:xfrm>
            <a:off x="669798" y="1629918"/>
            <a:ext cx="352044" cy="352044"/>
          </a:xfrm>
          <a:prstGeom prst="rect">
            <a:avLst/>
          </a:prstGeom>
        </p:spPr>
      </p:pic>
      <p:sp>
        <p:nvSpPr>
          <p:cNvPr id="7" name="Text 4"/>
          <p:cNvSpPr/>
          <p:nvPr/>
        </p:nvSpPr>
        <p:spPr>
          <a:xfrm>
            <a:off x="594360" y="2130552"/>
            <a:ext cx="2468880" cy="256032"/>
          </a:xfrm>
          <a:prstGeom prst="rect">
            <a:avLst/>
          </a:prstGeom>
          <a:noFill/>
          <a:ln/>
        </p:spPr>
        <p:txBody>
          <a:bodyPr wrap="square" rtlCol="0" anchor="ctr"/>
          <a:lstStyle/>
          <a:p>
            <a:pPr marL="0" indent="0">
              <a:buNone/>
            </a:pPr>
            <a:r>
              <a:rPr lang="en-US" sz="1200" b="1" dirty="0">
                <a:solidFill>
                  <a:srgbClr val="342B81"/>
                </a:solidFill>
                <a:latin typeface="Calibri" pitchFamily="34" charset="0"/>
                <a:ea typeface="Calibri" pitchFamily="34" charset="-122"/>
                <a:cs typeface="Calibri" pitchFamily="34" charset="-120"/>
              </a:rPr>
              <a:t>Effective</a:t>
            </a:r>
            <a:endParaRPr lang="en-US" sz="1200" dirty="0"/>
          </a:p>
        </p:txBody>
      </p:sp>
      <p:sp>
        <p:nvSpPr>
          <p:cNvPr id="8" name="Text 5"/>
          <p:cNvSpPr/>
          <p:nvPr/>
        </p:nvSpPr>
        <p:spPr>
          <a:xfrm>
            <a:off x="594360" y="2368296"/>
            <a:ext cx="2468880" cy="384048"/>
          </a:xfrm>
          <a:prstGeom prst="rect">
            <a:avLst/>
          </a:prstGeom>
          <a:noFill/>
          <a:ln/>
        </p:spPr>
        <p:txBody>
          <a:bodyPr wrap="square" rtlCol="0" anchor="ctr"/>
          <a:lstStyle/>
          <a:p>
            <a:pPr marL="0" indent="0">
              <a:buNone/>
            </a:pPr>
            <a:r>
              <a:rPr lang="en-US" sz="880" dirty="0">
                <a:solidFill>
                  <a:srgbClr val="22223B"/>
                </a:solidFill>
                <a:latin typeface="Calibri" pitchFamily="34" charset="0"/>
                <a:ea typeface="Calibri" pitchFamily="34" charset="-122"/>
                <a:cs typeface="Calibri" pitchFamily="34" charset="-120"/>
              </a:rPr>
              <a:t>Does it help users achieve what they set out to do?</a:t>
            </a:r>
            <a:endParaRPr lang="en-US" sz="880" dirty="0"/>
          </a:p>
        </p:txBody>
      </p:sp>
      <p:sp>
        <p:nvSpPr>
          <p:cNvPr id="9" name="Shape 6"/>
          <p:cNvSpPr/>
          <p:nvPr/>
        </p:nvSpPr>
        <p:spPr>
          <a:xfrm>
            <a:off x="3383280" y="1417320"/>
            <a:ext cx="2743200" cy="1280160"/>
          </a:xfrm>
          <a:prstGeom prst="rect">
            <a:avLst/>
          </a:prstGeom>
          <a:solidFill>
            <a:srgbClr val="EFEBFF"/>
          </a:solidFill>
          <a:ln/>
        </p:spPr>
      </p:sp>
      <p:sp>
        <p:nvSpPr>
          <p:cNvPr id="10" name="Shape 7"/>
          <p:cNvSpPr/>
          <p:nvPr/>
        </p:nvSpPr>
        <p:spPr>
          <a:xfrm>
            <a:off x="3520440" y="1554480"/>
            <a:ext cx="502920" cy="502920"/>
          </a:xfrm>
          <a:prstGeom prst="ellipse">
            <a:avLst/>
          </a:prstGeom>
          <a:solidFill>
            <a:srgbClr val="4C3BCF"/>
          </a:solidFill>
          <a:ln/>
        </p:spPr>
      </p:sp>
      <p:pic>
        <p:nvPicPr>
          <p:cNvPr id="11" name="Image 1" descr="preencoded.png"/>
          <p:cNvPicPr>
            <a:picLocks noChangeAspect="1"/>
          </p:cNvPicPr>
          <p:nvPr/>
        </p:nvPicPr>
        <p:blipFill>
          <a:blip r:embed="rId4"/>
          <a:stretch>
            <a:fillRect/>
          </a:stretch>
        </p:blipFill>
        <p:spPr>
          <a:xfrm>
            <a:off x="3595878" y="1629918"/>
            <a:ext cx="352044" cy="352044"/>
          </a:xfrm>
          <a:prstGeom prst="rect">
            <a:avLst/>
          </a:prstGeom>
        </p:spPr>
      </p:pic>
      <p:sp>
        <p:nvSpPr>
          <p:cNvPr id="12" name="Text 8"/>
          <p:cNvSpPr/>
          <p:nvPr/>
        </p:nvSpPr>
        <p:spPr>
          <a:xfrm>
            <a:off x="3520440" y="2130552"/>
            <a:ext cx="2468880" cy="256032"/>
          </a:xfrm>
          <a:prstGeom prst="rect">
            <a:avLst/>
          </a:prstGeom>
          <a:noFill/>
          <a:ln/>
        </p:spPr>
        <p:txBody>
          <a:bodyPr wrap="square" rtlCol="0" anchor="ctr"/>
          <a:lstStyle/>
          <a:p>
            <a:pPr marL="0" indent="0">
              <a:buNone/>
            </a:pPr>
            <a:r>
              <a:rPr lang="en-US" sz="1200" b="1" dirty="0">
                <a:solidFill>
                  <a:srgbClr val="342B81"/>
                </a:solidFill>
                <a:latin typeface="Calibri" pitchFamily="34" charset="0"/>
                <a:ea typeface="Calibri" pitchFamily="34" charset="-122"/>
                <a:cs typeface="Calibri" pitchFamily="34" charset="-120"/>
              </a:rPr>
              <a:t>Efficient</a:t>
            </a:r>
            <a:endParaRPr lang="en-US" sz="1200" dirty="0"/>
          </a:p>
        </p:txBody>
      </p:sp>
      <p:sp>
        <p:nvSpPr>
          <p:cNvPr id="13" name="Text 9"/>
          <p:cNvSpPr/>
          <p:nvPr/>
        </p:nvSpPr>
        <p:spPr>
          <a:xfrm>
            <a:off x="3520440" y="2368296"/>
            <a:ext cx="2468880" cy="384048"/>
          </a:xfrm>
          <a:prstGeom prst="rect">
            <a:avLst/>
          </a:prstGeom>
          <a:noFill/>
          <a:ln/>
        </p:spPr>
        <p:txBody>
          <a:bodyPr wrap="square" rtlCol="0" anchor="ctr"/>
          <a:lstStyle/>
          <a:p>
            <a:pPr marL="0" indent="0">
              <a:buNone/>
            </a:pPr>
            <a:r>
              <a:rPr lang="en-US" sz="880" dirty="0">
                <a:solidFill>
                  <a:srgbClr val="22223B"/>
                </a:solidFill>
                <a:latin typeface="Calibri" pitchFamily="34" charset="0"/>
                <a:ea typeface="Calibri" pitchFamily="34" charset="-122"/>
                <a:cs typeface="Calibri" pitchFamily="34" charset="-120"/>
              </a:rPr>
              <a:t>Can tasks be completed quickly with minimal effort?</a:t>
            </a:r>
            <a:endParaRPr lang="en-US" sz="880" dirty="0"/>
          </a:p>
        </p:txBody>
      </p:sp>
      <p:sp>
        <p:nvSpPr>
          <p:cNvPr id="14" name="Shape 10"/>
          <p:cNvSpPr/>
          <p:nvPr/>
        </p:nvSpPr>
        <p:spPr>
          <a:xfrm>
            <a:off x="6309360" y="1417320"/>
            <a:ext cx="2743200" cy="1280160"/>
          </a:xfrm>
          <a:prstGeom prst="rect">
            <a:avLst/>
          </a:prstGeom>
          <a:solidFill>
            <a:srgbClr val="EFEBFF"/>
          </a:solidFill>
          <a:ln/>
        </p:spPr>
      </p:sp>
      <p:sp>
        <p:nvSpPr>
          <p:cNvPr id="15" name="Shape 11"/>
          <p:cNvSpPr/>
          <p:nvPr/>
        </p:nvSpPr>
        <p:spPr>
          <a:xfrm>
            <a:off x="6446520" y="1554480"/>
            <a:ext cx="502920" cy="502920"/>
          </a:xfrm>
          <a:prstGeom prst="ellipse">
            <a:avLst/>
          </a:prstGeom>
          <a:solidFill>
            <a:srgbClr val="4C3BCF"/>
          </a:solidFill>
          <a:ln/>
        </p:spPr>
      </p:sp>
      <p:pic>
        <p:nvPicPr>
          <p:cNvPr id="16" name="Image 2" descr="preencoded.png"/>
          <p:cNvPicPr>
            <a:picLocks noChangeAspect="1"/>
          </p:cNvPicPr>
          <p:nvPr/>
        </p:nvPicPr>
        <p:blipFill>
          <a:blip r:embed="rId5"/>
          <a:stretch>
            <a:fillRect/>
          </a:stretch>
        </p:blipFill>
        <p:spPr>
          <a:xfrm>
            <a:off x="6521958" y="1629918"/>
            <a:ext cx="352044" cy="352044"/>
          </a:xfrm>
          <a:prstGeom prst="rect">
            <a:avLst/>
          </a:prstGeom>
        </p:spPr>
      </p:pic>
      <p:sp>
        <p:nvSpPr>
          <p:cNvPr id="17" name="Text 12"/>
          <p:cNvSpPr/>
          <p:nvPr/>
        </p:nvSpPr>
        <p:spPr>
          <a:xfrm>
            <a:off x="6446520" y="2130552"/>
            <a:ext cx="2468880" cy="256032"/>
          </a:xfrm>
          <a:prstGeom prst="rect">
            <a:avLst/>
          </a:prstGeom>
          <a:noFill/>
          <a:ln/>
        </p:spPr>
        <p:txBody>
          <a:bodyPr wrap="square" rtlCol="0" anchor="ctr"/>
          <a:lstStyle/>
          <a:p>
            <a:pPr marL="0" indent="0">
              <a:buNone/>
            </a:pPr>
            <a:r>
              <a:rPr lang="en-US" sz="1200" b="1" dirty="0">
                <a:solidFill>
                  <a:srgbClr val="342B81"/>
                </a:solidFill>
                <a:latin typeface="Calibri" pitchFamily="34" charset="0"/>
                <a:ea typeface="Calibri" pitchFamily="34" charset="-122"/>
                <a:cs typeface="Calibri" pitchFamily="34" charset="-120"/>
              </a:rPr>
              <a:t>Safe</a:t>
            </a:r>
            <a:endParaRPr lang="en-US" sz="1200" dirty="0"/>
          </a:p>
        </p:txBody>
      </p:sp>
      <p:sp>
        <p:nvSpPr>
          <p:cNvPr id="18" name="Text 13"/>
          <p:cNvSpPr/>
          <p:nvPr/>
        </p:nvSpPr>
        <p:spPr>
          <a:xfrm>
            <a:off x="6446520" y="2368296"/>
            <a:ext cx="2468880" cy="384048"/>
          </a:xfrm>
          <a:prstGeom prst="rect">
            <a:avLst/>
          </a:prstGeom>
          <a:noFill/>
          <a:ln/>
        </p:spPr>
        <p:txBody>
          <a:bodyPr wrap="square" rtlCol="0" anchor="ctr"/>
          <a:lstStyle/>
          <a:p>
            <a:pPr marL="0" indent="0">
              <a:buNone/>
            </a:pPr>
            <a:r>
              <a:rPr lang="en-US" sz="880" dirty="0">
                <a:solidFill>
                  <a:srgbClr val="22223B"/>
                </a:solidFill>
                <a:latin typeface="Calibri" pitchFamily="34" charset="0"/>
                <a:ea typeface="Calibri" pitchFamily="34" charset="-122"/>
                <a:cs typeface="Calibri" pitchFamily="34" charset="-120"/>
              </a:rPr>
              <a:t>Does it prevent errors, or make recovery easy?</a:t>
            </a:r>
            <a:endParaRPr lang="en-US" sz="880" dirty="0"/>
          </a:p>
        </p:txBody>
      </p:sp>
      <p:sp>
        <p:nvSpPr>
          <p:cNvPr id="19" name="Shape 14"/>
          <p:cNvSpPr/>
          <p:nvPr/>
        </p:nvSpPr>
        <p:spPr>
          <a:xfrm>
            <a:off x="457200" y="2834640"/>
            <a:ext cx="2743200" cy="1280160"/>
          </a:xfrm>
          <a:prstGeom prst="rect">
            <a:avLst/>
          </a:prstGeom>
          <a:solidFill>
            <a:srgbClr val="EFEBFF"/>
          </a:solidFill>
          <a:ln/>
        </p:spPr>
      </p:sp>
      <p:sp>
        <p:nvSpPr>
          <p:cNvPr id="20" name="Shape 15"/>
          <p:cNvSpPr/>
          <p:nvPr/>
        </p:nvSpPr>
        <p:spPr>
          <a:xfrm>
            <a:off x="594360" y="2971800"/>
            <a:ext cx="502920" cy="502920"/>
          </a:xfrm>
          <a:prstGeom prst="ellipse">
            <a:avLst/>
          </a:prstGeom>
          <a:solidFill>
            <a:srgbClr val="4C3BCF"/>
          </a:solidFill>
          <a:ln/>
        </p:spPr>
      </p:sp>
      <p:pic>
        <p:nvPicPr>
          <p:cNvPr id="21" name="Image 3" descr="preencoded.png"/>
          <p:cNvPicPr>
            <a:picLocks noChangeAspect="1"/>
          </p:cNvPicPr>
          <p:nvPr/>
        </p:nvPicPr>
        <p:blipFill>
          <a:blip r:embed="rId6"/>
          <a:stretch>
            <a:fillRect/>
          </a:stretch>
        </p:blipFill>
        <p:spPr>
          <a:xfrm>
            <a:off x="669798" y="3047238"/>
            <a:ext cx="352044" cy="352044"/>
          </a:xfrm>
          <a:prstGeom prst="rect">
            <a:avLst/>
          </a:prstGeom>
        </p:spPr>
      </p:pic>
      <p:sp>
        <p:nvSpPr>
          <p:cNvPr id="22" name="Text 16"/>
          <p:cNvSpPr/>
          <p:nvPr/>
        </p:nvSpPr>
        <p:spPr>
          <a:xfrm>
            <a:off x="594360" y="3547872"/>
            <a:ext cx="2468880" cy="256032"/>
          </a:xfrm>
          <a:prstGeom prst="rect">
            <a:avLst/>
          </a:prstGeom>
          <a:noFill/>
          <a:ln/>
        </p:spPr>
        <p:txBody>
          <a:bodyPr wrap="square" rtlCol="0" anchor="ctr"/>
          <a:lstStyle/>
          <a:p>
            <a:pPr marL="0" indent="0">
              <a:buNone/>
            </a:pPr>
            <a:r>
              <a:rPr lang="en-US" sz="1200" b="1" dirty="0">
                <a:solidFill>
                  <a:srgbClr val="342B81"/>
                </a:solidFill>
                <a:latin typeface="Calibri" pitchFamily="34" charset="0"/>
                <a:ea typeface="Calibri" pitchFamily="34" charset="-122"/>
                <a:cs typeface="Calibri" pitchFamily="34" charset="-120"/>
              </a:rPr>
              <a:t>Good utility</a:t>
            </a:r>
            <a:endParaRPr lang="en-US" sz="1200" dirty="0"/>
          </a:p>
        </p:txBody>
      </p:sp>
      <p:sp>
        <p:nvSpPr>
          <p:cNvPr id="23" name="Text 17"/>
          <p:cNvSpPr/>
          <p:nvPr/>
        </p:nvSpPr>
        <p:spPr>
          <a:xfrm>
            <a:off x="594360" y="3785616"/>
            <a:ext cx="2468880" cy="384048"/>
          </a:xfrm>
          <a:prstGeom prst="rect">
            <a:avLst/>
          </a:prstGeom>
          <a:noFill/>
          <a:ln/>
        </p:spPr>
        <p:txBody>
          <a:bodyPr wrap="square" rtlCol="0" anchor="ctr"/>
          <a:lstStyle/>
          <a:p>
            <a:pPr marL="0" indent="0">
              <a:buNone/>
            </a:pPr>
            <a:r>
              <a:rPr lang="en-US" sz="880" dirty="0">
                <a:solidFill>
                  <a:srgbClr val="22223B"/>
                </a:solidFill>
                <a:latin typeface="Calibri" pitchFamily="34" charset="0"/>
                <a:ea typeface="Calibri" pitchFamily="34" charset="-122"/>
                <a:cs typeface="Calibri" pitchFamily="34" charset="-120"/>
              </a:rPr>
              <a:t>Does it provide the right functions for the task?</a:t>
            </a:r>
            <a:endParaRPr lang="en-US" sz="880" dirty="0"/>
          </a:p>
        </p:txBody>
      </p:sp>
      <p:sp>
        <p:nvSpPr>
          <p:cNvPr id="24" name="Shape 18"/>
          <p:cNvSpPr/>
          <p:nvPr/>
        </p:nvSpPr>
        <p:spPr>
          <a:xfrm>
            <a:off x="3383280" y="2834640"/>
            <a:ext cx="2743200" cy="1280160"/>
          </a:xfrm>
          <a:prstGeom prst="rect">
            <a:avLst/>
          </a:prstGeom>
          <a:solidFill>
            <a:srgbClr val="EFEBFF"/>
          </a:solidFill>
          <a:ln/>
        </p:spPr>
      </p:sp>
      <p:sp>
        <p:nvSpPr>
          <p:cNvPr id="25" name="Shape 19"/>
          <p:cNvSpPr/>
          <p:nvPr/>
        </p:nvSpPr>
        <p:spPr>
          <a:xfrm>
            <a:off x="3520440" y="2971800"/>
            <a:ext cx="502920" cy="502920"/>
          </a:xfrm>
          <a:prstGeom prst="ellipse">
            <a:avLst/>
          </a:prstGeom>
          <a:solidFill>
            <a:srgbClr val="4C3BCF"/>
          </a:solidFill>
          <a:ln/>
        </p:spPr>
      </p:sp>
      <p:pic>
        <p:nvPicPr>
          <p:cNvPr id="26" name="Image 4" descr="preencoded.png"/>
          <p:cNvPicPr>
            <a:picLocks noChangeAspect="1"/>
          </p:cNvPicPr>
          <p:nvPr/>
        </p:nvPicPr>
        <p:blipFill>
          <a:blip r:embed="rId7"/>
          <a:stretch>
            <a:fillRect/>
          </a:stretch>
        </p:blipFill>
        <p:spPr>
          <a:xfrm>
            <a:off x="3595878" y="3047238"/>
            <a:ext cx="352044" cy="352044"/>
          </a:xfrm>
          <a:prstGeom prst="rect">
            <a:avLst/>
          </a:prstGeom>
        </p:spPr>
      </p:pic>
      <p:sp>
        <p:nvSpPr>
          <p:cNvPr id="27" name="Text 20"/>
          <p:cNvSpPr/>
          <p:nvPr/>
        </p:nvSpPr>
        <p:spPr>
          <a:xfrm>
            <a:off x="3520440" y="3547872"/>
            <a:ext cx="2468880" cy="256032"/>
          </a:xfrm>
          <a:prstGeom prst="rect">
            <a:avLst/>
          </a:prstGeom>
          <a:noFill/>
          <a:ln/>
        </p:spPr>
        <p:txBody>
          <a:bodyPr wrap="square" rtlCol="0" anchor="ctr"/>
          <a:lstStyle/>
          <a:p>
            <a:pPr marL="0" indent="0">
              <a:buNone/>
            </a:pPr>
            <a:r>
              <a:rPr lang="en-US" sz="1200" b="1" dirty="0">
                <a:solidFill>
                  <a:srgbClr val="342B81"/>
                </a:solidFill>
                <a:latin typeface="Calibri" pitchFamily="34" charset="0"/>
                <a:ea typeface="Calibri" pitchFamily="34" charset="-122"/>
                <a:cs typeface="Calibri" pitchFamily="34" charset="-120"/>
              </a:rPr>
              <a:t>Easy to learn</a:t>
            </a:r>
            <a:endParaRPr lang="en-US" sz="1200" dirty="0"/>
          </a:p>
        </p:txBody>
      </p:sp>
      <p:sp>
        <p:nvSpPr>
          <p:cNvPr id="28" name="Text 21"/>
          <p:cNvSpPr/>
          <p:nvPr/>
        </p:nvSpPr>
        <p:spPr>
          <a:xfrm>
            <a:off x="3520440" y="3785616"/>
            <a:ext cx="2468880" cy="384048"/>
          </a:xfrm>
          <a:prstGeom prst="rect">
            <a:avLst/>
          </a:prstGeom>
          <a:noFill/>
          <a:ln/>
        </p:spPr>
        <p:txBody>
          <a:bodyPr wrap="square" rtlCol="0" anchor="ctr"/>
          <a:lstStyle/>
          <a:p>
            <a:pPr marL="0" indent="0">
              <a:buNone/>
            </a:pPr>
            <a:r>
              <a:rPr lang="en-US" sz="880" dirty="0">
                <a:solidFill>
                  <a:srgbClr val="22223B"/>
                </a:solidFill>
                <a:latin typeface="Calibri" pitchFamily="34" charset="0"/>
                <a:ea typeface="Calibri" pitchFamily="34" charset="-122"/>
                <a:cs typeface="Calibri" pitchFamily="34" charset="-120"/>
              </a:rPr>
              <a:t>Can new users become competent quickly?</a:t>
            </a:r>
            <a:endParaRPr lang="en-US" sz="880" dirty="0"/>
          </a:p>
        </p:txBody>
      </p:sp>
      <p:sp>
        <p:nvSpPr>
          <p:cNvPr id="29" name="Shape 22"/>
          <p:cNvSpPr/>
          <p:nvPr/>
        </p:nvSpPr>
        <p:spPr>
          <a:xfrm>
            <a:off x="6309360" y="2834640"/>
            <a:ext cx="2743200" cy="1280160"/>
          </a:xfrm>
          <a:prstGeom prst="rect">
            <a:avLst/>
          </a:prstGeom>
          <a:solidFill>
            <a:srgbClr val="EFEBFF"/>
          </a:solidFill>
          <a:ln/>
        </p:spPr>
      </p:sp>
      <p:sp>
        <p:nvSpPr>
          <p:cNvPr id="30" name="Shape 23"/>
          <p:cNvSpPr/>
          <p:nvPr/>
        </p:nvSpPr>
        <p:spPr>
          <a:xfrm>
            <a:off x="6446520" y="2971800"/>
            <a:ext cx="502920" cy="502920"/>
          </a:xfrm>
          <a:prstGeom prst="ellipse">
            <a:avLst/>
          </a:prstGeom>
          <a:solidFill>
            <a:srgbClr val="4C3BCF"/>
          </a:solidFill>
          <a:ln/>
        </p:spPr>
      </p:sp>
      <p:pic>
        <p:nvPicPr>
          <p:cNvPr id="31" name="Image 5" descr="preencoded.png"/>
          <p:cNvPicPr>
            <a:picLocks noChangeAspect="1"/>
          </p:cNvPicPr>
          <p:nvPr/>
        </p:nvPicPr>
        <p:blipFill>
          <a:blip r:embed="rId8"/>
          <a:stretch>
            <a:fillRect/>
          </a:stretch>
        </p:blipFill>
        <p:spPr>
          <a:xfrm>
            <a:off x="6521958" y="3047238"/>
            <a:ext cx="352044" cy="352044"/>
          </a:xfrm>
          <a:prstGeom prst="rect">
            <a:avLst/>
          </a:prstGeom>
        </p:spPr>
      </p:pic>
      <p:sp>
        <p:nvSpPr>
          <p:cNvPr id="32" name="Text 24"/>
          <p:cNvSpPr/>
          <p:nvPr/>
        </p:nvSpPr>
        <p:spPr>
          <a:xfrm>
            <a:off x="6446520" y="3547872"/>
            <a:ext cx="2468880" cy="256032"/>
          </a:xfrm>
          <a:prstGeom prst="rect">
            <a:avLst/>
          </a:prstGeom>
          <a:noFill/>
          <a:ln/>
        </p:spPr>
        <p:txBody>
          <a:bodyPr wrap="square" rtlCol="0" anchor="ctr"/>
          <a:lstStyle/>
          <a:p>
            <a:pPr marL="0" indent="0">
              <a:buNone/>
            </a:pPr>
            <a:r>
              <a:rPr lang="en-US" sz="1200" b="1" dirty="0">
                <a:solidFill>
                  <a:srgbClr val="342B81"/>
                </a:solidFill>
                <a:latin typeface="Calibri" pitchFamily="34" charset="0"/>
                <a:ea typeface="Calibri" pitchFamily="34" charset="-122"/>
                <a:cs typeface="Calibri" pitchFamily="34" charset="-120"/>
              </a:rPr>
              <a:t>Easy to remember</a:t>
            </a:r>
            <a:endParaRPr lang="en-US" sz="1200" dirty="0"/>
          </a:p>
        </p:txBody>
      </p:sp>
      <p:sp>
        <p:nvSpPr>
          <p:cNvPr id="33" name="Text 25"/>
          <p:cNvSpPr/>
          <p:nvPr/>
        </p:nvSpPr>
        <p:spPr>
          <a:xfrm>
            <a:off x="6446520" y="3785616"/>
            <a:ext cx="2468880" cy="384048"/>
          </a:xfrm>
          <a:prstGeom prst="rect">
            <a:avLst/>
          </a:prstGeom>
          <a:noFill/>
          <a:ln/>
        </p:spPr>
        <p:txBody>
          <a:bodyPr wrap="square" rtlCol="0" anchor="ctr"/>
          <a:lstStyle/>
          <a:p>
            <a:pPr marL="0" indent="0">
              <a:buNone/>
            </a:pPr>
            <a:r>
              <a:rPr lang="en-US" sz="880" dirty="0">
                <a:solidFill>
                  <a:srgbClr val="22223B"/>
                </a:solidFill>
                <a:latin typeface="Calibri" pitchFamily="34" charset="0"/>
                <a:ea typeface="Calibri" pitchFamily="34" charset="-122"/>
                <a:cs typeface="Calibri" pitchFamily="34" charset="-120"/>
              </a:rPr>
              <a:t>Can occasional users recall how it works?</a:t>
            </a:r>
            <a:endParaRPr lang="en-US" sz="880" dirty="0"/>
          </a:p>
        </p:txBody>
      </p:sp>
      <p:sp>
        <p:nvSpPr>
          <p:cNvPr id="34" name="Text 26"/>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35" name="Text 27"/>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19 / 29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1.7 USABILITY AND UX GOALS</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User Experience Goals — Subjective &amp; Hedonic</a:t>
            </a:r>
            <a:endParaRPr lang="en-US" sz="2600" dirty="0"/>
          </a:p>
        </p:txBody>
      </p:sp>
      <p:sp>
        <p:nvSpPr>
          <p:cNvPr id="4" name="Text 2"/>
          <p:cNvSpPr/>
          <p:nvPr/>
        </p:nvSpPr>
        <p:spPr>
          <a:xfrm>
            <a:off x="457200" y="1143000"/>
            <a:ext cx="8229600" cy="32004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These describe how a product should feel, not just how it should function.</a:t>
            </a:r>
            <a:endParaRPr lang="en-US" sz="1200" dirty="0"/>
          </a:p>
        </p:txBody>
      </p:sp>
      <p:sp>
        <p:nvSpPr>
          <p:cNvPr id="5" name="Shape 3"/>
          <p:cNvSpPr/>
          <p:nvPr/>
        </p:nvSpPr>
        <p:spPr>
          <a:xfrm>
            <a:off x="457200" y="1600200"/>
            <a:ext cx="1965960" cy="1234440"/>
          </a:xfrm>
          <a:prstGeom prst="rect">
            <a:avLst/>
          </a:prstGeom>
          <a:solidFill>
            <a:srgbClr val="F4F2FF"/>
          </a:solidFill>
          <a:ln/>
        </p:spPr>
      </p:sp>
      <p:sp>
        <p:nvSpPr>
          <p:cNvPr id="6" name="Shape 4"/>
          <p:cNvSpPr/>
          <p:nvPr/>
        </p:nvSpPr>
        <p:spPr>
          <a:xfrm>
            <a:off x="1165860" y="1764792"/>
            <a:ext cx="548640" cy="548640"/>
          </a:xfrm>
          <a:prstGeom prst="ellipse">
            <a:avLst/>
          </a:prstGeom>
          <a:solidFill>
            <a:srgbClr val="FF6B57"/>
          </a:solidFill>
          <a:ln/>
        </p:spPr>
      </p:sp>
      <p:pic>
        <p:nvPicPr>
          <p:cNvPr id="7" name="Image 0" descr="preencoded.png"/>
          <p:cNvPicPr>
            <a:picLocks noChangeAspect="1"/>
          </p:cNvPicPr>
          <p:nvPr/>
        </p:nvPicPr>
        <p:blipFill>
          <a:blip r:embed="rId3"/>
          <a:stretch>
            <a:fillRect/>
          </a:stretch>
        </p:blipFill>
        <p:spPr>
          <a:xfrm>
            <a:off x="1248156" y="1847088"/>
            <a:ext cx="384048" cy="384048"/>
          </a:xfrm>
          <a:prstGeom prst="rect">
            <a:avLst/>
          </a:prstGeom>
        </p:spPr>
      </p:pic>
      <p:sp>
        <p:nvSpPr>
          <p:cNvPr id="8" name="Text 5"/>
          <p:cNvSpPr/>
          <p:nvPr/>
        </p:nvSpPr>
        <p:spPr>
          <a:xfrm>
            <a:off x="530352" y="2404872"/>
            <a:ext cx="1819656" cy="384048"/>
          </a:xfrm>
          <a:prstGeom prst="rect">
            <a:avLst/>
          </a:prstGeom>
          <a:noFill/>
          <a:ln/>
        </p:spPr>
        <p:txBody>
          <a:bodyPr wrap="square" rtlCol="0" anchor="ctr"/>
          <a:lstStyle/>
          <a:p>
            <a:pPr marL="0" indent="0" algn="ctr">
              <a:buNone/>
            </a:pPr>
            <a:r>
              <a:rPr lang="en-US" sz="1000" b="1" dirty="0">
                <a:solidFill>
                  <a:srgbClr val="22223B"/>
                </a:solidFill>
                <a:latin typeface="Calibri" pitchFamily="34" charset="0"/>
                <a:ea typeface="Calibri" pitchFamily="34" charset="-122"/>
                <a:cs typeface="Calibri" pitchFamily="34" charset="-120"/>
              </a:rPr>
              <a:t>Satisfying</a:t>
            </a:r>
            <a:endParaRPr lang="en-US" sz="1000" dirty="0"/>
          </a:p>
        </p:txBody>
      </p:sp>
      <p:sp>
        <p:nvSpPr>
          <p:cNvPr id="9" name="Shape 6"/>
          <p:cNvSpPr/>
          <p:nvPr/>
        </p:nvSpPr>
        <p:spPr>
          <a:xfrm>
            <a:off x="2560320" y="1600200"/>
            <a:ext cx="1965960" cy="1234440"/>
          </a:xfrm>
          <a:prstGeom prst="rect">
            <a:avLst/>
          </a:prstGeom>
          <a:solidFill>
            <a:srgbClr val="F4F2FF"/>
          </a:solidFill>
          <a:ln/>
        </p:spPr>
      </p:sp>
      <p:sp>
        <p:nvSpPr>
          <p:cNvPr id="10" name="Shape 7"/>
          <p:cNvSpPr/>
          <p:nvPr/>
        </p:nvSpPr>
        <p:spPr>
          <a:xfrm>
            <a:off x="3268980" y="1764792"/>
            <a:ext cx="548640" cy="548640"/>
          </a:xfrm>
          <a:prstGeom prst="ellipse">
            <a:avLst/>
          </a:prstGeom>
          <a:solidFill>
            <a:srgbClr val="FF6B57"/>
          </a:solidFill>
          <a:ln/>
        </p:spPr>
      </p:sp>
      <p:pic>
        <p:nvPicPr>
          <p:cNvPr id="11" name="Image 1" descr="preencoded.png"/>
          <p:cNvPicPr>
            <a:picLocks noChangeAspect="1"/>
          </p:cNvPicPr>
          <p:nvPr/>
        </p:nvPicPr>
        <p:blipFill>
          <a:blip r:embed="rId4"/>
          <a:stretch>
            <a:fillRect/>
          </a:stretch>
        </p:blipFill>
        <p:spPr>
          <a:xfrm>
            <a:off x="3351276" y="1847088"/>
            <a:ext cx="384048" cy="384048"/>
          </a:xfrm>
          <a:prstGeom prst="rect">
            <a:avLst/>
          </a:prstGeom>
        </p:spPr>
      </p:pic>
      <p:sp>
        <p:nvSpPr>
          <p:cNvPr id="12" name="Text 8"/>
          <p:cNvSpPr/>
          <p:nvPr/>
        </p:nvSpPr>
        <p:spPr>
          <a:xfrm>
            <a:off x="2633472" y="2404872"/>
            <a:ext cx="1819656" cy="384048"/>
          </a:xfrm>
          <a:prstGeom prst="rect">
            <a:avLst/>
          </a:prstGeom>
          <a:noFill/>
          <a:ln/>
        </p:spPr>
        <p:txBody>
          <a:bodyPr wrap="square" rtlCol="0" anchor="ctr"/>
          <a:lstStyle/>
          <a:p>
            <a:pPr marL="0" indent="0" algn="ctr">
              <a:buNone/>
            </a:pPr>
            <a:r>
              <a:rPr lang="en-US" sz="1000" b="1" dirty="0">
                <a:solidFill>
                  <a:srgbClr val="22223B"/>
                </a:solidFill>
                <a:latin typeface="Calibri" pitchFamily="34" charset="0"/>
                <a:ea typeface="Calibri" pitchFamily="34" charset="-122"/>
                <a:cs typeface="Calibri" pitchFamily="34" charset="-120"/>
              </a:rPr>
              <a:t>Fun / enjoyable</a:t>
            </a:r>
            <a:endParaRPr lang="en-US" sz="1000" dirty="0"/>
          </a:p>
        </p:txBody>
      </p:sp>
      <p:sp>
        <p:nvSpPr>
          <p:cNvPr id="13" name="Shape 9"/>
          <p:cNvSpPr/>
          <p:nvPr/>
        </p:nvSpPr>
        <p:spPr>
          <a:xfrm>
            <a:off x="4663440" y="1600200"/>
            <a:ext cx="1965960" cy="1234440"/>
          </a:xfrm>
          <a:prstGeom prst="rect">
            <a:avLst/>
          </a:prstGeom>
          <a:solidFill>
            <a:srgbClr val="F4F2FF"/>
          </a:solidFill>
          <a:ln/>
        </p:spPr>
      </p:sp>
      <p:sp>
        <p:nvSpPr>
          <p:cNvPr id="14" name="Shape 10"/>
          <p:cNvSpPr/>
          <p:nvPr/>
        </p:nvSpPr>
        <p:spPr>
          <a:xfrm>
            <a:off x="5372100" y="1764792"/>
            <a:ext cx="548640" cy="548640"/>
          </a:xfrm>
          <a:prstGeom prst="ellipse">
            <a:avLst/>
          </a:prstGeom>
          <a:solidFill>
            <a:srgbClr val="FF6B57"/>
          </a:solidFill>
          <a:ln/>
        </p:spPr>
      </p:sp>
      <p:pic>
        <p:nvPicPr>
          <p:cNvPr id="15" name="Image 2" descr="preencoded.png"/>
          <p:cNvPicPr>
            <a:picLocks noChangeAspect="1"/>
          </p:cNvPicPr>
          <p:nvPr/>
        </p:nvPicPr>
        <p:blipFill>
          <a:blip r:embed="rId5"/>
          <a:stretch>
            <a:fillRect/>
          </a:stretch>
        </p:blipFill>
        <p:spPr>
          <a:xfrm>
            <a:off x="5454396" y="1847088"/>
            <a:ext cx="384048" cy="384048"/>
          </a:xfrm>
          <a:prstGeom prst="rect">
            <a:avLst/>
          </a:prstGeom>
        </p:spPr>
      </p:pic>
      <p:sp>
        <p:nvSpPr>
          <p:cNvPr id="16" name="Text 11"/>
          <p:cNvSpPr/>
          <p:nvPr/>
        </p:nvSpPr>
        <p:spPr>
          <a:xfrm>
            <a:off x="4736592" y="2404872"/>
            <a:ext cx="1819656" cy="384048"/>
          </a:xfrm>
          <a:prstGeom prst="rect">
            <a:avLst/>
          </a:prstGeom>
          <a:noFill/>
          <a:ln/>
        </p:spPr>
        <p:txBody>
          <a:bodyPr wrap="square" rtlCol="0" anchor="ctr"/>
          <a:lstStyle/>
          <a:p>
            <a:pPr marL="0" indent="0" algn="ctr">
              <a:buNone/>
            </a:pPr>
            <a:r>
              <a:rPr lang="en-US" sz="1000" b="1" dirty="0">
                <a:solidFill>
                  <a:srgbClr val="22223B"/>
                </a:solidFill>
                <a:latin typeface="Calibri" pitchFamily="34" charset="0"/>
                <a:ea typeface="Calibri" pitchFamily="34" charset="-122"/>
                <a:cs typeface="Calibri" pitchFamily="34" charset="-120"/>
              </a:rPr>
              <a:t>Motivating</a:t>
            </a:r>
            <a:endParaRPr lang="en-US" sz="1000" dirty="0"/>
          </a:p>
        </p:txBody>
      </p:sp>
      <p:sp>
        <p:nvSpPr>
          <p:cNvPr id="17" name="Shape 12"/>
          <p:cNvSpPr/>
          <p:nvPr/>
        </p:nvSpPr>
        <p:spPr>
          <a:xfrm>
            <a:off x="6766560" y="1600200"/>
            <a:ext cx="1965960" cy="1234440"/>
          </a:xfrm>
          <a:prstGeom prst="rect">
            <a:avLst/>
          </a:prstGeom>
          <a:solidFill>
            <a:srgbClr val="F4F2FF"/>
          </a:solidFill>
          <a:ln/>
        </p:spPr>
      </p:sp>
      <p:sp>
        <p:nvSpPr>
          <p:cNvPr id="18" name="Shape 13"/>
          <p:cNvSpPr/>
          <p:nvPr/>
        </p:nvSpPr>
        <p:spPr>
          <a:xfrm>
            <a:off x="7475220" y="1764792"/>
            <a:ext cx="548640" cy="548640"/>
          </a:xfrm>
          <a:prstGeom prst="ellipse">
            <a:avLst/>
          </a:prstGeom>
          <a:solidFill>
            <a:srgbClr val="FF6B57"/>
          </a:solidFill>
          <a:ln/>
        </p:spPr>
      </p:sp>
      <p:pic>
        <p:nvPicPr>
          <p:cNvPr id="19" name="Image 3" descr="preencoded.png"/>
          <p:cNvPicPr>
            <a:picLocks noChangeAspect="1"/>
          </p:cNvPicPr>
          <p:nvPr/>
        </p:nvPicPr>
        <p:blipFill>
          <a:blip r:embed="rId6"/>
          <a:stretch>
            <a:fillRect/>
          </a:stretch>
        </p:blipFill>
        <p:spPr>
          <a:xfrm>
            <a:off x="7557516" y="1847088"/>
            <a:ext cx="384048" cy="384048"/>
          </a:xfrm>
          <a:prstGeom prst="rect">
            <a:avLst/>
          </a:prstGeom>
        </p:spPr>
      </p:pic>
      <p:sp>
        <p:nvSpPr>
          <p:cNvPr id="20" name="Text 14"/>
          <p:cNvSpPr/>
          <p:nvPr/>
        </p:nvSpPr>
        <p:spPr>
          <a:xfrm>
            <a:off x="6839712" y="2404872"/>
            <a:ext cx="1819656" cy="384048"/>
          </a:xfrm>
          <a:prstGeom prst="rect">
            <a:avLst/>
          </a:prstGeom>
          <a:noFill/>
          <a:ln/>
        </p:spPr>
        <p:txBody>
          <a:bodyPr wrap="square" rtlCol="0" anchor="ctr"/>
          <a:lstStyle/>
          <a:p>
            <a:pPr marL="0" indent="0" algn="ctr">
              <a:buNone/>
            </a:pPr>
            <a:r>
              <a:rPr lang="en-US" sz="1000" b="1" dirty="0">
                <a:solidFill>
                  <a:srgbClr val="22223B"/>
                </a:solidFill>
                <a:latin typeface="Calibri" pitchFamily="34" charset="0"/>
                <a:ea typeface="Calibri" pitchFamily="34" charset="-122"/>
                <a:cs typeface="Calibri" pitchFamily="34" charset="-120"/>
              </a:rPr>
              <a:t>Aesthetically pleasing</a:t>
            </a:r>
            <a:endParaRPr lang="en-US" sz="1000" dirty="0"/>
          </a:p>
        </p:txBody>
      </p:sp>
      <p:sp>
        <p:nvSpPr>
          <p:cNvPr id="21" name="Shape 15"/>
          <p:cNvSpPr/>
          <p:nvPr/>
        </p:nvSpPr>
        <p:spPr>
          <a:xfrm>
            <a:off x="457200" y="3017520"/>
            <a:ext cx="1965960" cy="1234440"/>
          </a:xfrm>
          <a:prstGeom prst="rect">
            <a:avLst/>
          </a:prstGeom>
          <a:solidFill>
            <a:srgbClr val="F4F2FF"/>
          </a:solidFill>
          <a:ln/>
        </p:spPr>
      </p:sp>
      <p:sp>
        <p:nvSpPr>
          <p:cNvPr id="22" name="Shape 16"/>
          <p:cNvSpPr/>
          <p:nvPr/>
        </p:nvSpPr>
        <p:spPr>
          <a:xfrm>
            <a:off x="1165860" y="3182112"/>
            <a:ext cx="548640" cy="548640"/>
          </a:xfrm>
          <a:prstGeom prst="ellipse">
            <a:avLst/>
          </a:prstGeom>
          <a:solidFill>
            <a:srgbClr val="FF6B57"/>
          </a:solidFill>
          <a:ln/>
        </p:spPr>
      </p:sp>
      <p:pic>
        <p:nvPicPr>
          <p:cNvPr id="23" name="Image 4" descr="preencoded.png"/>
          <p:cNvPicPr>
            <a:picLocks noChangeAspect="1"/>
          </p:cNvPicPr>
          <p:nvPr/>
        </p:nvPicPr>
        <p:blipFill>
          <a:blip r:embed="rId7"/>
          <a:stretch>
            <a:fillRect/>
          </a:stretch>
        </p:blipFill>
        <p:spPr>
          <a:xfrm>
            <a:off x="1248156" y="3264408"/>
            <a:ext cx="384048" cy="384048"/>
          </a:xfrm>
          <a:prstGeom prst="rect">
            <a:avLst/>
          </a:prstGeom>
        </p:spPr>
      </p:pic>
      <p:sp>
        <p:nvSpPr>
          <p:cNvPr id="24" name="Text 17"/>
          <p:cNvSpPr/>
          <p:nvPr/>
        </p:nvSpPr>
        <p:spPr>
          <a:xfrm>
            <a:off x="530352" y="3822192"/>
            <a:ext cx="1819656" cy="384048"/>
          </a:xfrm>
          <a:prstGeom prst="rect">
            <a:avLst/>
          </a:prstGeom>
          <a:noFill/>
          <a:ln/>
        </p:spPr>
        <p:txBody>
          <a:bodyPr wrap="square" rtlCol="0" anchor="ctr"/>
          <a:lstStyle/>
          <a:p>
            <a:pPr marL="0" indent="0" algn="ctr">
              <a:buNone/>
            </a:pPr>
            <a:r>
              <a:rPr lang="en-US" sz="1000" b="1" dirty="0">
                <a:solidFill>
                  <a:srgbClr val="22223B"/>
                </a:solidFill>
                <a:latin typeface="Calibri" pitchFamily="34" charset="0"/>
                <a:ea typeface="Calibri" pitchFamily="34" charset="-122"/>
                <a:cs typeface="Calibri" pitchFamily="34" charset="-120"/>
              </a:rPr>
              <a:t>Supports creativity</a:t>
            </a:r>
            <a:endParaRPr lang="en-US" sz="1000" dirty="0"/>
          </a:p>
        </p:txBody>
      </p:sp>
      <p:sp>
        <p:nvSpPr>
          <p:cNvPr id="25" name="Shape 18"/>
          <p:cNvSpPr/>
          <p:nvPr/>
        </p:nvSpPr>
        <p:spPr>
          <a:xfrm>
            <a:off x="2560320" y="3017520"/>
            <a:ext cx="1965960" cy="1234440"/>
          </a:xfrm>
          <a:prstGeom prst="rect">
            <a:avLst/>
          </a:prstGeom>
          <a:solidFill>
            <a:srgbClr val="F4F2FF"/>
          </a:solidFill>
          <a:ln/>
        </p:spPr>
      </p:sp>
      <p:sp>
        <p:nvSpPr>
          <p:cNvPr id="26" name="Shape 19"/>
          <p:cNvSpPr/>
          <p:nvPr/>
        </p:nvSpPr>
        <p:spPr>
          <a:xfrm>
            <a:off x="3268980" y="3182112"/>
            <a:ext cx="548640" cy="548640"/>
          </a:xfrm>
          <a:prstGeom prst="ellipse">
            <a:avLst/>
          </a:prstGeom>
          <a:solidFill>
            <a:srgbClr val="FF6B57"/>
          </a:solidFill>
          <a:ln/>
        </p:spPr>
      </p:sp>
      <p:pic>
        <p:nvPicPr>
          <p:cNvPr id="27" name="Image 5" descr="preencoded.png"/>
          <p:cNvPicPr>
            <a:picLocks noChangeAspect="1"/>
          </p:cNvPicPr>
          <p:nvPr/>
        </p:nvPicPr>
        <p:blipFill>
          <a:blip r:embed="rId8"/>
          <a:stretch>
            <a:fillRect/>
          </a:stretch>
        </p:blipFill>
        <p:spPr>
          <a:xfrm>
            <a:off x="3351276" y="3264408"/>
            <a:ext cx="384048" cy="384048"/>
          </a:xfrm>
          <a:prstGeom prst="rect">
            <a:avLst/>
          </a:prstGeom>
        </p:spPr>
      </p:pic>
      <p:sp>
        <p:nvSpPr>
          <p:cNvPr id="28" name="Text 20"/>
          <p:cNvSpPr/>
          <p:nvPr/>
        </p:nvSpPr>
        <p:spPr>
          <a:xfrm>
            <a:off x="2633472" y="3822192"/>
            <a:ext cx="1819656" cy="384048"/>
          </a:xfrm>
          <a:prstGeom prst="rect">
            <a:avLst/>
          </a:prstGeom>
          <a:noFill/>
          <a:ln/>
        </p:spPr>
        <p:txBody>
          <a:bodyPr wrap="square" rtlCol="0" anchor="ctr"/>
          <a:lstStyle/>
          <a:p>
            <a:pPr marL="0" indent="0" algn="ctr">
              <a:buNone/>
            </a:pPr>
            <a:r>
              <a:rPr lang="en-US" sz="1000" b="1" dirty="0">
                <a:solidFill>
                  <a:srgbClr val="22223B"/>
                </a:solidFill>
                <a:latin typeface="Calibri" pitchFamily="34" charset="0"/>
                <a:ea typeface="Calibri" pitchFamily="34" charset="-122"/>
                <a:cs typeface="Calibri" pitchFamily="34" charset="-120"/>
              </a:rPr>
              <a:t>Rewarding</a:t>
            </a:r>
            <a:endParaRPr lang="en-US" sz="1000" dirty="0"/>
          </a:p>
        </p:txBody>
      </p:sp>
      <p:sp>
        <p:nvSpPr>
          <p:cNvPr id="29" name="Shape 21"/>
          <p:cNvSpPr/>
          <p:nvPr/>
        </p:nvSpPr>
        <p:spPr>
          <a:xfrm>
            <a:off x="4663440" y="3017520"/>
            <a:ext cx="1965960" cy="1234440"/>
          </a:xfrm>
          <a:prstGeom prst="rect">
            <a:avLst/>
          </a:prstGeom>
          <a:solidFill>
            <a:srgbClr val="F4F2FF"/>
          </a:solidFill>
          <a:ln/>
        </p:spPr>
      </p:sp>
      <p:sp>
        <p:nvSpPr>
          <p:cNvPr id="30" name="Shape 22"/>
          <p:cNvSpPr/>
          <p:nvPr/>
        </p:nvSpPr>
        <p:spPr>
          <a:xfrm>
            <a:off x="5372100" y="3182112"/>
            <a:ext cx="548640" cy="548640"/>
          </a:xfrm>
          <a:prstGeom prst="ellipse">
            <a:avLst/>
          </a:prstGeom>
          <a:solidFill>
            <a:srgbClr val="FF6B57"/>
          </a:solidFill>
          <a:ln/>
        </p:spPr>
      </p:sp>
      <p:pic>
        <p:nvPicPr>
          <p:cNvPr id="31" name="Image 6" descr="preencoded.png"/>
          <p:cNvPicPr>
            <a:picLocks noChangeAspect="1"/>
          </p:cNvPicPr>
          <p:nvPr/>
        </p:nvPicPr>
        <p:blipFill>
          <a:blip r:embed="rId9"/>
          <a:stretch>
            <a:fillRect/>
          </a:stretch>
        </p:blipFill>
        <p:spPr>
          <a:xfrm>
            <a:off x="5454396" y="3264408"/>
            <a:ext cx="384048" cy="384048"/>
          </a:xfrm>
          <a:prstGeom prst="rect">
            <a:avLst/>
          </a:prstGeom>
        </p:spPr>
      </p:pic>
      <p:sp>
        <p:nvSpPr>
          <p:cNvPr id="32" name="Text 23"/>
          <p:cNvSpPr/>
          <p:nvPr/>
        </p:nvSpPr>
        <p:spPr>
          <a:xfrm>
            <a:off x="4736592" y="3822192"/>
            <a:ext cx="1819656" cy="384048"/>
          </a:xfrm>
          <a:prstGeom prst="rect">
            <a:avLst/>
          </a:prstGeom>
          <a:noFill/>
          <a:ln/>
        </p:spPr>
        <p:txBody>
          <a:bodyPr wrap="square" rtlCol="0" anchor="ctr"/>
          <a:lstStyle/>
          <a:p>
            <a:pPr marL="0" indent="0" algn="ctr">
              <a:buNone/>
            </a:pPr>
            <a:r>
              <a:rPr lang="en-US" sz="1000" b="1" dirty="0">
                <a:solidFill>
                  <a:srgbClr val="22223B"/>
                </a:solidFill>
                <a:latin typeface="Calibri" pitchFamily="34" charset="0"/>
                <a:ea typeface="Calibri" pitchFamily="34" charset="-122"/>
                <a:cs typeface="Calibri" pitchFamily="34" charset="-120"/>
              </a:rPr>
              <a:t>Emotionally fulfilling</a:t>
            </a:r>
            <a:endParaRPr lang="en-US" sz="1000" dirty="0"/>
          </a:p>
        </p:txBody>
      </p:sp>
      <p:sp>
        <p:nvSpPr>
          <p:cNvPr id="33" name="Shape 24"/>
          <p:cNvSpPr/>
          <p:nvPr/>
        </p:nvSpPr>
        <p:spPr>
          <a:xfrm>
            <a:off x="6766560" y="3017520"/>
            <a:ext cx="1965960" cy="1234440"/>
          </a:xfrm>
          <a:prstGeom prst="rect">
            <a:avLst/>
          </a:prstGeom>
          <a:solidFill>
            <a:srgbClr val="F4F2FF"/>
          </a:solidFill>
          <a:ln/>
        </p:spPr>
      </p:sp>
      <p:sp>
        <p:nvSpPr>
          <p:cNvPr id="34" name="Shape 25"/>
          <p:cNvSpPr/>
          <p:nvPr/>
        </p:nvSpPr>
        <p:spPr>
          <a:xfrm>
            <a:off x="7475220" y="3182112"/>
            <a:ext cx="548640" cy="548640"/>
          </a:xfrm>
          <a:prstGeom prst="ellipse">
            <a:avLst/>
          </a:prstGeom>
          <a:solidFill>
            <a:srgbClr val="FF6B57"/>
          </a:solidFill>
          <a:ln/>
        </p:spPr>
      </p:sp>
      <p:pic>
        <p:nvPicPr>
          <p:cNvPr id="35" name="Image 7" descr="preencoded.png"/>
          <p:cNvPicPr>
            <a:picLocks noChangeAspect="1"/>
          </p:cNvPicPr>
          <p:nvPr/>
        </p:nvPicPr>
        <p:blipFill>
          <a:blip r:embed="rId10"/>
          <a:stretch>
            <a:fillRect/>
          </a:stretch>
        </p:blipFill>
        <p:spPr>
          <a:xfrm>
            <a:off x="7557516" y="3264408"/>
            <a:ext cx="384048" cy="384048"/>
          </a:xfrm>
          <a:prstGeom prst="rect">
            <a:avLst/>
          </a:prstGeom>
        </p:spPr>
      </p:pic>
      <p:sp>
        <p:nvSpPr>
          <p:cNvPr id="36" name="Text 26"/>
          <p:cNvSpPr/>
          <p:nvPr/>
        </p:nvSpPr>
        <p:spPr>
          <a:xfrm>
            <a:off x="6839712" y="3822192"/>
            <a:ext cx="1819656" cy="384048"/>
          </a:xfrm>
          <a:prstGeom prst="rect">
            <a:avLst/>
          </a:prstGeom>
          <a:noFill/>
          <a:ln/>
        </p:spPr>
        <p:txBody>
          <a:bodyPr wrap="square" rtlCol="0" anchor="ctr"/>
          <a:lstStyle/>
          <a:p>
            <a:pPr marL="0" indent="0" algn="ctr">
              <a:buNone/>
            </a:pPr>
            <a:r>
              <a:rPr lang="en-US" sz="1000" b="1" dirty="0">
                <a:solidFill>
                  <a:srgbClr val="22223B"/>
                </a:solidFill>
                <a:latin typeface="Calibri" pitchFamily="34" charset="0"/>
                <a:ea typeface="Calibri" pitchFamily="34" charset="-122"/>
                <a:cs typeface="Calibri" pitchFamily="34" charset="-120"/>
              </a:rPr>
              <a:t>Helpful &amp; supportive</a:t>
            </a:r>
            <a:endParaRPr lang="en-US" sz="1000" dirty="0"/>
          </a:p>
        </p:txBody>
      </p:sp>
      <p:sp>
        <p:nvSpPr>
          <p:cNvPr id="37" name="Text 27"/>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38" name="Text 28"/>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20 / 29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1.8 DESIGN PRINCIPLES</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Five Core Design Principles</a:t>
            </a:r>
            <a:endParaRPr lang="en-US" sz="2600" dirty="0"/>
          </a:p>
        </p:txBody>
      </p:sp>
      <p:sp>
        <p:nvSpPr>
          <p:cNvPr id="4" name="Text 2"/>
          <p:cNvSpPr/>
          <p:nvPr/>
        </p:nvSpPr>
        <p:spPr>
          <a:xfrm>
            <a:off x="457200" y="1188720"/>
            <a:ext cx="8229600" cy="32004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Generalizable rules — distilled from usability and UX goals — that guide everyday design decisions:</a:t>
            </a:r>
            <a:endParaRPr lang="en-US" sz="1200" dirty="0"/>
          </a:p>
        </p:txBody>
      </p:sp>
      <p:sp>
        <p:nvSpPr>
          <p:cNvPr id="5" name="Shape 3"/>
          <p:cNvSpPr/>
          <p:nvPr/>
        </p:nvSpPr>
        <p:spPr>
          <a:xfrm>
            <a:off x="457200" y="1691640"/>
            <a:ext cx="1572768" cy="2926080"/>
          </a:xfrm>
          <a:prstGeom prst="rect">
            <a:avLst/>
          </a:prstGeom>
          <a:solidFill>
            <a:srgbClr val="F4F2FF"/>
          </a:solidFill>
          <a:ln/>
        </p:spPr>
      </p:sp>
      <p:sp>
        <p:nvSpPr>
          <p:cNvPr id="6" name="Shape 4"/>
          <p:cNvSpPr/>
          <p:nvPr/>
        </p:nvSpPr>
        <p:spPr>
          <a:xfrm>
            <a:off x="960120" y="1920240"/>
            <a:ext cx="566928" cy="566928"/>
          </a:xfrm>
          <a:prstGeom prst="ellipse">
            <a:avLst/>
          </a:prstGeom>
          <a:solidFill>
            <a:srgbClr val="4C3BCF"/>
          </a:solidFill>
          <a:ln/>
        </p:spPr>
      </p:sp>
      <p:pic>
        <p:nvPicPr>
          <p:cNvPr id="7" name="Image 0" descr="preencoded.png"/>
          <p:cNvPicPr>
            <a:picLocks noChangeAspect="1"/>
          </p:cNvPicPr>
          <p:nvPr/>
        </p:nvPicPr>
        <p:blipFill>
          <a:blip r:embed="rId3"/>
          <a:stretch>
            <a:fillRect/>
          </a:stretch>
        </p:blipFill>
        <p:spPr>
          <a:xfrm>
            <a:off x="1045159" y="2005279"/>
            <a:ext cx="396850" cy="396850"/>
          </a:xfrm>
          <a:prstGeom prst="rect">
            <a:avLst/>
          </a:prstGeom>
        </p:spPr>
      </p:pic>
      <p:sp>
        <p:nvSpPr>
          <p:cNvPr id="8" name="Text 5"/>
          <p:cNvSpPr/>
          <p:nvPr/>
        </p:nvSpPr>
        <p:spPr>
          <a:xfrm>
            <a:off x="512064" y="2651760"/>
            <a:ext cx="1463040" cy="320040"/>
          </a:xfrm>
          <a:prstGeom prst="rect">
            <a:avLst/>
          </a:prstGeom>
          <a:noFill/>
          <a:ln/>
        </p:spPr>
        <p:txBody>
          <a:bodyPr wrap="square" rtlCol="0" anchor="ctr"/>
          <a:lstStyle/>
          <a:p>
            <a:pPr marL="0" indent="0" algn="ctr">
              <a:buNone/>
            </a:pPr>
            <a:r>
              <a:rPr lang="en-US" sz="1150" b="1" dirty="0">
                <a:solidFill>
                  <a:srgbClr val="342B81"/>
                </a:solidFill>
                <a:latin typeface="Calibri" pitchFamily="34" charset="0"/>
                <a:ea typeface="Calibri" pitchFamily="34" charset="-122"/>
                <a:cs typeface="Calibri" pitchFamily="34" charset="-120"/>
              </a:rPr>
              <a:t>Visibility</a:t>
            </a:r>
            <a:endParaRPr lang="en-US" sz="1150" dirty="0"/>
          </a:p>
        </p:txBody>
      </p:sp>
      <p:sp>
        <p:nvSpPr>
          <p:cNvPr id="9" name="Text 6"/>
          <p:cNvSpPr/>
          <p:nvPr/>
        </p:nvSpPr>
        <p:spPr>
          <a:xfrm>
            <a:off x="548640" y="3017520"/>
            <a:ext cx="1389888" cy="1508760"/>
          </a:xfrm>
          <a:prstGeom prst="rect">
            <a:avLst/>
          </a:prstGeom>
          <a:noFill/>
          <a:ln/>
        </p:spPr>
        <p:txBody>
          <a:bodyPr wrap="square" rtlCol="0" anchor="ctr"/>
          <a:lstStyle/>
          <a:p>
            <a:pPr marL="0" indent="0" algn="ctr">
              <a:buNone/>
            </a:pPr>
            <a:r>
              <a:rPr lang="en-US" sz="860" dirty="0">
                <a:solidFill>
                  <a:srgbClr val="22223B"/>
                </a:solidFill>
                <a:latin typeface="Calibri" pitchFamily="34" charset="0"/>
                <a:ea typeface="Calibri" pitchFamily="34" charset="-122"/>
                <a:cs typeface="Calibri" pitchFamily="34" charset="-120"/>
              </a:rPr>
              <a:t>Relevant controls and information should be visible to the user</a:t>
            </a:r>
            <a:endParaRPr lang="en-US" sz="860" dirty="0"/>
          </a:p>
        </p:txBody>
      </p:sp>
      <p:sp>
        <p:nvSpPr>
          <p:cNvPr id="10" name="Shape 7"/>
          <p:cNvSpPr/>
          <p:nvPr/>
        </p:nvSpPr>
        <p:spPr>
          <a:xfrm>
            <a:off x="2167128" y="1691640"/>
            <a:ext cx="1572768" cy="2926080"/>
          </a:xfrm>
          <a:prstGeom prst="rect">
            <a:avLst/>
          </a:prstGeom>
          <a:solidFill>
            <a:srgbClr val="EFEBFF"/>
          </a:solidFill>
          <a:ln/>
        </p:spPr>
      </p:sp>
      <p:sp>
        <p:nvSpPr>
          <p:cNvPr id="11" name="Shape 8"/>
          <p:cNvSpPr/>
          <p:nvPr/>
        </p:nvSpPr>
        <p:spPr>
          <a:xfrm>
            <a:off x="2670048" y="1920240"/>
            <a:ext cx="566928" cy="566928"/>
          </a:xfrm>
          <a:prstGeom prst="ellipse">
            <a:avLst/>
          </a:prstGeom>
          <a:solidFill>
            <a:srgbClr val="4C3BCF"/>
          </a:solidFill>
          <a:ln/>
        </p:spPr>
      </p:sp>
      <p:pic>
        <p:nvPicPr>
          <p:cNvPr id="12" name="Image 1" descr="preencoded.png"/>
          <p:cNvPicPr>
            <a:picLocks noChangeAspect="1"/>
          </p:cNvPicPr>
          <p:nvPr/>
        </p:nvPicPr>
        <p:blipFill>
          <a:blip r:embed="rId4"/>
          <a:stretch>
            <a:fillRect/>
          </a:stretch>
        </p:blipFill>
        <p:spPr>
          <a:xfrm>
            <a:off x="2755087" y="2005279"/>
            <a:ext cx="396850" cy="396850"/>
          </a:xfrm>
          <a:prstGeom prst="rect">
            <a:avLst/>
          </a:prstGeom>
        </p:spPr>
      </p:pic>
      <p:sp>
        <p:nvSpPr>
          <p:cNvPr id="13" name="Text 9"/>
          <p:cNvSpPr/>
          <p:nvPr/>
        </p:nvSpPr>
        <p:spPr>
          <a:xfrm>
            <a:off x="2221992" y="2651760"/>
            <a:ext cx="1463040" cy="320040"/>
          </a:xfrm>
          <a:prstGeom prst="rect">
            <a:avLst/>
          </a:prstGeom>
          <a:noFill/>
          <a:ln/>
        </p:spPr>
        <p:txBody>
          <a:bodyPr wrap="square" rtlCol="0" anchor="ctr"/>
          <a:lstStyle/>
          <a:p>
            <a:pPr marL="0" indent="0" algn="ctr">
              <a:buNone/>
            </a:pPr>
            <a:r>
              <a:rPr lang="en-US" sz="1150" b="1" dirty="0">
                <a:solidFill>
                  <a:srgbClr val="342B81"/>
                </a:solidFill>
                <a:latin typeface="Calibri" pitchFamily="34" charset="0"/>
                <a:ea typeface="Calibri" pitchFamily="34" charset="-122"/>
                <a:cs typeface="Calibri" pitchFamily="34" charset="-120"/>
              </a:rPr>
              <a:t>Feedback</a:t>
            </a:r>
            <a:endParaRPr lang="en-US" sz="1150" dirty="0"/>
          </a:p>
        </p:txBody>
      </p:sp>
      <p:sp>
        <p:nvSpPr>
          <p:cNvPr id="14" name="Text 10"/>
          <p:cNvSpPr/>
          <p:nvPr/>
        </p:nvSpPr>
        <p:spPr>
          <a:xfrm>
            <a:off x="2258568" y="3017520"/>
            <a:ext cx="1389888" cy="1508760"/>
          </a:xfrm>
          <a:prstGeom prst="rect">
            <a:avLst/>
          </a:prstGeom>
          <a:noFill/>
          <a:ln/>
        </p:spPr>
        <p:txBody>
          <a:bodyPr wrap="square" rtlCol="0" anchor="ctr"/>
          <a:lstStyle/>
          <a:p>
            <a:pPr marL="0" indent="0" algn="ctr">
              <a:buNone/>
            </a:pPr>
            <a:r>
              <a:rPr lang="en-US" sz="860" dirty="0">
                <a:solidFill>
                  <a:srgbClr val="22223B"/>
                </a:solidFill>
                <a:latin typeface="Calibri" pitchFamily="34" charset="0"/>
                <a:ea typeface="Calibri" pitchFamily="34" charset="-122"/>
                <a:cs typeface="Calibri" pitchFamily="34" charset="-120"/>
              </a:rPr>
              <a:t>Every action should produce a clear, immediate response</a:t>
            </a:r>
            <a:endParaRPr lang="en-US" sz="860" dirty="0"/>
          </a:p>
        </p:txBody>
      </p:sp>
      <p:sp>
        <p:nvSpPr>
          <p:cNvPr id="15" name="Shape 11"/>
          <p:cNvSpPr/>
          <p:nvPr/>
        </p:nvSpPr>
        <p:spPr>
          <a:xfrm>
            <a:off x="3877056" y="1691640"/>
            <a:ext cx="1572768" cy="2926080"/>
          </a:xfrm>
          <a:prstGeom prst="rect">
            <a:avLst/>
          </a:prstGeom>
          <a:solidFill>
            <a:srgbClr val="F4F2FF"/>
          </a:solidFill>
          <a:ln/>
        </p:spPr>
      </p:sp>
      <p:sp>
        <p:nvSpPr>
          <p:cNvPr id="16" name="Shape 12"/>
          <p:cNvSpPr/>
          <p:nvPr/>
        </p:nvSpPr>
        <p:spPr>
          <a:xfrm>
            <a:off x="4379976" y="1920240"/>
            <a:ext cx="566928" cy="566928"/>
          </a:xfrm>
          <a:prstGeom prst="ellipse">
            <a:avLst/>
          </a:prstGeom>
          <a:solidFill>
            <a:srgbClr val="4C3BCF"/>
          </a:solidFill>
          <a:ln/>
        </p:spPr>
      </p:sp>
      <p:pic>
        <p:nvPicPr>
          <p:cNvPr id="17" name="Image 2" descr="preencoded.png"/>
          <p:cNvPicPr>
            <a:picLocks noChangeAspect="1"/>
          </p:cNvPicPr>
          <p:nvPr/>
        </p:nvPicPr>
        <p:blipFill>
          <a:blip r:embed="rId5"/>
          <a:stretch>
            <a:fillRect/>
          </a:stretch>
        </p:blipFill>
        <p:spPr>
          <a:xfrm>
            <a:off x="4465015" y="2005279"/>
            <a:ext cx="396850" cy="396850"/>
          </a:xfrm>
          <a:prstGeom prst="rect">
            <a:avLst/>
          </a:prstGeom>
        </p:spPr>
      </p:pic>
      <p:sp>
        <p:nvSpPr>
          <p:cNvPr id="18" name="Text 13"/>
          <p:cNvSpPr/>
          <p:nvPr/>
        </p:nvSpPr>
        <p:spPr>
          <a:xfrm>
            <a:off x="3931920" y="2651760"/>
            <a:ext cx="1463040" cy="320040"/>
          </a:xfrm>
          <a:prstGeom prst="rect">
            <a:avLst/>
          </a:prstGeom>
          <a:noFill/>
          <a:ln/>
        </p:spPr>
        <p:txBody>
          <a:bodyPr wrap="square" rtlCol="0" anchor="ctr"/>
          <a:lstStyle/>
          <a:p>
            <a:pPr marL="0" indent="0" algn="ctr">
              <a:buNone/>
            </a:pPr>
            <a:r>
              <a:rPr lang="en-US" sz="1150" b="1" dirty="0">
                <a:solidFill>
                  <a:srgbClr val="342B81"/>
                </a:solidFill>
                <a:latin typeface="Calibri" pitchFamily="34" charset="0"/>
                <a:ea typeface="Calibri" pitchFamily="34" charset="-122"/>
                <a:cs typeface="Calibri" pitchFamily="34" charset="-120"/>
              </a:rPr>
              <a:t>Constraints</a:t>
            </a:r>
            <a:endParaRPr lang="en-US" sz="1150" dirty="0"/>
          </a:p>
        </p:txBody>
      </p:sp>
      <p:sp>
        <p:nvSpPr>
          <p:cNvPr id="19" name="Text 14"/>
          <p:cNvSpPr/>
          <p:nvPr/>
        </p:nvSpPr>
        <p:spPr>
          <a:xfrm>
            <a:off x="3968496" y="3017520"/>
            <a:ext cx="1389888" cy="1508760"/>
          </a:xfrm>
          <a:prstGeom prst="rect">
            <a:avLst/>
          </a:prstGeom>
          <a:noFill/>
          <a:ln/>
        </p:spPr>
        <p:txBody>
          <a:bodyPr wrap="square" rtlCol="0" anchor="ctr"/>
          <a:lstStyle/>
          <a:p>
            <a:pPr marL="0" indent="0" algn="ctr">
              <a:buNone/>
            </a:pPr>
            <a:r>
              <a:rPr lang="en-US" sz="860" dirty="0">
                <a:solidFill>
                  <a:srgbClr val="22223B"/>
                </a:solidFill>
                <a:latin typeface="Calibri" pitchFamily="34" charset="0"/>
                <a:ea typeface="Calibri" pitchFamily="34" charset="-122"/>
                <a:cs typeface="Calibri" pitchFamily="34" charset="-120"/>
              </a:rPr>
              <a:t>Limiting possible actions reduces the chance of error</a:t>
            </a:r>
            <a:endParaRPr lang="en-US" sz="860" dirty="0"/>
          </a:p>
        </p:txBody>
      </p:sp>
      <p:sp>
        <p:nvSpPr>
          <p:cNvPr id="20" name="Shape 15"/>
          <p:cNvSpPr/>
          <p:nvPr/>
        </p:nvSpPr>
        <p:spPr>
          <a:xfrm>
            <a:off x="5586984" y="1691640"/>
            <a:ext cx="1572768" cy="2926080"/>
          </a:xfrm>
          <a:prstGeom prst="rect">
            <a:avLst/>
          </a:prstGeom>
          <a:solidFill>
            <a:srgbClr val="EFEBFF"/>
          </a:solidFill>
          <a:ln/>
        </p:spPr>
      </p:sp>
      <p:sp>
        <p:nvSpPr>
          <p:cNvPr id="21" name="Shape 16"/>
          <p:cNvSpPr/>
          <p:nvPr/>
        </p:nvSpPr>
        <p:spPr>
          <a:xfrm>
            <a:off x="6089904" y="1920240"/>
            <a:ext cx="566928" cy="566928"/>
          </a:xfrm>
          <a:prstGeom prst="ellipse">
            <a:avLst/>
          </a:prstGeom>
          <a:solidFill>
            <a:srgbClr val="4C3BCF"/>
          </a:solidFill>
          <a:ln/>
        </p:spPr>
      </p:sp>
      <p:pic>
        <p:nvPicPr>
          <p:cNvPr id="22" name="Image 3" descr="preencoded.png"/>
          <p:cNvPicPr>
            <a:picLocks noChangeAspect="1"/>
          </p:cNvPicPr>
          <p:nvPr/>
        </p:nvPicPr>
        <p:blipFill>
          <a:blip r:embed="rId6"/>
          <a:stretch>
            <a:fillRect/>
          </a:stretch>
        </p:blipFill>
        <p:spPr>
          <a:xfrm>
            <a:off x="6174943" y="2005279"/>
            <a:ext cx="396850" cy="396850"/>
          </a:xfrm>
          <a:prstGeom prst="rect">
            <a:avLst/>
          </a:prstGeom>
        </p:spPr>
      </p:pic>
      <p:sp>
        <p:nvSpPr>
          <p:cNvPr id="23" name="Text 17"/>
          <p:cNvSpPr/>
          <p:nvPr/>
        </p:nvSpPr>
        <p:spPr>
          <a:xfrm>
            <a:off x="5641848" y="2651760"/>
            <a:ext cx="1463040" cy="320040"/>
          </a:xfrm>
          <a:prstGeom prst="rect">
            <a:avLst/>
          </a:prstGeom>
          <a:noFill/>
          <a:ln/>
        </p:spPr>
        <p:txBody>
          <a:bodyPr wrap="square" rtlCol="0" anchor="ctr"/>
          <a:lstStyle/>
          <a:p>
            <a:pPr marL="0" indent="0" algn="ctr">
              <a:buNone/>
            </a:pPr>
            <a:r>
              <a:rPr lang="en-US" sz="1150" b="1" dirty="0">
                <a:solidFill>
                  <a:srgbClr val="342B81"/>
                </a:solidFill>
                <a:latin typeface="Calibri" pitchFamily="34" charset="0"/>
                <a:ea typeface="Calibri" pitchFamily="34" charset="-122"/>
                <a:cs typeface="Calibri" pitchFamily="34" charset="-120"/>
              </a:rPr>
              <a:t>Consistency</a:t>
            </a:r>
            <a:endParaRPr lang="en-US" sz="1150" dirty="0"/>
          </a:p>
        </p:txBody>
      </p:sp>
      <p:sp>
        <p:nvSpPr>
          <p:cNvPr id="24" name="Text 18"/>
          <p:cNvSpPr/>
          <p:nvPr/>
        </p:nvSpPr>
        <p:spPr>
          <a:xfrm>
            <a:off x="5678424" y="3017520"/>
            <a:ext cx="1389888" cy="1508760"/>
          </a:xfrm>
          <a:prstGeom prst="rect">
            <a:avLst/>
          </a:prstGeom>
          <a:noFill/>
          <a:ln/>
        </p:spPr>
        <p:txBody>
          <a:bodyPr wrap="square" rtlCol="0" anchor="ctr"/>
          <a:lstStyle/>
          <a:p>
            <a:pPr marL="0" indent="0" algn="ctr">
              <a:buNone/>
            </a:pPr>
            <a:r>
              <a:rPr lang="en-US" sz="860" dirty="0">
                <a:solidFill>
                  <a:srgbClr val="22223B"/>
                </a:solidFill>
                <a:latin typeface="Calibri" pitchFamily="34" charset="0"/>
                <a:ea typeface="Calibri" pitchFamily="34" charset="-122"/>
                <a:cs typeface="Calibri" pitchFamily="34" charset="-120"/>
              </a:rPr>
              <a:t>Similar operations and elements should behave the same way</a:t>
            </a:r>
            <a:endParaRPr lang="en-US" sz="860" dirty="0"/>
          </a:p>
        </p:txBody>
      </p:sp>
      <p:sp>
        <p:nvSpPr>
          <p:cNvPr id="25" name="Shape 19"/>
          <p:cNvSpPr/>
          <p:nvPr/>
        </p:nvSpPr>
        <p:spPr>
          <a:xfrm>
            <a:off x="7296912" y="1691640"/>
            <a:ext cx="1572768" cy="2926080"/>
          </a:xfrm>
          <a:prstGeom prst="rect">
            <a:avLst/>
          </a:prstGeom>
          <a:solidFill>
            <a:srgbClr val="F4F2FF"/>
          </a:solidFill>
          <a:ln/>
        </p:spPr>
      </p:sp>
      <p:sp>
        <p:nvSpPr>
          <p:cNvPr id="26" name="Shape 20"/>
          <p:cNvSpPr/>
          <p:nvPr/>
        </p:nvSpPr>
        <p:spPr>
          <a:xfrm>
            <a:off x="7799832" y="1920240"/>
            <a:ext cx="566928" cy="566928"/>
          </a:xfrm>
          <a:prstGeom prst="ellipse">
            <a:avLst/>
          </a:prstGeom>
          <a:solidFill>
            <a:srgbClr val="4C3BCF"/>
          </a:solidFill>
          <a:ln/>
        </p:spPr>
      </p:sp>
      <p:pic>
        <p:nvPicPr>
          <p:cNvPr id="27" name="Image 4" descr="preencoded.png"/>
          <p:cNvPicPr>
            <a:picLocks noChangeAspect="1"/>
          </p:cNvPicPr>
          <p:nvPr/>
        </p:nvPicPr>
        <p:blipFill>
          <a:blip r:embed="rId7"/>
          <a:stretch>
            <a:fillRect/>
          </a:stretch>
        </p:blipFill>
        <p:spPr>
          <a:xfrm>
            <a:off x="7884871" y="2005279"/>
            <a:ext cx="396850" cy="396850"/>
          </a:xfrm>
          <a:prstGeom prst="rect">
            <a:avLst/>
          </a:prstGeom>
        </p:spPr>
      </p:pic>
      <p:sp>
        <p:nvSpPr>
          <p:cNvPr id="28" name="Text 21"/>
          <p:cNvSpPr/>
          <p:nvPr/>
        </p:nvSpPr>
        <p:spPr>
          <a:xfrm>
            <a:off x="7351776" y="2651760"/>
            <a:ext cx="1463040" cy="320040"/>
          </a:xfrm>
          <a:prstGeom prst="rect">
            <a:avLst/>
          </a:prstGeom>
          <a:noFill/>
          <a:ln/>
        </p:spPr>
        <p:txBody>
          <a:bodyPr wrap="square" rtlCol="0" anchor="ctr"/>
          <a:lstStyle/>
          <a:p>
            <a:pPr marL="0" indent="0" algn="ctr">
              <a:buNone/>
            </a:pPr>
            <a:r>
              <a:rPr lang="en-US" sz="1150" b="1" dirty="0">
                <a:solidFill>
                  <a:srgbClr val="342B81"/>
                </a:solidFill>
                <a:latin typeface="Calibri" pitchFamily="34" charset="0"/>
                <a:ea typeface="Calibri" pitchFamily="34" charset="-122"/>
                <a:cs typeface="Calibri" pitchFamily="34" charset="-120"/>
              </a:rPr>
              <a:t>Affordance</a:t>
            </a:r>
            <a:endParaRPr lang="en-US" sz="1150" dirty="0"/>
          </a:p>
        </p:txBody>
      </p:sp>
      <p:sp>
        <p:nvSpPr>
          <p:cNvPr id="29" name="Text 22"/>
          <p:cNvSpPr/>
          <p:nvPr/>
        </p:nvSpPr>
        <p:spPr>
          <a:xfrm>
            <a:off x="7388352" y="3017520"/>
            <a:ext cx="1389888" cy="1508760"/>
          </a:xfrm>
          <a:prstGeom prst="rect">
            <a:avLst/>
          </a:prstGeom>
          <a:noFill/>
          <a:ln/>
        </p:spPr>
        <p:txBody>
          <a:bodyPr wrap="square" rtlCol="0" anchor="ctr"/>
          <a:lstStyle/>
          <a:p>
            <a:pPr marL="0" indent="0" algn="ctr">
              <a:buNone/>
            </a:pPr>
            <a:r>
              <a:rPr lang="en-US" sz="860" dirty="0">
                <a:solidFill>
                  <a:srgbClr val="22223B"/>
                </a:solidFill>
                <a:latin typeface="Calibri" pitchFamily="34" charset="0"/>
                <a:ea typeface="Calibri" pitchFamily="34" charset="-122"/>
                <a:cs typeface="Calibri" pitchFamily="34" charset="-120"/>
              </a:rPr>
              <a:t>An object's appearance should suggest how it is used</a:t>
            </a:r>
            <a:endParaRPr lang="en-US" sz="860" dirty="0"/>
          </a:p>
        </p:txBody>
      </p:sp>
      <p:sp>
        <p:nvSpPr>
          <p:cNvPr id="30" name="Text 23"/>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31" name="Text 24"/>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21 / 29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1.8 DESIGN PRINCIPLES — 1 OF 5</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Principle: Visibility</a:t>
            </a:r>
            <a:endParaRPr lang="en-US" sz="2600" dirty="0"/>
          </a:p>
        </p:txBody>
      </p:sp>
      <p:sp>
        <p:nvSpPr>
          <p:cNvPr id="4" name="Shape 2"/>
          <p:cNvSpPr/>
          <p:nvPr/>
        </p:nvSpPr>
        <p:spPr>
          <a:xfrm>
            <a:off x="457200" y="1417320"/>
            <a:ext cx="914400" cy="914400"/>
          </a:xfrm>
          <a:prstGeom prst="ellipse">
            <a:avLst/>
          </a:prstGeom>
          <a:solidFill>
            <a:srgbClr val="4C3BCF"/>
          </a:solidFill>
          <a:ln/>
        </p:spPr>
      </p:sp>
      <p:pic>
        <p:nvPicPr>
          <p:cNvPr id="5" name="Image 0" descr="preencoded.png"/>
          <p:cNvPicPr>
            <a:picLocks noChangeAspect="1"/>
          </p:cNvPicPr>
          <p:nvPr/>
        </p:nvPicPr>
        <p:blipFill>
          <a:blip r:embed="rId3"/>
          <a:stretch>
            <a:fillRect/>
          </a:stretch>
        </p:blipFill>
        <p:spPr>
          <a:xfrm>
            <a:off x="594360" y="1554480"/>
            <a:ext cx="640080" cy="640080"/>
          </a:xfrm>
          <a:prstGeom prst="rect">
            <a:avLst/>
          </a:prstGeom>
        </p:spPr>
      </p:pic>
      <p:sp>
        <p:nvSpPr>
          <p:cNvPr id="6" name="Text 3"/>
          <p:cNvSpPr/>
          <p:nvPr/>
        </p:nvSpPr>
        <p:spPr>
          <a:xfrm>
            <a:off x="1600200" y="1463040"/>
            <a:ext cx="7040880" cy="822960"/>
          </a:xfrm>
          <a:prstGeom prst="rect">
            <a:avLst/>
          </a:prstGeom>
          <a:noFill/>
          <a:ln/>
        </p:spPr>
        <p:txBody>
          <a:bodyPr wrap="square" rtlCol="0" anchor="ctr"/>
          <a:lstStyle/>
          <a:p>
            <a:pPr marL="0" indent="0">
              <a:buNone/>
            </a:pPr>
            <a:r>
              <a:rPr lang="en-US" sz="1400" i="1" dirty="0">
                <a:solidFill>
                  <a:srgbClr val="342B81"/>
                </a:solidFill>
                <a:latin typeface="Calibri" pitchFamily="34" charset="0"/>
                <a:ea typeface="Calibri" pitchFamily="34" charset="-122"/>
                <a:cs typeface="Calibri" pitchFamily="34" charset="-120"/>
              </a:rPr>
              <a:t>The more visible a function is, the more likely users will know it exists and how to use it.</a:t>
            </a:r>
            <a:endParaRPr lang="en-US" sz="1400" dirty="0"/>
          </a:p>
        </p:txBody>
      </p:sp>
      <p:sp>
        <p:nvSpPr>
          <p:cNvPr id="7" name="Text 4"/>
          <p:cNvSpPr/>
          <p:nvPr/>
        </p:nvSpPr>
        <p:spPr>
          <a:xfrm>
            <a:off x="457200" y="2468880"/>
            <a:ext cx="8229600" cy="1645920"/>
          </a:xfrm>
          <a:prstGeom prst="rect">
            <a:avLst/>
          </a:prstGeom>
          <a:noFill/>
          <a:ln/>
        </p:spPr>
        <p:txBody>
          <a:bodyPr wrap="square" rtlCol="0" anchor="ctr"/>
          <a:lstStyle/>
          <a:p>
            <a:pPr marL="342900" indent="-342900">
              <a:spcAft>
                <a:spcPts val="1000"/>
              </a:spcAft>
              <a:buSzPct val="100000"/>
              <a:buChar char="●"/>
            </a:pPr>
            <a:r>
              <a:rPr lang="en-US" sz="1300" dirty="0">
                <a:solidFill>
                  <a:srgbClr val="22223B"/>
                </a:solidFill>
                <a:latin typeface="Calibri" pitchFamily="34" charset="0"/>
                <a:ea typeface="Calibri" pitchFamily="34" charset="-122"/>
                <a:cs typeface="Calibri" pitchFamily="34" charset="-120"/>
              </a:rPr>
              <a:t>Hidden or buried functions are functions users never discover</a:t>
            </a:r>
            <a:endParaRPr lang="en-US" sz="1300" dirty="0"/>
          </a:p>
          <a:p>
            <a:pPr marL="342900" indent="-342900">
              <a:spcAft>
                <a:spcPts val="1000"/>
              </a:spcAft>
              <a:buSzPct val="100000"/>
              <a:buChar char="●"/>
            </a:pPr>
            <a:r>
              <a:rPr lang="en-US" sz="1300" dirty="0">
                <a:solidFill>
                  <a:srgbClr val="22223B"/>
                </a:solidFill>
                <a:latin typeface="Calibri" pitchFamily="34" charset="0"/>
                <a:ea typeface="Calibri" pitchFamily="34" charset="-122"/>
                <a:cs typeface="Calibri" pitchFamily="34" charset="-120"/>
              </a:rPr>
              <a:t>Example: a clearly visible “Save” icon vs. a save function buried three menus deep</a:t>
            </a:r>
            <a:endParaRPr lang="en-US" sz="1300" dirty="0"/>
          </a:p>
          <a:p>
            <a:pPr marL="342900" indent="-342900">
              <a:spcAft>
                <a:spcPts val="1000"/>
              </a:spcAft>
              <a:buSzPct val="100000"/>
              <a:buChar char="●"/>
            </a:pPr>
            <a:r>
              <a:rPr lang="en-US" sz="1300" dirty="0">
                <a:solidFill>
                  <a:srgbClr val="22223B"/>
                </a:solidFill>
                <a:latin typeface="Calibri" pitchFamily="34" charset="0"/>
                <a:ea typeface="Calibri" pitchFamily="34" charset="-122"/>
                <a:cs typeface="Calibri" pitchFamily="34" charset="-120"/>
              </a:rPr>
              <a:t>Physical controls (buttons, switches) are inherently more visible than gestures with no visual cue</a:t>
            </a:r>
            <a:endParaRPr lang="en-US" sz="1300" dirty="0"/>
          </a:p>
        </p:txBody>
      </p:sp>
      <p:sp>
        <p:nvSpPr>
          <p:cNvPr id="8" name="Text 5"/>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9" name="Text 6"/>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22 / 29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1.8 DESIGN PRINCIPLES — 2 OF 5</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Principle: Feedback</a:t>
            </a:r>
            <a:endParaRPr lang="en-US" sz="2600" dirty="0"/>
          </a:p>
        </p:txBody>
      </p:sp>
      <p:sp>
        <p:nvSpPr>
          <p:cNvPr id="4" name="Shape 2"/>
          <p:cNvSpPr/>
          <p:nvPr/>
        </p:nvSpPr>
        <p:spPr>
          <a:xfrm>
            <a:off x="457200" y="1417320"/>
            <a:ext cx="914400" cy="914400"/>
          </a:xfrm>
          <a:prstGeom prst="ellipse">
            <a:avLst/>
          </a:prstGeom>
          <a:solidFill>
            <a:srgbClr val="4C3BCF"/>
          </a:solidFill>
          <a:ln/>
        </p:spPr>
      </p:sp>
      <p:pic>
        <p:nvPicPr>
          <p:cNvPr id="5" name="Image 0" descr="preencoded.png"/>
          <p:cNvPicPr>
            <a:picLocks noChangeAspect="1"/>
          </p:cNvPicPr>
          <p:nvPr/>
        </p:nvPicPr>
        <p:blipFill>
          <a:blip r:embed="rId3"/>
          <a:stretch>
            <a:fillRect/>
          </a:stretch>
        </p:blipFill>
        <p:spPr>
          <a:xfrm>
            <a:off x="594360" y="1554480"/>
            <a:ext cx="640080" cy="640080"/>
          </a:xfrm>
          <a:prstGeom prst="rect">
            <a:avLst/>
          </a:prstGeom>
        </p:spPr>
      </p:pic>
      <p:sp>
        <p:nvSpPr>
          <p:cNvPr id="6" name="Text 3"/>
          <p:cNvSpPr/>
          <p:nvPr/>
        </p:nvSpPr>
        <p:spPr>
          <a:xfrm>
            <a:off x="1600200" y="1463040"/>
            <a:ext cx="7040880" cy="822960"/>
          </a:xfrm>
          <a:prstGeom prst="rect">
            <a:avLst/>
          </a:prstGeom>
          <a:noFill/>
          <a:ln/>
        </p:spPr>
        <p:txBody>
          <a:bodyPr wrap="square" rtlCol="0" anchor="ctr"/>
          <a:lstStyle/>
          <a:p>
            <a:pPr marL="0" indent="0">
              <a:buNone/>
            </a:pPr>
            <a:r>
              <a:rPr lang="en-US" sz="1400" i="1" dirty="0">
                <a:solidFill>
                  <a:srgbClr val="342B81"/>
                </a:solidFill>
                <a:latin typeface="Calibri" pitchFamily="34" charset="0"/>
                <a:ea typeface="Calibri" pitchFamily="34" charset="-122"/>
                <a:cs typeface="Calibri" pitchFamily="34" charset="-120"/>
              </a:rPr>
              <a:t>Sending information back to the user about what action has been done and what has been accomplished.</a:t>
            </a:r>
            <a:endParaRPr lang="en-US" sz="1400" dirty="0"/>
          </a:p>
        </p:txBody>
      </p:sp>
      <p:sp>
        <p:nvSpPr>
          <p:cNvPr id="7" name="Text 4"/>
          <p:cNvSpPr/>
          <p:nvPr/>
        </p:nvSpPr>
        <p:spPr>
          <a:xfrm>
            <a:off x="457200" y="2468880"/>
            <a:ext cx="8229600" cy="1645920"/>
          </a:xfrm>
          <a:prstGeom prst="rect">
            <a:avLst/>
          </a:prstGeom>
          <a:noFill/>
          <a:ln/>
        </p:spPr>
        <p:txBody>
          <a:bodyPr wrap="square" rtlCol="0" anchor="ctr"/>
          <a:lstStyle/>
          <a:p>
            <a:pPr marL="342900" indent="-342900">
              <a:spcAft>
                <a:spcPts val="1000"/>
              </a:spcAft>
              <a:buSzPct val="100000"/>
              <a:buChar char="●"/>
            </a:pPr>
            <a:r>
              <a:rPr lang="en-US" sz="1300" dirty="0">
                <a:solidFill>
                  <a:srgbClr val="22223B"/>
                </a:solidFill>
                <a:latin typeface="Calibri" pitchFamily="34" charset="0"/>
                <a:ea typeface="Calibri" pitchFamily="34" charset="-122"/>
                <a:cs typeface="Calibri" pitchFamily="34" charset="-120"/>
              </a:rPr>
              <a:t>Can combine sound, visual highlighting, animation, and text messages</a:t>
            </a:r>
            <a:endParaRPr lang="en-US" sz="1300" dirty="0"/>
          </a:p>
          <a:p>
            <a:pPr marL="342900" indent="-342900">
              <a:spcAft>
                <a:spcPts val="1000"/>
              </a:spcAft>
              <a:buSzPct val="100000"/>
              <a:buChar char="●"/>
            </a:pPr>
            <a:r>
              <a:rPr lang="en-US" sz="1300" dirty="0">
                <a:solidFill>
                  <a:srgbClr val="22223B"/>
                </a:solidFill>
                <a:latin typeface="Calibri" pitchFamily="34" charset="0"/>
                <a:ea typeface="Calibri" pitchFamily="34" charset="-122"/>
                <a:cs typeface="Calibri" pitchFamily="34" charset="-120"/>
              </a:rPr>
              <a:t>Example: a button that changes colour when pressed, or a progress bar during upload</a:t>
            </a:r>
            <a:endParaRPr lang="en-US" sz="1300" dirty="0"/>
          </a:p>
          <a:p>
            <a:pPr marL="342900" indent="-342900">
              <a:spcAft>
                <a:spcPts val="1000"/>
              </a:spcAft>
              <a:buSzPct val="100000"/>
              <a:buChar char="●"/>
            </a:pPr>
            <a:r>
              <a:rPr lang="en-US" sz="1300" dirty="0">
                <a:solidFill>
                  <a:srgbClr val="22223B"/>
                </a:solidFill>
                <a:latin typeface="Calibri" pitchFamily="34" charset="0"/>
                <a:ea typeface="Calibri" pitchFamily="34" charset="-122"/>
                <a:cs typeface="Calibri" pitchFamily="34" charset="-120"/>
              </a:rPr>
              <a:t>Without feedback, users repeat actions unnecessarily or assume the system has failed</a:t>
            </a:r>
            <a:endParaRPr lang="en-US" sz="1300" dirty="0"/>
          </a:p>
        </p:txBody>
      </p:sp>
      <p:sp>
        <p:nvSpPr>
          <p:cNvPr id="8" name="Text 5"/>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9" name="Text 6"/>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23 / 29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1.8 DESIGN PRINCIPLES — 3 OF 5</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Principle: Constraints</a:t>
            </a:r>
            <a:endParaRPr lang="en-US" sz="2600" dirty="0"/>
          </a:p>
        </p:txBody>
      </p:sp>
      <p:sp>
        <p:nvSpPr>
          <p:cNvPr id="4" name="Shape 2"/>
          <p:cNvSpPr/>
          <p:nvPr/>
        </p:nvSpPr>
        <p:spPr>
          <a:xfrm>
            <a:off x="457200" y="1371600"/>
            <a:ext cx="914400" cy="914400"/>
          </a:xfrm>
          <a:prstGeom prst="ellipse">
            <a:avLst/>
          </a:prstGeom>
          <a:solidFill>
            <a:srgbClr val="4C3BCF"/>
          </a:solidFill>
          <a:ln/>
        </p:spPr>
      </p:sp>
      <p:pic>
        <p:nvPicPr>
          <p:cNvPr id="5" name="Image 0" descr="preencoded.png"/>
          <p:cNvPicPr>
            <a:picLocks noChangeAspect="1"/>
          </p:cNvPicPr>
          <p:nvPr/>
        </p:nvPicPr>
        <p:blipFill>
          <a:blip r:embed="rId3"/>
          <a:stretch>
            <a:fillRect/>
          </a:stretch>
        </p:blipFill>
        <p:spPr>
          <a:xfrm>
            <a:off x="594360" y="1508760"/>
            <a:ext cx="640080" cy="640080"/>
          </a:xfrm>
          <a:prstGeom prst="rect">
            <a:avLst/>
          </a:prstGeom>
        </p:spPr>
      </p:pic>
      <p:sp>
        <p:nvSpPr>
          <p:cNvPr id="6" name="Text 3"/>
          <p:cNvSpPr/>
          <p:nvPr/>
        </p:nvSpPr>
        <p:spPr>
          <a:xfrm>
            <a:off x="1600200" y="1417320"/>
            <a:ext cx="7040880" cy="822960"/>
          </a:xfrm>
          <a:prstGeom prst="rect">
            <a:avLst/>
          </a:prstGeom>
          <a:noFill/>
          <a:ln/>
        </p:spPr>
        <p:txBody>
          <a:bodyPr wrap="square" rtlCol="0" anchor="ctr"/>
          <a:lstStyle/>
          <a:p>
            <a:pPr marL="0" indent="0">
              <a:buNone/>
            </a:pPr>
            <a:r>
              <a:rPr lang="en-US" sz="1400" i="1" dirty="0">
                <a:solidFill>
                  <a:srgbClr val="342B81"/>
                </a:solidFill>
                <a:latin typeface="Calibri" pitchFamily="34" charset="0"/>
                <a:ea typeface="Calibri" pitchFamily="34" charset="-122"/>
                <a:cs typeface="Calibri" pitchFamily="34" charset="-120"/>
              </a:rPr>
              <a:t>Restricting the possible actions that can be performed, guiding the user toward the correct one.</a:t>
            </a:r>
            <a:endParaRPr lang="en-US" sz="1400" dirty="0"/>
          </a:p>
        </p:txBody>
      </p:sp>
      <p:sp>
        <p:nvSpPr>
          <p:cNvPr id="7" name="Shape 4"/>
          <p:cNvSpPr/>
          <p:nvPr/>
        </p:nvSpPr>
        <p:spPr>
          <a:xfrm>
            <a:off x="457200" y="2514600"/>
            <a:ext cx="2743200" cy="1920240"/>
          </a:xfrm>
          <a:prstGeom prst="rect">
            <a:avLst/>
          </a:prstGeom>
          <a:solidFill>
            <a:srgbClr val="F4F2FF"/>
          </a:solidFill>
          <a:ln/>
        </p:spPr>
      </p:sp>
      <p:sp>
        <p:nvSpPr>
          <p:cNvPr id="8" name="Shape 5"/>
          <p:cNvSpPr/>
          <p:nvPr/>
        </p:nvSpPr>
        <p:spPr>
          <a:xfrm>
            <a:off x="1577340" y="2697480"/>
            <a:ext cx="502920" cy="502920"/>
          </a:xfrm>
          <a:prstGeom prst="ellipse">
            <a:avLst/>
          </a:prstGeom>
          <a:solidFill>
            <a:srgbClr val="FF6B57"/>
          </a:solidFill>
          <a:ln/>
        </p:spPr>
      </p:sp>
      <p:pic>
        <p:nvPicPr>
          <p:cNvPr id="9" name="Image 1" descr="preencoded.png"/>
          <p:cNvPicPr>
            <a:picLocks noChangeAspect="1"/>
          </p:cNvPicPr>
          <p:nvPr/>
        </p:nvPicPr>
        <p:blipFill>
          <a:blip r:embed="rId4"/>
          <a:stretch>
            <a:fillRect/>
          </a:stretch>
        </p:blipFill>
        <p:spPr>
          <a:xfrm>
            <a:off x="1652778" y="2772918"/>
            <a:ext cx="352044" cy="352044"/>
          </a:xfrm>
          <a:prstGeom prst="rect">
            <a:avLst/>
          </a:prstGeom>
        </p:spPr>
      </p:pic>
      <p:sp>
        <p:nvSpPr>
          <p:cNvPr id="10" name="Text 6"/>
          <p:cNvSpPr/>
          <p:nvPr/>
        </p:nvSpPr>
        <p:spPr>
          <a:xfrm>
            <a:off x="548640" y="3337560"/>
            <a:ext cx="2560320" cy="274320"/>
          </a:xfrm>
          <a:prstGeom prst="rect">
            <a:avLst/>
          </a:prstGeom>
          <a:noFill/>
          <a:ln/>
        </p:spPr>
        <p:txBody>
          <a:bodyPr wrap="square" rtlCol="0" anchor="ctr"/>
          <a:lstStyle/>
          <a:p>
            <a:pPr marL="0" indent="0" algn="ctr">
              <a:buNone/>
            </a:pPr>
            <a:r>
              <a:rPr lang="en-US" sz="1200" b="1" dirty="0">
                <a:solidFill>
                  <a:srgbClr val="22223B"/>
                </a:solidFill>
                <a:latin typeface="Calibri" pitchFamily="34" charset="0"/>
                <a:ea typeface="Calibri" pitchFamily="34" charset="-122"/>
                <a:cs typeface="Calibri" pitchFamily="34" charset="-120"/>
              </a:rPr>
              <a:t>Physical</a:t>
            </a:r>
            <a:endParaRPr lang="en-US" sz="1200" dirty="0"/>
          </a:p>
        </p:txBody>
      </p:sp>
      <p:sp>
        <p:nvSpPr>
          <p:cNvPr id="11" name="Text 7"/>
          <p:cNvSpPr/>
          <p:nvPr/>
        </p:nvSpPr>
        <p:spPr>
          <a:xfrm>
            <a:off x="594360" y="3611880"/>
            <a:ext cx="2468880" cy="777240"/>
          </a:xfrm>
          <a:prstGeom prst="rect">
            <a:avLst/>
          </a:prstGeom>
          <a:noFill/>
          <a:ln/>
        </p:spPr>
        <p:txBody>
          <a:bodyPr wrap="square" rtlCol="0" anchor="ctr"/>
          <a:lstStyle/>
          <a:p>
            <a:pPr marL="0" indent="0" algn="ctr">
              <a:buNone/>
            </a:pPr>
            <a:r>
              <a:rPr lang="en-US" sz="930" dirty="0">
                <a:solidFill>
                  <a:srgbClr val="6B7280"/>
                </a:solidFill>
                <a:latin typeface="Calibri" pitchFamily="34" charset="0"/>
                <a:ea typeface="Calibri" pitchFamily="34" charset="-122"/>
                <a:cs typeface="Calibri" pitchFamily="34" charset="-120"/>
              </a:rPr>
              <a:t>Shape or size restricts how an object can be handled (e.g., a plug that only fits one way)</a:t>
            </a:r>
            <a:endParaRPr lang="en-US" sz="930" dirty="0"/>
          </a:p>
        </p:txBody>
      </p:sp>
      <p:sp>
        <p:nvSpPr>
          <p:cNvPr id="12" name="Shape 8"/>
          <p:cNvSpPr/>
          <p:nvPr/>
        </p:nvSpPr>
        <p:spPr>
          <a:xfrm>
            <a:off x="3383280" y="2514600"/>
            <a:ext cx="2743200" cy="1920240"/>
          </a:xfrm>
          <a:prstGeom prst="rect">
            <a:avLst/>
          </a:prstGeom>
          <a:solidFill>
            <a:srgbClr val="F4F2FF"/>
          </a:solidFill>
          <a:ln/>
        </p:spPr>
      </p:sp>
      <p:sp>
        <p:nvSpPr>
          <p:cNvPr id="13" name="Shape 9"/>
          <p:cNvSpPr/>
          <p:nvPr/>
        </p:nvSpPr>
        <p:spPr>
          <a:xfrm>
            <a:off x="4503420" y="2697480"/>
            <a:ext cx="502920" cy="502920"/>
          </a:xfrm>
          <a:prstGeom prst="ellipse">
            <a:avLst/>
          </a:prstGeom>
          <a:solidFill>
            <a:srgbClr val="FF6B57"/>
          </a:solidFill>
          <a:ln/>
        </p:spPr>
      </p:sp>
      <p:pic>
        <p:nvPicPr>
          <p:cNvPr id="14" name="Image 2" descr="preencoded.png"/>
          <p:cNvPicPr>
            <a:picLocks noChangeAspect="1"/>
          </p:cNvPicPr>
          <p:nvPr/>
        </p:nvPicPr>
        <p:blipFill>
          <a:blip r:embed="rId5"/>
          <a:stretch>
            <a:fillRect/>
          </a:stretch>
        </p:blipFill>
        <p:spPr>
          <a:xfrm>
            <a:off x="4578858" y="2772918"/>
            <a:ext cx="352044" cy="352044"/>
          </a:xfrm>
          <a:prstGeom prst="rect">
            <a:avLst/>
          </a:prstGeom>
        </p:spPr>
      </p:pic>
      <p:sp>
        <p:nvSpPr>
          <p:cNvPr id="15" name="Text 10"/>
          <p:cNvSpPr/>
          <p:nvPr/>
        </p:nvSpPr>
        <p:spPr>
          <a:xfrm>
            <a:off x="3474720" y="3337560"/>
            <a:ext cx="2560320" cy="274320"/>
          </a:xfrm>
          <a:prstGeom prst="rect">
            <a:avLst/>
          </a:prstGeom>
          <a:noFill/>
          <a:ln/>
        </p:spPr>
        <p:txBody>
          <a:bodyPr wrap="square" rtlCol="0" anchor="ctr"/>
          <a:lstStyle/>
          <a:p>
            <a:pPr marL="0" indent="0" algn="ctr">
              <a:buNone/>
            </a:pPr>
            <a:r>
              <a:rPr lang="en-US" sz="1200" b="1" dirty="0">
                <a:solidFill>
                  <a:srgbClr val="22223B"/>
                </a:solidFill>
                <a:latin typeface="Calibri" pitchFamily="34" charset="0"/>
                <a:ea typeface="Calibri" pitchFamily="34" charset="-122"/>
                <a:cs typeface="Calibri" pitchFamily="34" charset="-120"/>
              </a:rPr>
              <a:t>Logical</a:t>
            </a:r>
            <a:endParaRPr lang="en-US" sz="1200" dirty="0"/>
          </a:p>
        </p:txBody>
      </p:sp>
      <p:sp>
        <p:nvSpPr>
          <p:cNvPr id="16" name="Text 11"/>
          <p:cNvSpPr/>
          <p:nvPr/>
        </p:nvSpPr>
        <p:spPr>
          <a:xfrm>
            <a:off x="3520440" y="3611880"/>
            <a:ext cx="2468880" cy="777240"/>
          </a:xfrm>
          <a:prstGeom prst="rect">
            <a:avLst/>
          </a:prstGeom>
          <a:noFill/>
          <a:ln/>
        </p:spPr>
        <p:txBody>
          <a:bodyPr wrap="square" rtlCol="0" anchor="ctr"/>
          <a:lstStyle/>
          <a:p>
            <a:pPr marL="0" indent="0" algn="ctr">
              <a:buNone/>
            </a:pPr>
            <a:r>
              <a:rPr lang="en-US" sz="930" dirty="0">
                <a:solidFill>
                  <a:srgbClr val="6B7280"/>
                </a:solidFill>
                <a:latin typeface="Calibri" pitchFamily="34" charset="0"/>
                <a:ea typeface="Calibri" pitchFamily="34" charset="-122"/>
                <a:cs typeface="Calibri" pitchFamily="34" charset="-120"/>
              </a:rPr>
              <a:t>The order of steps determines what makes sense to do next</a:t>
            </a:r>
            <a:endParaRPr lang="en-US" sz="930" dirty="0"/>
          </a:p>
        </p:txBody>
      </p:sp>
      <p:sp>
        <p:nvSpPr>
          <p:cNvPr id="17" name="Shape 12"/>
          <p:cNvSpPr/>
          <p:nvPr/>
        </p:nvSpPr>
        <p:spPr>
          <a:xfrm>
            <a:off x="6309360" y="2514600"/>
            <a:ext cx="2743200" cy="1920240"/>
          </a:xfrm>
          <a:prstGeom prst="rect">
            <a:avLst/>
          </a:prstGeom>
          <a:solidFill>
            <a:srgbClr val="F4F2FF"/>
          </a:solidFill>
          <a:ln/>
        </p:spPr>
      </p:sp>
      <p:sp>
        <p:nvSpPr>
          <p:cNvPr id="18" name="Shape 13"/>
          <p:cNvSpPr/>
          <p:nvPr/>
        </p:nvSpPr>
        <p:spPr>
          <a:xfrm>
            <a:off x="7429500" y="2697480"/>
            <a:ext cx="502920" cy="502920"/>
          </a:xfrm>
          <a:prstGeom prst="ellipse">
            <a:avLst/>
          </a:prstGeom>
          <a:solidFill>
            <a:srgbClr val="FF6B57"/>
          </a:solidFill>
          <a:ln/>
        </p:spPr>
      </p:sp>
      <p:pic>
        <p:nvPicPr>
          <p:cNvPr id="19" name="Image 3" descr="preencoded.png"/>
          <p:cNvPicPr>
            <a:picLocks noChangeAspect="1"/>
          </p:cNvPicPr>
          <p:nvPr/>
        </p:nvPicPr>
        <p:blipFill>
          <a:blip r:embed="rId6"/>
          <a:stretch>
            <a:fillRect/>
          </a:stretch>
        </p:blipFill>
        <p:spPr>
          <a:xfrm>
            <a:off x="7504938" y="2772918"/>
            <a:ext cx="352044" cy="352044"/>
          </a:xfrm>
          <a:prstGeom prst="rect">
            <a:avLst/>
          </a:prstGeom>
        </p:spPr>
      </p:pic>
      <p:sp>
        <p:nvSpPr>
          <p:cNvPr id="20" name="Text 14"/>
          <p:cNvSpPr/>
          <p:nvPr/>
        </p:nvSpPr>
        <p:spPr>
          <a:xfrm>
            <a:off x="6400800" y="3337560"/>
            <a:ext cx="2560320" cy="274320"/>
          </a:xfrm>
          <a:prstGeom prst="rect">
            <a:avLst/>
          </a:prstGeom>
          <a:noFill/>
          <a:ln/>
        </p:spPr>
        <p:txBody>
          <a:bodyPr wrap="square" rtlCol="0" anchor="ctr"/>
          <a:lstStyle/>
          <a:p>
            <a:pPr marL="0" indent="0" algn="ctr">
              <a:buNone/>
            </a:pPr>
            <a:r>
              <a:rPr lang="en-US" sz="1200" b="1" dirty="0">
                <a:solidFill>
                  <a:srgbClr val="22223B"/>
                </a:solidFill>
                <a:latin typeface="Calibri" pitchFamily="34" charset="0"/>
                <a:ea typeface="Calibri" pitchFamily="34" charset="-122"/>
                <a:cs typeface="Calibri" pitchFamily="34" charset="-120"/>
              </a:rPr>
              <a:t>Cultural</a:t>
            </a:r>
            <a:endParaRPr lang="en-US" sz="1200" dirty="0"/>
          </a:p>
        </p:txBody>
      </p:sp>
      <p:sp>
        <p:nvSpPr>
          <p:cNvPr id="21" name="Text 15"/>
          <p:cNvSpPr/>
          <p:nvPr/>
        </p:nvSpPr>
        <p:spPr>
          <a:xfrm>
            <a:off x="6446520" y="3611880"/>
            <a:ext cx="2468880" cy="777240"/>
          </a:xfrm>
          <a:prstGeom prst="rect">
            <a:avLst/>
          </a:prstGeom>
          <a:noFill/>
          <a:ln/>
        </p:spPr>
        <p:txBody>
          <a:bodyPr wrap="square" rtlCol="0" anchor="ctr"/>
          <a:lstStyle/>
          <a:p>
            <a:pPr marL="0" indent="0" algn="ctr">
              <a:buNone/>
            </a:pPr>
            <a:r>
              <a:rPr lang="en-US" sz="930" dirty="0">
                <a:solidFill>
                  <a:srgbClr val="6B7280"/>
                </a:solidFill>
                <a:latin typeface="Calibri" pitchFamily="34" charset="0"/>
                <a:ea typeface="Calibri" pitchFamily="34" charset="-122"/>
                <a:cs typeface="Calibri" pitchFamily="34" charset="-120"/>
              </a:rPr>
              <a:t>Established conventions guide expectations (e.g., a red icon means stop or delete)</a:t>
            </a:r>
            <a:endParaRPr lang="en-US" sz="930" dirty="0"/>
          </a:p>
        </p:txBody>
      </p:sp>
      <p:sp>
        <p:nvSpPr>
          <p:cNvPr id="22" name="Text 16"/>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23" name="Text 17"/>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24 / 29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1.8 DESIGN PRINCIPLES — 4 OF 5</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Principle: Consistency</a:t>
            </a:r>
            <a:endParaRPr lang="en-US" sz="2600" dirty="0"/>
          </a:p>
        </p:txBody>
      </p:sp>
      <p:sp>
        <p:nvSpPr>
          <p:cNvPr id="4" name="Shape 2"/>
          <p:cNvSpPr/>
          <p:nvPr/>
        </p:nvSpPr>
        <p:spPr>
          <a:xfrm>
            <a:off x="457200" y="1417320"/>
            <a:ext cx="914400" cy="914400"/>
          </a:xfrm>
          <a:prstGeom prst="ellipse">
            <a:avLst/>
          </a:prstGeom>
          <a:solidFill>
            <a:srgbClr val="4C3BCF"/>
          </a:solidFill>
          <a:ln/>
        </p:spPr>
      </p:sp>
      <p:pic>
        <p:nvPicPr>
          <p:cNvPr id="5" name="Image 0" descr="preencoded.png"/>
          <p:cNvPicPr>
            <a:picLocks noChangeAspect="1"/>
          </p:cNvPicPr>
          <p:nvPr/>
        </p:nvPicPr>
        <p:blipFill>
          <a:blip r:embed="rId3"/>
          <a:stretch>
            <a:fillRect/>
          </a:stretch>
        </p:blipFill>
        <p:spPr>
          <a:xfrm>
            <a:off x="594360" y="1554480"/>
            <a:ext cx="640080" cy="640080"/>
          </a:xfrm>
          <a:prstGeom prst="rect">
            <a:avLst/>
          </a:prstGeom>
        </p:spPr>
      </p:pic>
      <p:sp>
        <p:nvSpPr>
          <p:cNvPr id="6" name="Text 3"/>
          <p:cNvSpPr/>
          <p:nvPr/>
        </p:nvSpPr>
        <p:spPr>
          <a:xfrm>
            <a:off x="1600200" y="1463040"/>
            <a:ext cx="7040880" cy="822960"/>
          </a:xfrm>
          <a:prstGeom prst="rect">
            <a:avLst/>
          </a:prstGeom>
          <a:noFill/>
          <a:ln/>
        </p:spPr>
        <p:txBody>
          <a:bodyPr wrap="square" rtlCol="0" anchor="ctr"/>
          <a:lstStyle/>
          <a:p>
            <a:pPr marL="0" indent="0">
              <a:buNone/>
            </a:pPr>
            <a:r>
              <a:rPr lang="en-US" sz="1400" i="1" dirty="0">
                <a:solidFill>
                  <a:srgbClr val="342B81"/>
                </a:solidFill>
                <a:latin typeface="Calibri" pitchFamily="34" charset="0"/>
                <a:ea typeface="Calibri" pitchFamily="34" charset="-122"/>
                <a:cs typeface="Calibri" pitchFamily="34" charset="-120"/>
              </a:rPr>
              <a:t>Designing interfaces so similar operations and elements are used or invoked in the same way, every time.</a:t>
            </a:r>
            <a:endParaRPr lang="en-US" sz="1400" dirty="0"/>
          </a:p>
        </p:txBody>
      </p:sp>
      <p:sp>
        <p:nvSpPr>
          <p:cNvPr id="7" name="Text 4"/>
          <p:cNvSpPr/>
          <p:nvPr/>
        </p:nvSpPr>
        <p:spPr>
          <a:xfrm>
            <a:off x="457200" y="2468880"/>
            <a:ext cx="8229600" cy="1645920"/>
          </a:xfrm>
          <a:prstGeom prst="rect">
            <a:avLst/>
          </a:prstGeom>
          <a:noFill/>
          <a:ln/>
        </p:spPr>
        <p:txBody>
          <a:bodyPr wrap="square" rtlCol="0" anchor="ctr"/>
          <a:lstStyle/>
          <a:p>
            <a:pPr marL="342900" indent="-342900">
              <a:spcAft>
                <a:spcPts val="1000"/>
              </a:spcAft>
              <a:buSzPct val="100000"/>
              <a:buChar char="●"/>
            </a:pPr>
            <a:r>
              <a:rPr lang="en-US" sz="1300" dirty="0">
                <a:solidFill>
                  <a:srgbClr val="22223B"/>
                </a:solidFill>
                <a:latin typeface="Calibri" pitchFamily="34" charset="0"/>
                <a:ea typeface="Calibri" pitchFamily="34" charset="-122"/>
                <a:cs typeface="Calibri" pitchFamily="34" charset="-120"/>
              </a:rPr>
              <a:t>Once a user learns one part of a consistent system, that knowledge transfers elsewhere</a:t>
            </a:r>
            <a:endParaRPr lang="en-US" sz="1300" dirty="0"/>
          </a:p>
          <a:p>
            <a:pPr marL="342900" indent="-342900">
              <a:spcAft>
                <a:spcPts val="1000"/>
              </a:spcAft>
              <a:buSzPct val="100000"/>
              <a:buChar char="●"/>
            </a:pPr>
            <a:r>
              <a:rPr lang="en-US" sz="1300" dirty="0">
                <a:solidFill>
                  <a:srgbClr val="22223B"/>
                </a:solidFill>
                <a:latin typeface="Calibri" pitchFamily="34" charset="0"/>
                <a:ea typeface="Calibri" pitchFamily="34" charset="-122"/>
                <a:cs typeface="Calibri" pitchFamily="34" charset="-120"/>
              </a:rPr>
              <a:t>Example: if swiping left deletes an item in one screen, it should do the same on every screen</a:t>
            </a:r>
            <a:endParaRPr lang="en-US" sz="1300" dirty="0"/>
          </a:p>
          <a:p>
            <a:pPr marL="342900" indent="-342900">
              <a:spcAft>
                <a:spcPts val="1000"/>
              </a:spcAft>
              <a:buSzPct val="100000"/>
              <a:buChar char="●"/>
            </a:pPr>
            <a:r>
              <a:rPr lang="en-US" sz="1300" dirty="0">
                <a:solidFill>
                  <a:srgbClr val="22223B"/>
                </a:solidFill>
                <a:latin typeface="Calibri" pitchFamily="34" charset="0"/>
                <a:ea typeface="Calibri" pitchFamily="34" charset="-122"/>
                <a:cs typeface="Calibri" pitchFamily="34" charset="-120"/>
              </a:rPr>
              <a:t>Inconsistency forces users to relearn behaviour and increases the chance of error</a:t>
            </a:r>
            <a:endParaRPr lang="en-US" sz="1300" dirty="0"/>
          </a:p>
        </p:txBody>
      </p:sp>
      <p:sp>
        <p:nvSpPr>
          <p:cNvPr id="8" name="Text 5"/>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9" name="Text 6"/>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25 / 29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1.8 DESIGN PRINCIPLES — 5 OF 5</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Principle: Affordance</a:t>
            </a:r>
            <a:endParaRPr lang="en-US" sz="2600" dirty="0"/>
          </a:p>
        </p:txBody>
      </p:sp>
      <p:sp>
        <p:nvSpPr>
          <p:cNvPr id="4" name="Shape 2"/>
          <p:cNvSpPr/>
          <p:nvPr/>
        </p:nvSpPr>
        <p:spPr>
          <a:xfrm>
            <a:off x="457200" y="1417320"/>
            <a:ext cx="914400" cy="914400"/>
          </a:xfrm>
          <a:prstGeom prst="ellipse">
            <a:avLst/>
          </a:prstGeom>
          <a:solidFill>
            <a:srgbClr val="4C3BCF"/>
          </a:solidFill>
          <a:ln/>
        </p:spPr>
      </p:sp>
      <p:pic>
        <p:nvPicPr>
          <p:cNvPr id="5" name="Image 0" descr="preencoded.png"/>
          <p:cNvPicPr>
            <a:picLocks noChangeAspect="1"/>
          </p:cNvPicPr>
          <p:nvPr/>
        </p:nvPicPr>
        <p:blipFill>
          <a:blip r:embed="rId3"/>
          <a:stretch>
            <a:fillRect/>
          </a:stretch>
        </p:blipFill>
        <p:spPr>
          <a:xfrm>
            <a:off x="594360" y="1554480"/>
            <a:ext cx="640080" cy="640080"/>
          </a:xfrm>
          <a:prstGeom prst="rect">
            <a:avLst/>
          </a:prstGeom>
        </p:spPr>
      </p:pic>
      <p:sp>
        <p:nvSpPr>
          <p:cNvPr id="6" name="Text 3"/>
          <p:cNvSpPr/>
          <p:nvPr/>
        </p:nvSpPr>
        <p:spPr>
          <a:xfrm>
            <a:off x="1600200" y="1463040"/>
            <a:ext cx="7040880" cy="822960"/>
          </a:xfrm>
          <a:prstGeom prst="rect">
            <a:avLst/>
          </a:prstGeom>
          <a:noFill/>
          <a:ln/>
        </p:spPr>
        <p:txBody>
          <a:bodyPr wrap="square" rtlCol="0" anchor="ctr"/>
          <a:lstStyle/>
          <a:p>
            <a:pPr marL="0" indent="0">
              <a:buNone/>
            </a:pPr>
            <a:r>
              <a:rPr lang="en-US" sz="1400" i="1" dirty="0">
                <a:solidFill>
                  <a:srgbClr val="342B81"/>
                </a:solidFill>
                <a:latin typeface="Calibri" pitchFamily="34" charset="0"/>
                <a:ea typeface="Calibri" pitchFamily="34" charset="-122"/>
                <a:cs typeface="Calibri" pitchFamily="34" charset="-120"/>
              </a:rPr>
              <a:t>A property of an object that suggests how it should be used — a handle affords pulling, a button affords pushing.</a:t>
            </a:r>
            <a:endParaRPr lang="en-US" sz="1400" dirty="0"/>
          </a:p>
        </p:txBody>
      </p:sp>
      <p:sp>
        <p:nvSpPr>
          <p:cNvPr id="7" name="Shape 4"/>
          <p:cNvSpPr/>
          <p:nvPr/>
        </p:nvSpPr>
        <p:spPr>
          <a:xfrm>
            <a:off x="457200" y="2514600"/>
            <a:ext cx="4023360" cy="1554480"/>
          </a:xfrm>
          <a:prstGeom prst="rect">
            <a:avLst/>
          </a:prstGeom>
          <a:solidFill>
            <a:srgbClr val="F4F2FF"/>
          </a:solidFill>
          <a:ln/>
        </p:spPr>
      </p:sp>
      <p:sp>
        <p:nvSpPr>
          <p:cNvPr id="8" name="Shape 5"/>
          <p:cNvSpPr/>
          <p:nvPr/>
        </p:nvSpPr>
        <p:spPr>
          <a:xfrm>
            <a:off x="640080" y="2697480"/>
            <a:ext cx="502920" cy="502920"/>
          </a:xfrm>
          <a:prstGeom prst="ellipse">
            <a:avLst/>
          </a:prstGeom>
          <a:solidFill>
            <a:srgbClr val="FF6B57"/>
          </a:solidFill>
          <a:ln/>
        </p:spPr>
      </p:sp>
      <p:pic>
        <p:nvPicPr>
          <p:cNvPr id="9" name="Image 1" descr="preencoded.png"/>
          <p:cNvPicPr>
            <a:picLocks noChangeAspect="1"/>
          </p:cNvPicPr>
          <p:nvPr/>
        </p:nvPicPr>
        <p:blipFill>
          <a:blip r:embed="rId4"/>
          <a:stretch>
            <a:fillRect/>
          </a:stretch>
        </p:blipFill>
        <p:spPr>
          <a:xfrm>
            <a:off x="715518" y="2772918"/>
            <a:ext cx="352044" cy="352044"/>
          </a:xfrm>
          <a:prstGeom prst="rect">
            <a:avLst/>
          </a:prstGeom>
        </p:spPr>
      </p:pic>
      <p:sp>
        <p:nvSpPr>
          <p:cNvPr id="10" name="Text 6"/>
          <p:cNvSpPr/>
          <p:nvPr/>
        </p:nvSpPr>
        <p:spPr>
          <a:xfrm>
            <a:off x="1280160" y="2770632"/>
            <a:ext cx="3108960" cy="274320"/>
          </a:xfrm>
          <a:prstGeom prst="rect">
            <a:avLst/>
          </a:prstGeom>
          <a:noFill/>
          <a:ln/>
        </p:spPr>
        <p:txBody>
          <a:bodyPr wrap="square" rtlCol="0" anchor="ctr"/>
          <a:lstStyle/>
          <a:p>
            <a:pPr marL="0" indent="0">
              <a:buNone/>
            </a:pPr>
            <a:r>
              <a:rPr lang="en-US" sz="1200" b="1" dirty="0">
                <a:solidFill>
                  <a:srgbClr val="22223B"/>
                </a:solidFill>
                <a:latin typeface="Calibri" pitchFamily="34" charset="0"/>
                <a:ea typeface="Calibri" pitchFamily="34" charset="-122"/>
                <a:cs typeface="Calibri" pitchFamily="34" charset="-120"/>
              </a:rPr>
              <a:t>Perceived affordance</a:t>
            </a:r>
            <a:endParaRPr lang="en-US" sz="1200" dirty="0"/>
          </a:p>
        </p:txBody>
      </p:sp>
      <p:sp>
        <p:nvSpPr>
          <p:cNvPr id="11" name="Text 7"/>
          <p:cNvSpPr/>
          <p:nvPr/>
        </p:nvSpPr>
        <p:spPr>
          <a:xfrm>
            <a:off x="1280160" y="3063240"/>
            <a:ext cx="3063240" cy="914400"/>
          </a:xfrm>
          <a:prstGeom prst="rect">
            <a:avLst/>
          </a:prstGeom>
          <a:noFill/>
          <a:ln/>
        </p:spPr>
        <p:txBody>
          <a:bodyPr wrap="square" rtlCol="0" anchor="ctr"/>
          <a:lstStyle/>
          <a:p>
            <a:pPr marL="0" indent="0">
              <a:buNone/>
            </a:pPr>
            <a:r>
              <a:rPr lang="en-US" sz="980" dirty="0">
                <a:solidFill>
                  <a:srgbClr val="6B7280"/>
                </a:solidFill>
                <a:latin typeface="Calibri" pitchFamily="34" charset="0"/>
                <a:ea typeface="Calibri" pitchFamily="34" charset="-122"/>
                <a:cs typeface="Calibri" pitchFamily="34" charset="-120"/>
              </a:rPr>
              <a:t>What the interface visually suggests it can do (works well for screen-based UI)</a:t>
            </a:r>
            <a:endParaRPr lang="en-US" sz="980" dirty="0"/>
          </a:p>
        </p:txBody>
      </p:sp>
      <p:sp>
        <p:nvSpPr>
          <p:cNvPr id="12" name="Shape 8"/>
          <p:cNvSpPr/>
          <p:nvPr/>
        </p:nvSpPr>
        <p:spPr>
          <a:xfrm>
            <a:off x="4754880" y="2514600"/>
            <a:ext cx="4023360" cy="1554480"/>
          </a:xfrm>
          <a:prstGeom prst="rect">
            <a:avLst/>
          </a:prstGeom>
          <a:solidFill>
            <a:srgbClr val="EFEBFF"/>
          </a:solidFill>
          <a:ln/>
        </p:spPr>
      </p:sp>
      <p:sp>
        <p:nvSpPr>
          <p:cNvPr id="13" name="Shape 9"/>
          <p:cNvSpPr/>
          <p:nvPr/>
        </p:nvSpPr>
        <p:spPr>
          <a:xfrm>
            <a:off x="4937760" y="2697480"/>
            <a:ext cx="502920" cy="502920"/>
          </a:xfrm>
          <a:prstGeom prst="ellipse">
            <a:avLst/>
          </a:prstGeom>
          <a:solidFill>
            <a:srgbClr val="FF6B57"/>
          </a:solidFill>
          <a:ln/>
        </p:spPr>
      </p:sp>
      <p:pic>
        <p:nvPicPr>
          <p:cNvPr id="14" name="Image 2" descr="preencoded.png"/>
          <p:cNvPicPr>
            <a:picLocks noChangeAspect="1"/>
          </p:cNvPicPr>
          <p:nvPr/>
        </p:nvPicPr>
        <p:blipFill>
          <a:blip r:embed="rId5"/>
          <a:stretch>
            <a:fillRect/>
          </a:stretch>
        </p:blipFill>
        <p:spPr>
          <a:xfrm>
            <a:off x="5013198" y="2772918"/>
            <a:ext cx="352044" cy="352044"/>
          </a:xfrm>
          <a:prstGeom prst="rect">
            <a:avLst/>
          </a:prstGeom>
        </p:spPr>
      </p:pic>
      <p:sp>
        <p:nvSpPr>
          <p:cNvPr id="15" name="Text 10"/>
          <p:cNvSpPr/>
          <p:nvPr/>
        </p:nvSpPr>
        <p:spPr>
          <a:xfrm>
            <a:off x="5577840" y="2770632"/>
            <a:ext cx="3108960" cy="274320"/>
          </a:xfrm>
          <a:prstGeom prst="rect">
            <a:avLst/>
          </a:prstGeom>
          <a:noFill/>
          <a:ln/>
        </p:spPr>
        <p:txBody>
          <a:bodyPr wrap="square" rtlCol="0" anchor="ctr"/>
          <a:lstStyle/>
          <a:p>
            <a:pPr marL="0" indent="0">
              <a:buNone/>
            </a:pPr>
            <a:r>
              <a:rPr lang="en-US" sz="1200" b="1" dirty="0">
                <a:solidFill>
                  <a:srgbClr val="22223B"/>
                </a:solidFill>
                <a:latin typeface="Calibri" pitchFamily="34" charset="0"/>
                <a:ea typeface="Calibri" pitchFamily="34" charset="-122"/>
                <a:cs typeface="Calibri" pitchFamily="34" charset="-120"/>
              </a:rPr>
              <a:t>Real affordance</a:t>
            </a:r>
            <a:endParaRPr lang="en-US" sz="1200" dirty="0"/>
          </a:p>
        </p:txBody>
      </p:sp>
      <p:sp>
        <p:nvSpPr>
          <p:cNvPr id="16" name="Text 11"/>
          <p:cNvSpPr/>
          <p:nvPr/>
        </p:nvSpPr>
        <p:spPr>
          <a:xfrm>
            <a:off x="5577840" y="3063240"/>
            <a:ext cx="3063240" cy="914400"/>
          </a:xfrm>
          <a:prstGeom prst="rect">
            <a:avLst/>
          </a:prstGeom>
          <a:noFill/>
          <a:ln/>
        </p:spPr>
        <p:txBody>
          <a:bodyPr wrap="square" rtlCol="0" anchor="ctr"/>
          <a:lstStyle/>
          <a:p>
            <a:pPr marL="0" indent="0">
              <a:buNone/>
            </a:pPr>
            <a:r>
              <a:rPr lang="en-US" sz="980" dirty="0">
                <a:solidFill>
                  <a:srgbClr val="6B7280"/>
                </a:solidFill>
                <a:latin typeface="Calibri" pitchFamily="34" charset="0"/>
                <a:ea typeface="Calibri" pitchFamily="34" charset="-122"/>
                <a:cs typeface="Calibri" pitchFamily="34" charset="-120"/>
              </a:rPr>
              <a:t>What a physical object actually allows (works well for physical products)</a:t>
            </a:r>
            <a:endParaRPr lang="en-US" sz="980" dirty="0"/>
          </a:p>
        </p:txBody>
      </p:sp>
      <p:sp>
        <p:nvSpPr>
          <p:cNvPr id="17" name="Text 12"/>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18" name="Text 13"/>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26 / 29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1B2F"/>
        </a:solidFill>
        <a:effectLst/>
      </p:bgPr>
    </p:bg>
    <p:spTree>
      <p:nvGrpSpPr>
        <p:cNvPr id="1" name=""/>
        <p:cNvGrpSpPr/>
        <p:nvPr/>
      </p:nvGrpSpPr>
      <p:grpSpPr>
        <a:xfrm>
          <a:off x="0" y="0"/>
          <a:ext cx="0" cy="0"/>
          <a:chOff x="0" y="0"/>
          <a:chExt cx="0" cy="0"/>
        </a:xfrm>
      </p:grpSpPr>
      <p:sp>
        <p:nvSpPr>
          <p:cNvPr id="2" name="Shape 0"/>
          <p:cNvSpPr/>
          <p:nvPr/>
        </p:nvSpPr>
        <p:spPr>
          <a:xfrm>
            <a:off x="-1097280" y="3291840"/>
            <a:ext cx="3291840" cy="3291840"/>
          </a:xfrm>
          <a:prstGeom prst="ellipse">
            <a:avLst/>
          </a:prstGeom>
          <a:solidFill>
            <a:srgbClr val="4C3BCF">
              <a:alpha val="28000"/>
            </a:srgbClr>
          </a:solidFill>
          <a:ln/>
        </p:spPr>
      </p:sp>
      <p:sp>
        <p:nvSpPr>
          <p:cNvPr id="3" name="Text 1"/>
          <p:cNvSpPr/>
          <p:nvPr/>
        </p:nvSpPr>
        <p:spPr>
          <a:xfrm>
            <a:off x="548640" y="457200"/>
            <a:ext cx="5486400" cy="320040"/>
          </a:xfrm>
          <a:prstGeom prst="rect">
            <a:avLst/>
          </a:prstGeom>
          <a:noFill/>
          <a:ln/>
        </p:spPr>
        <p:txBody>
          <a:bodyPr wrap="square" rtlCol="0" anchor="ctr"/>
          <a:lstStyle/>
          <a:p>
            <a:pPr marL="0" indent="0">
              <a:buNone/>
            </a:pPr>
            <a:r>
              <a:rPr lang="en-US" sz="1300" b="1" kern="0" spc="200" dirty="0">
                <a:solidFill>
                  <a:srgbClr val="FF6B57"/>
                </a:solidFill>
                <a:latin typeface="Calibri" pitchFamily="34" charset="0"/>
                <a:ea typeface="Calibri" pitchFamily="34" charset="-122"/>
                <a:cs typeface="Calibri" pitchFamily="34" charset="-120"/>
              </a:rPr>
              <a:t>SUMMARY</a:t>
            </a:r>
            <a:endParaRPr lang="en-US" sz="1300" dirty="0"/>
          </a:p>
        </p:txBody>
      </p:sp>
      <p:sp>
        <p:nvSpPr>
          <p:cNvPr id="4" name="Text 2"/>
          <p:cNvSpPr/>
          <p:nvPr/>
        </p:nvSpPr>
        <p:spPr>
          <a:xfrm>
            <a:off x="548640" y="777240"/>
            <a:ext cx="73152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Chapter 1 in Six Ideas</a:t>
            </a:r>
            <a:endParaRPr lang="en-US" sz="2800" dirty="0"/>
          </a:p>
        </p:txBody>
      </p:sp>
      <p:sp>
        <p:nvSpPr>
          <p:cNvPr id="5" name="Shape 3"/>
          <p:cNvSpPr/>
          <p:nvPr/>
        </p:nvSpPr>
        <p:spPr>
          <a:xfrm>
            <a:off x="594360" y="1618488"/>
            <a:ext cx="274320" cy="274320"/>
          </a:xfrm>
          <a:prstGeom prst="ellipse">
            <a:avLst/>
          </a:prstGeom>
          <a:solidFill>
            <a:srgbClr val="4C3BCF"/>
          </a:solidFill>
          <a:ln/>
        </p:spPr>
      </p:sp>
      <p:sp>
        <p:nvSpPr>
          <p:cNvPr id="6" name="Text 4"/>
          <p:cNvSpPr/>
          <p:nvPr/>
        </p:nvSpPr>
        <p:spPr>
          <a:xfrm>
            <a:off x="594360" y="1618488"/>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033272" y="1600200"/>
            <a:ext cx="7772400" cy="475488"/>
          </a:xfrm>
          <a:prstGeom prst="rect">
            <a:avLst/>
          </a:prstGeom>
          <a:noFill/>
          <a:ln/>
        </p:spPr>
        <p:txBody>
          <a:bodyPr wrap="square" rtlCol="0" anchor="ctr"/>
          <a:lstStyle/>
          <a:p>
            <a:pPr marL="0" indent="0">
              <a:buNone/>
            </a:pPr>
            <a:r>
              <a:rPr lang="en-US" sz="1150" dirty="0">
                <a:solidFill>
                  <a:srgbClr val="E6E3F5"/>
                </a:solidFill>
                <a:latin typeface="Calibri" pitchFamily="34" charset="0"/>
                <a:ea typeface="Calibri" pitchFamily="34" charset="-122"/>
                <a:cs typeface="Calibri" pitchFamily="34" charset="-120"/>
              </a:rPr>
              <a:t>Good design communicates its own use; poor design forces guesswork</a:t>
            </a:r>
            <a:endParaRPr lang="en-US" sz="1150" dirty="0"/>
          </a:p>
        </p:txBody>
      </p:sp>
      <p:sp>
        <p:nvSpPr>
          <p:cNvPr id="8" name="Shape 6"/>
          <p:cNvSpPr/>
          <p:nvPr/>
        </p:nvSpPr>
        <p:spPr>
          <a:xfrm>
            <a:off x="594360" y="2148840"/>
            <a:ext cx="274320" cy="274320"/>
          </a:xfrm>
          <a:prstGeom prst="ellipse">
            <a:avLst/>
          </a:prstGeom>
          <a:solidFill>
            <a:srgbClr val="4C3BCF"/>
          </a:solidFill>
          <a:ln/>
        </p:spPr>
      </p:sp>
      <p:sp>
        <p:nvSpPr>
          <p:cNvPr id="9" name="Text 7"/>
          <p:cNvSpPr/>
          <p:nvPr/>
        </p:nvSpPr>
        <p:spPr>
          <a:xfrm>
            <a:off x="594360" y="2148840"/>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p:nvPr/>
        </p:nvSpPr>
        <p:spPr>
          <a:xfrm>
            <a:off x="1033272" y="2130552"/>
            <a:ext cx="7772400" cy="475488"/>
          </a:xfrm>
          <a:prstGeom prst="rect">
            <a:avLst/>
          </a:prstGeom>
          <a:noFill/>
          <a:ln/>
        </p:spPr>
        <p:txBody>
          <a:bodyPr wrap="square" rtlCol="0" anchor="ctr"/>
          <a:lstStyle/>
          <a:p>
            <a:pPr marL="0" indent="0">
              <a:buNone/>
            </a:pPr>
            <a:r>
              <a:rPr lang="en-US" sz="1150" dirty="0">
                <a:solidFill>
                  <a:srgbClr val="E6E3F5"/>
                </a:solidFill>
                <a:latin typeface="Calibri" pitchFamily="34" charset="0"/>
                <a:ea typeface="Calibri" pitchFamily="34" charset="-122"/>
                <a:cs typeface="Calibri" pitchFamily="34" charset="-120"/>
              </a:rPr>
              <a:t>Interaction design is interdisciplinary — psychology, computer science, sociology, and design all contribute</a:t>
            </a:r>
            <a:endParaRPr lang="en-US" sz="1150" dirty="0"/>
          </a:p>
        </p:txBody>
      </p:sp>
      <p:sp>
        <p:nvSpPr>
          <p:cNvPr id="11" name="Shape 9"/>
          <p:cNvSpPr/>
          <p:nvPr/>
        </p:nvSpPr>
        <p:spPr>
          <a:xfrm>
            <a:off x="594360" y="2679192"/>
            <a:ext cx="274320" cy="274320"/>
          </a:xfrm>
          <a:prstGeom prst="ellipse">
            <a:avLst/>
          </a:prstGeom>
          <a:solidFill>
            <a:srgbClr val="4C3BCF"/>
          </a:solidFill>
          <a:ln/>
        </p:spPr>
      </p:sp>
      <p:sp>
        <p:nvSpPr>
          <p:cNvPr id="12" name="Text 10"/>
          <p:cNvSpPr/>
          <p:nvPr/>
        </p:nvSpPr>
        <p:spPr>
          <a:xfrm>
            <a:off x="594360" y="2679192"/>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Text 11"/>
          <p:cNvSpPr/>
          <p:nvPr/>
        </p:nvSpPr>
        <p:spPr>
          <a:xfrm>
            <a:off x="1033272" y="2660904"/>
            <a:ext cx="7772400" cy="475488"/>
          </a:xfrm>
          <a:prstGeom prst="rect">
            <a:avLst/>
          </a:prstGeom>
          <a:noFill/>
          <a:ln/>
        </p:spPr>
        <p:txBody>
          <a:bodyPr wrap="square" rtlCol="0" anchor="ctr"/>
          <a:lstStyle/>
          <a:p>
            <a:pPr marL="0" indent="0">
              <a:buNone/>
            </a:pPr>
            <a:r>
              <a:rPr lang="en-US" sz="1150" dirty="0">
                <a:solidFill>
                  <a:srgbClr val="E6E3F5"/>
                </a:solidFill>
                <a:latin typeface="Calibri" pitchFamily="34" charset="0"/>
                <a:ea typeface="Calibri" pitchFamily="34" charset="-122"/>
                <a:cs typeface="Calibri" pitchFamily="34" charset="-120"/>
              </a:rPr>
              <a:t>The user experience covers feelings, not just functionality</a:t>
            </a:r>
            <a:endParaRPr lang="en-US" sz="1150" dirty="0"/>
          </a:p>
        </p:txBody>
      </p:sp>
      <p:sp>
        <p:nvSpPr>
          <p:cNvPr id="14" name="Shape 12"/>
          <p:cNvSpPr/>
          <p:nvPr/>
        </p:nvSpPr>
        <p:spPr>
          <a:xfrm>
            <a:off x="594360" y="3209544"/>
            <a:ext cx="274320" cy="274320"/>
          </a:xfrm>
          <a:prstGeom prst="ellipse">
            <a:avLst/>
          </a:prstGeom>
          <a:solidFill>
            <a:srgbClr val="4C3BCF"/>
          </a:solidFill>
          <a:ln/>
        </p:spPr>
      </p:sp>
      <p:sp>
        <p:nvSpPr>
          <p:cNvPr id="15" name="Text 13"/>
          <p:cNvSpPr/>
          <p:nvPr/>
        </p:nvSpPr>
        <p:spPr>
          <a:xfrm>
            <a:off x="594360" y="3209544"/>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6" name="Text 14"/>
          <p:cNvSpPr/>
          <p:nvPr/>
        </p:nvSpPr>
        <p:spPr>
          <a:xfrm>
            <a:off x="1033272" y="3191256"/>
            <a:ext cx="7772400" cy="475488"/>
          </a:xfrm>
          <a:prstGeom prst="rect">
            <a:avLst/>
          </a:prstGeom>
          <a:noFill/>
          <a:ln/>
        </p:spPr>
        <p:txBody>
          <a:bodyPr wrap="square" rtlCol="0" anchor="ctr"/>
          <a:lstStyle/>
          <a:p>
            <a:pPr marL="0" indent="0">
              <a:buNone/>
            </a:pPr>
            <a:r>
              <a:rPr lang="en-US" sz="1150" dirty="0">
                <a:solidFill>
                  <a:srgbClr val="E6E3F5"/>
                </a:solidFill>
                <a:latin typeface="Calibri" pitchFamily="34" charset="0"/>
                <a:ea typeface="Calibri" pitchFamily="34" charset="-122"/>
                <a:cs typeface="Calibri" pitchFamily="34" charset="-120"/>
              </a:rPr>
              <a:t>Users differ physically, cognitively, and culturally — design for the range, not the average</a:t>
            </a:r>
            <a:endParaRPr lang="en-US" sz="1150" dirty="0"/>
          </a:p>
        </p:txBody>
      </p:sp>
      <p:sp>
        <p:nvSpPr>
          <p:cNvPr id="17" name="Shape 15"/>
          <p:cNvSpPr/>
          <p:nvPr/>
        </p:nvSpPr>
        <p:spPr>
          <a:xfrm>
            <a:off x="594360" y="3739896"/>
            <a:ext cx="274320" cy="274320"/>
          </a:xfrm>
          <a:prstGeom prst="ellipse">
            <a:avLst/>
          </a:prstGeom>
          <a:solidFill>
            <a:srgbClr val="4C3BCF"/>
          </a:solidFill>
          <a:ln/>
        </p:spPr>
      </p:sp>
      <p:sp>
        <p:nvSpPr>
          <p:cNvPr id="18" name="Text 16"/>
          <p:cNvSpPr/>
          <p:nvPr/>
        </p:nvSpPr>
        <p:spPr>
          <a:xfrm>
            <a:off x="594360" y="3739896"/>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9" name="Text 17"/>
          <p:cNvSpPr/>
          <p:nvPr/>
        </p:nvSpPr>
        <p:spPr>
          <a:xfrm>
            <a:off x="1033272" y="3721608"/>
            <a:ext cx="7772400" cy="475488"/>
          </a:xfrm>
          <a:prstGeom prst="rect">
            <a:avLst/>
          </a:prstGeom>
          <a:noFill/>
          <a:ln/>
        </p:spPr>
        <p:txBody>
          <a:bodyPr wrap="square" rtlCol="0" anchor="ctr"/>
          <a:lstStyle/>
          <a:p>
            <a:pPr marL="0" indent="0">
              <a:buNone/>
            </a:pPr>
            <a:r>
              <a:rPr lang="en-US" sz="1150" dirty="0">
                <a:solidFill>
                  <a:srgbClr val="E6E3F5"/>
                </a:solidFill>
                <a:latin typeface="Calibri" pitchFamily="34" charset="0"/>
                <a:ea typeface="Calibri" pitchFamily="34" charset="-122"/>
                <a:cs typeface="Calibri" pitchFamily="34" charset="-120"/>
              </a:rPr>
              <a:t>Accessible, inclusive design tends to benefit everyone, not only its original target group</a:t>
            </a:r>
            <a:endParaRPr lang="en-US" sz="1150" dirty="0"/>
          </a:p>
        </p:txBody>
      </p:sp>
      <p:sp>
        <p:nvSpPr>
          <p:cNvPr id="20" name="Shape 18"/>
          <p:cNvSpPr/>
          <p:nvPr/>
        </p:nvSpPr>
        <p:spPr>
          <a:xfrm>
            <a:off x="594360" y="4270248"/>
            <a:ext cx="274320" cy="274320"/>
          </a:xfrm>
          <a:prstGeom prst="ellipse">
            <a:avLst/>
          </a:prstGeom>
          <a:solidFill>
            <a:srgbClr val="4C3BCF"/>
          </a:solidFill>
          <a:ln/>
        </p:spPr>
      </p:sp>
      <p:sp>
        <p:nvSpPr>
          <p:cNvPr id="21" name="Text 19"/>
          <p:cNvSpPr/>
          <p:nvPr/>
        </p:nvSpPr>
        <p:spPr>
          <a:xfrm>
            <a:off x="594360" y="4270248"/>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2" name="Text 20"/>
          <p:cNvSpPr/>
          <p:nvPr/>
        </p:nvSpPr>
        <p:spPr>
          <a:xfrm>
            <a:off x="1033272" y="4251960"/>
            <a:ext cx="7772400" cy="475488"/>
          </a:xfrm>
          <a:prstGeom prst="rect">
            <a:avLst/>
          </a:prstGeom>
          <a:noFill/>
          <a:ln/>
        </p:spPr>
        <p:txBody>
          <a:bodyPr wrap="square" rtlCol="0" anchor="ctr"/>
          <a:lstStyle/>
          <a:p>
            <a:pPr marL="0" indent="0">
              <a:buNone/>
            </a:pPr>
            <a:r>
              <a:rPr lang="en-US" sz="1150" dirty="0">
                <a:solidFill>
                  <a:srgbClr val="E6E3F5"/>
                </a:solidFill>
                <a:latin typeface="Calibri" pitchFamily="34" charset="0"/>
                <a:ea typeface="Calibri" pitchFamily="34" charset="-122"/>
                <a:cs typeface="Calibri" pitchFamily="34" charset="-120"/>
              </a:rPr>
              <a:t>Usability goals + UX goals + design principles together define what “good” means in practice</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CHAPTER REVIEW</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Key Terms to Know</a:t>
            </a:r>
            <a:endParaRPr lang="en-US" sz="2600" dirty="0"/>
          </a:p>
        </p:txBody>
      </p:sp>
      <p:sp>
        <p:nvSpPr>
          <p:cNvPr id="4" name="Shape 2"/>
          <p:cNvSpPr/>
          <p:nvPr/>
        </p:nvSpPr>
        <p:spPr>
          <a:xfrm>
            <a:off x="457200" y="1371600"/>
            <a:ext cx="3977640" cy="749808"/>
          </a:xfrm>
          <a:prstGeom prst="rect">
            <a:avLst/>
          </a:prstGeom>
          <a:solidFill>
            <a:srgbClr val="F4F2FF"/>
          </a:solidFill>
          <a:ln/>
        </p:spPr>
      </p:sp>
      <p:sp>
        <p:nvSpPr>
          <p:cNvPr id="5" name="Text 3"/>
          <p:cNvSpPr/>
          <p:nvPr/>
        </p:nvSpPr>
        <p:spPr>
          <a:xfrm>
            <a:off x="594360" y="1426464"/>
            <a:ext cx="3703320" cy="274320"/>
          </a:xfrm>
          <a:prstGeom prst="rect">
            <a:avLst/>
          </a:prstGeom>
          <a:noFill/>
          <a:ln/>
        </p:spPr>
        <p:txBody>
          <a:bodyPr wrap="square" rtlCol="0" anchor="ctr"/>
          <a:lstStyle/>
          <a:p>
            <a:pPr marL="0" indent="0">
              <a:buNone/>
            </a:pPr>
            <a:r>
              <a:rPr lang="en-US" sz="1200" b="1" dirty="0">
                <a:solidFill>
                  <a:srgbClr val="342B81"/>
                </a:solidFill>
                <a:latin typeface="Calibri" pitchFamily="34" charset="0"/>
                <a:ea typeface="Calibri" pitchFamily="34" charset="-122"/>
                <a:cs typeface="Calibri" pitchFamily="34" charset="-120"/>
              </a:rPr>
              <a:t>Interaction design</a:t>
            </a:r>
            <a:endParaRPr lang="en-US" sz="1200" dirty="0"/>
          </a:p>
        </p:txBody>
      </p:sp>
      <p:sp>
        <p:nvSpPr>
          <p:cNvPr id="6" name="Text 4"/>
          <p:cNvSpPr/>
          <p:nvPr/>
        </p:nvSpPr>
        <p:spPr>
          <a:xfrm>
            <a:off x="594360" y="1700784"/>
            <a:ext cx="3703320" cy="384048"/>
          </a:xfrm>
          <a:prstGeom prst="rect">
            <a:avLst/>
          </a:prstGeom>
          <a:noFill/>
          <a:ln/>
        </p:spPr>
        <p:txBody>
          <a:bodyPr wrap="square" rtlCol="0" anchor="ctr"/>
          <a:lstStyle/>
          <a:p>
            <a:pPr marL="0" indent="0">
              <a:buNone/>
            </a:pPr>
            <a:r>
              <a:rPr lang="en-US" sz="930" dirty="0">
                <a:solidFill>
                  <a:srgbClr val="22223B"/>
                </a:solidFill>
                <a:latin typeface="Calibri" pitchFamily="34" charset="0"/>
                <a:ea typeface="Calibri" pitchFamily="34" charset="-122"/>
                <a:cs typeface="Calibri" pitchFamily="34" charset="-120"/>
              </a:rPr>
              <a:t>Designing interactive products to support how people communicate and work</a:t>
            </a:r>
            <a:endParaRPr lang="en-US" sz="930" dirty="0"/>
          </a:p>
        </p:txBody>
      </p:sp>
      <p:sp>
        <p:nvSpPr>
          <p:cNvPr id="7" name="Shape 5"/>
          <p:cNvSpPr/>
          <p:nvPr/>
        </p:nvSpPr>
        <p:spPr>
          <a:xfrm>
            <a:off x="4709160" y="1371600"/>
            <a:ext cx="3977640" cy="749808"/>
          </a:xfrm>
          <a:prstGeom prst="rect">
            <a:avLst/>
          </a:prstGeom>
          <a:solidFill>
            <a:srgbClr val="EFEBFF"/>
          </a:solidFill>
          <a:ln/>
        </p:spPr>
      </p:sp>
      <p:sp>
        <p:nvSpPr>
          <p:cNvPr id="8" name="Text 6"/>
          <p:cNvSpPr/>
          <p:nvPr/>
        </p:nvSpPr>
        <p:spPr>
          <a:xfrm>
            <a:off x="4846320" y="1426464"/>
            <a:ext cx="3703320" cy="274320"/>
          </a:xfrm>
          <a:prstGeom prst="rect">
            <a:avLst/>
          </a:prstGeom>
          <a:noFill/>
          <a:ln/>
        </p:spPr>
        <p:txBody>
          <a:bodyPr wrap="square" rtlCol="0" anchor="ctr"/>
          <a:lstStyle/>
          <a:p>
            <a:pPr marL="0" indent="0">
              <a:buNone/>
            </a:pPr>
            <a:r>
              <a:rPr lang="en-US" sz="1200" b="1" dirty="0">
                <a:solidFill>
                  <a:srgbClr val="342B81"/>
                </a:solidFill>
                <a:latin typeface="Calibri" pitchFamily="34" charset="0"/>
                <a:ea typeface="Calibri" pitchFamily="34" charset="-122"/>
                <a:cs typeface="Calibri" pitchFamily="34" charset="-120"/>
              </a:rPr>
              <a:t>User experience (UX)</a:t>
            </a:r>
            <a:endParaRPr lang="en-US" sz="1200" dirty="0"/>
          </a:p>
        </p:txBody>
      </p:sp>
      <p:sp>
        <p:nvSpPr>
          <p:cNvPr id="9" name="Text 7"/>
          <p:cNvSpPr/>
          <p:nvPr/>
        </p:nvSpPr>
        <p:spPr>
          <a:xfrm>
            <a:off x="4846320" y="1700784"/>
            <a:ext cx="3703320" cy="384048"/>
          </a:xfrm>
          <a:prstGeom prst="rect">
            <a:avLst/>
          </a:prstGeom>
          <a:noFill/>
          <a:ln/>
        </p:spPr>
        <p:txBody>
          <a:bodyPr wrap="square" rtlCol="0" anchor="ctr"/>
          <a:lstStyle/>
          <a:p>
            <a:pPr marL="0" indent="0">
              <a:buNone/>
            </a:pPr>
            <a:r>
              <a:rPr lang="en-US" sz="930" dirty="0">
                <a:solidFill>
                  <a:srgbClr val="22223B"/>
                </a:solidFill>
                <a:latin typeface="Calibri" pitchFamily="34" charset="0"/>
                <a:ea typeface="Calibri" pitchFamily="34" charset="-122"/>
                <a:cs typeface="Calibri" pitchFamily="34" charset="-120"/>
              </a:rPr>
              <a:t>How a product makes a person feel, beyond pure functionality</a:t>
            </a:r>
            <a:endParaRPr lang="en-US" sz="930" dirty="0"/>
          </a:p>
        </p:txBody>
      </p:sp>
      <p:sp>
        <p:nvSpPr>
          <p:cNvPr id="10" name="Shape 8"/>
          <p:cNvSpPr/>
          <p:nvPr/>
        </p:nvSpPr>
        <p:spPr>
          <a:xfrm>
            <a:off x="457200" y="2240280"/>
            <a:ext cx="3977640" cy="749808"/>
          </a:xfrm>
          <a:prstGeom prst="rect">
            <a:avLst/>
          </a:prstGeom>
          <a:solidFill>
            <a:srgbClr val="F4F2FF"/>
          </a:solidFill>
          <a:ln/>
        </p:spPr>
      </p:sp>
      <p:sp>
        <p:nvSpPr>
          <p:cNvPr id="11" name="Text 9"/>
          <p:cNvSpPr/>
          <p:nvPr/>
        </p:nvSpPr>
        <p:spPr>
          <a:xfrm>
            <a:off x="594360" y="2295144"/>
            <a:ext cx="3703320" cy="274320"/>
          </a:xfrm>
          <a:prstGeom prst="rect">
            <a:avLst/>
          </a:prstGeom>
          <a:noFill/>
          <a:ln/>
        </p:spPr>
        <p:txBody>
          <a:bodyPr wrap="square" rtlCol="0" anchor="ctr"/>
          <a:lstStyle/>
          <a:p>
            <a:pPr marL="0" indent="0">
              <a:buNone/>
            </a:pPr>
            <a:r>
              <a:rPr lang="en-US" sz="1200" b="1" dirty="0">
                <a:solidFill>
                  <a:srgbClr val="342B81"/>
                </a:solidFill>
                <a:latin typeface="Calibri" pitchFamily="34" charset="0"/>
                <a:ea typeface="Calibri" pitchFamily="34" charset="-122"/>
                <a:cs typeface="Calibri" pitchFamily="34" charset="-120"/>
              </a:rPr>
              <a:t>Usability goal</a:t>
            </a:r>
            <a:endParaRPr lang="en-US" sz="1200" dirty="0"/>
          </a:p>
        </p:txBody>
      </p:sp>
      <p:sp>
        <p:nvSpPr>
          <p:cNvPr id="12" name="Text 10"/>
          <p:cNvSpPr/>
          <p:nvPr/>
        </p:nvSpPr>
        <p:spPr>
          <a:xfrm>
            <a:off x="594360" y="2569464"/>
            <a:ext cx="3703320" cy="384048"/>
          </a:xfrm>
          <a:prstGeom prst="rect">
            <a:avLst/>
          </a:prstGeom>
          <a:noFill/>
          <a:ln/>
        </p:spPr>
        <p:txBody>
          <a:bodyPr wrap="square" rtlCol="0" anchor="ctr"/>
          <a:lstStyle/>
          <a:p>
            <a:pPr marL="0" indent="0">
              <a:buNone/>
            </a:pPr>
            <a:r>
              <a:rPr lang="en-US" sz="930" dirty="0">
                <a:solidFill>
                  <a:srgbClr val="22223B"/>
                </a:solidFill>
                <a:latin typeface="Calibri" pitchFamily="34" charset="0"/>
                <a:ea typeface="Calibri" pitchFamily="34" charset="-122"/>
                <a:cs typeface="Calibri" pitchFamily="34" charset="-120"/>
              </a:rPr>
              <a:t>A concrete, measurable target such as efficiency or safety</a:t>
            </a:r>
            <a:endParaRPr lang="en-US" sz="930" dirty="0"/>
          </a:p>
        </p:txBody>
      </p:sp>
      <p:sp>
        <p:nvSpPr>
          <p:cNvPr id="13" name="Shape 11"/>
          <p:cNvSpPr/>
          <p:nvPr/>
        </p:nvSpPr>
        <p:spPr>
          <a:xfrm>
            <a:off x="4709160" y="2240280"/>
            <a:ext cx="3977640" cy="749808"/>
          </a:xfrm>
          <a:prstGeom prst="rect">
            <a:avLst/>
          </a:prstGeom>
          <a:solidFill>
            <a:srgbClr val="EFEBFF"/>
          </a:solidFill>
          <a:ln/>
        </p:spPr>
      </p:sp>
      <p:sp>
        <p:nvSpPr>
          <p:cNvPr id="14" name="Text 12"/>
          <p:cNvSpPr/>
          <p:nvPr/>
        </p:nvSpPr>
        <p:spPr>
          <a:xfrm>
            <a:off x="4846320" y="2295144"/>
            <a:ext cx="3703320" cy="274320"/>
          </a:xfrm>
          <a:prstGeom prst="rect">
            <a:avLst/>
          </a:prstGeom>
          <a:noFill/>
          <a:ln/>
        </p:spPr>
        <p:txBody>
          <a:bodyPr wrap="square" rtlCol="0" anchor="ctr"/>
          <a:lstStyle/>
          <a:p>
            <a:pPr marL="0" indent="0">
              <a:buNone/>
            </a:pPr>
            <a:r>
              <a:rPr lang="en-US" sz="1200" b="1" dirty="0">
                <a:solidFill>
                  <a:srgbClr val="342B81"/>
                </a:solidFill>
                <a:latin typeface="Calibri" pitchFamily="34" charset="0"/>
                <a:ea typeface="Calibri" pitchFamily="34" charset="-122"/>
                <a:cs typeface="Calibri" pitchFamily="34" charset="-120"/>
              </a:rPr>
              <a:t>UX goal</a:t>
            </a:r>
            <a:endParaRPr lang="en-US" sz="1200" dirty="0"/>
          </a:p>
        </p:txBody>
      </p:sp>
      <p:sp>
        <p:nvSpPr>
          <p:cNvPr id="15" name="Text 13"/>
          <p:cNvSpPr/>
          <p:nvPr/>
        </p:nvSpPr>
        <p:spPr>
          <a:xfrm>
            <a:off x="4846320" y="2569464"/>
            <a:ext cx="3703320" cy="384048"/>
          </a:xfrm>
          <a:prstGeom prst="rect">
            <a:avLst/>
          </a:prstGeom>
          <a:noFill/>
          <a:ln/>
        </p:spPr>
        <p:txBody>
          <a:bodyPr wrap="square" rtlCol="0" anchor="ctr"/>
          <a:lstStyle/>
          <a:p>
            <a:pPr marL="0" indent="0">
              <a:buNone/>
            </a:pPr>
            <a:r>
              <a:rPr lang="en-US" sz="930" dirty="0">
                <a:solidFill>
                  <a:srgbClr val="22223B"/>
                </a:solidFill>
                <a:latin typeface="Calibri" pitchFamily="34" charset="0"/>
                <a:ea typeface="Calibri" pitchFamily="34" charset="-122"/>
                <a:cs typeface="Calibri" pitchFamily="34" charset="-120"/>
              </a:rPr>
              <a:t>A subjective quality such as being satisfying or motivating</a:t>
            </a:r>
            <a:endParaRPr lang="en-US" sz="930" dirty="0"/>
          </a:p>
        </p:txBody>
      </p:sp>
      <p:sp>
        <p:nvSpPr>
          <p:cNvPr id="16" name="Shape 14"/>
          <p:cNvSpPr/>
          <p:nvPr/>
        </p:nvSpPr>
        <p:spPr>
          <a:xfrm>
            <a:off x="457200" y="3108960"/>
            <a:ext cx="3977640" cy="749808"/>
          </a:xfrm>
          <a:prstGeom prst="rect">
            <a:avLst/>
          </a:prstGeom>
          <a:solidFill>
            <a:srgbClr val="F4F2FF"/>
          </a:solidFill>
          <a:ln/>
        </p:spPr>
      </p:sp>
      <p:sp>
        <p:nvSpPr>
          <p:cNvPr id="17" name="Text 15"/>
          <p:cNvSpPr/>
          <p:nvPr/>
        </p:nvSpPr>
        <p:spPr>
          <a:xfrm>
            <a:off x="594360" y="3163824"/>
            <a:ext cx="3703320" cy="274320"/>
          </a:xfrm>
          <a:prstGeom prst="rect">
            <a:avLst/>
          </a:prstGeom>
          <a:noFill/>
          <a:ln/>
        </p:spPr>
        <p:txBody>
          <a:bodyPr wrap="square" rtlCol="0" anchor="ctr"/>
          <a:lstStyle/>
          <a:p>
            <a:pPr marL="0" indent="0">
              <a:buNone/>
            </a:pPr>
            <a:r>
              <a:rPr lang="en-US" sz="1200" b="1" dirty="0">
                <a:solidFill>
                  <a:srgbClr val="342B81"/>
                </a:solidFill>
                <a:latin typeface="Calibri" pitchFamily="34" charset="0"/>
                <a:ea typeface="Calibri" pitchFamily="34" charset="-122"/>
                <a:cs typeface="Calibri" pitchFamily="34" charset="-120"/>
              </a:rPr>
              <a:t>Affordance</a:t>
            </a:r>
            <a:endParaRPr lang="en-US" sz="1200" dirty="0"/>
          </a:p>
        </p:txBody>
      </p:sp>
      <p:sp>
        <p:nvSpPr>
          <p:cNvPr id="18" name="Text 16"/>
          <p:cNvSpPr/>
          <p:nvPr/>
        </p:nvSpPr>
        <p:spPr>
          <a:xfrm>
            <a:off x="594360" y="3438144"/>
            <a:ext cx="3703320" cy="384048"/>
          </a:xfrm>
          <a:prstGeom prst="rect">
            <a:avLst/>
          </a:prstGeom>
          <a:noFill/>
          <a:ln/>
        </p:spPr>
        <p:txBody>
          <a:bodyPr wrap="square" rtlCol="0" anchor="ctr"/>
          <a:lstStyle/>
          <a:p>
            <a:pPr marL="0" indent="0">
              <a:buNone/>
            </a:pPr>
            <a:r>
              <a:rPr lang="en-US" sz="930" dirty="0">
                <a:solidFill>
                  <a:srgbClr val="22223B"/>
                </a:solidFill>
                <a:latin typeface="Calibri" pitchFamily="34" charset="0"/>
                <a:ea typeface="Calibri" pitchFamily="34" charset="-122"/>
                <a:cs typeface="Calibri" pitchFamily="34" charset="-120"/>
              </a:rPr>
              <a:t>A property suggesting how an object should be used</a:t>
            </a:r>
            <a:endParaRPr lang="en-US" sz="930" dirty="0"/>
          </a:p>
        </p:txBody>
      </p:sp>
      <p:sp>
        <p:nvSpPr>
          <p:cNvPr id="19" name="Shape 17"/>
          <p:cNvSpPr/>
          <p:nvPr/>
        </p:nvSpPr>
        <p:spPr>
          <a:xfrm>
            <a:off x="4709160" y="3108960"/>
            <a:ext cx="3977640" cy="749808"/>
          </a:xfrm>
          <a:prstGeom prst="rect">
            <a:avLst/>
          </a:prstGeom>
          <a:solidFill>
            <a:srgbClr val="EFEBFF"/>
          </a:solidFill>
          <a:ln/>
        </p:spPr>
      </p:sp>
      <p:sp>
        <p:nvSpPr>
          <p:cNvPr id="20" name="Text 18"/>
          <p:cNvSpPr/>
          <p:nvPr/>
        </p:nvSpPr>
        <p:spPr>
          <a:xfrm>
            <a:off x="4846320" y="3163824"/>
            <a:ext cx="3703320" cy="274320"/>
          </a:xfrm>
          <a:prstGeom prst="rect">
            <a:avLst/>
          </a:prstGeom>
          <a:noFill/>
          <a:ln/>
        </p:spPr>
        <p:txBody>
          <a:bodyPr wrap="square" rtlCol="0" anchor="ctr"/>
          <a:lstStyle/>
          <a:p>
            <a:pPr marL="0" indent="0">
              <a:buNone/>
            </a:pPr>
            <a:r>
              <a:rPr lang="en-US" sz="1200" b="1" dirty="0">
                <a:solidFill>
                  <a:srgbClr val="342B81"/>
                </a:solidFill>
                <a:latin typeface="Calibri" pitchFamily="34" charset="0"/>
                <a:ea typeface="Calibri" pitchFamily="34" charset="-122"/>
                <a:cs typeface="Calibri" pitchFamily="34" charset="-120"/>
              </a:rPr>
              <a:t>Persona</a:t>
            </a:r>
            <a:endParaRPr lang="en-US" sz="1200" dirty="0"/>
          </a:p>
        </p:txBody>
      </p:sp>
      <p:sp>
        <p:nvSpPr>
          <p:cNvPr id="21" name="Text 19"/>
          <p:cNvSpPr/>
          <p:nvPr/>
        </p:nvSpPr>
        <p:spPr>
          <a:xfrm>
            <a:off x="4846320" y="3438144"/>
            <a:ext cx="3703320" cy="384048"/>
          </a:xfrm>
          <a:prstGeom prst="rect">
            <a:avLst/>
          </a:prstGeom>
          <a:noFill/>
          <a:ln/>
        </p:spPr>
        <p:txBody>
          <a:bodyPr wrap="square" rtlCol="0" anchor="ctr"/>
          <a:lstStyle/>
          <a:p>
            <a:pPr marL="0" indent="0">
              <a:buNone/>
            </a:pPr>
            <a:r>
              <a:rPr lang="en-US" sz="930" dirty="0">
                <a:solidFill>
                  <a:srgbClr val="22223B"/>
                </a:solidFill>
                <a:latin typeface="Calibri" pitchFamily="34" charset="0"/>
                <a:ea typeface="Calibri" pitchFamily="34" charset="-122"/>
                <a:cs typeface="Calibri" pitchFamily="34" charset="-120"/>
              </a:rPr>
              <a:t>A realistic profile representing a key user group</a:t>
            </a:r>
            <a:endParaRPr lang="en-US" sz="930" dirty="0"/>
          </a:p>
        </p:txBody>
      </p:sp>
      <p:sp>
        <p:nvSpPr>
          <p:cNvPr id="22" name="Text 20"/>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23" name="Text 21"/>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28 / 29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rtlCol="0" anchor="ctr"/>
          <a:lstStyle/>
          <a:p>
            <a:pPr marL="0" indent="0">
              <a:buNone/>
            </a:pPr>
            <a:r>
              <a:rPr lang="en-US" sz="1150" b="1" kern="0" spc="200" dirty="0">
                <a:solidFill>
                  <a:srgbClr val="4C3BCF"/>
                </a:solidFill>
                <a:latin typeface="Calibri" pitchFamily="34" charset="0"/>
                <a:ea typeface="Calibri" pitchFamily="34" charset="-122"/>
                <a:cs typeface="Calibri" pitchFamily="34" charset="-120"/>
              </a:rPr>
              <a:t>FURTHER READING</a:t>
            </a:r>
            <a:endParaRPr lang="en-US" sz="1150" dirty="0"/>
          </a:p>
        </p:txBody>
      </p:sp>
      <p:sp>
        <p:nvSpPr>
          <p:cNvPr id="3" name="Text 1"/>
          <p:cNvSpPr/>
          <p:nvPr/>
        </p:nvSpPr>
        <p:spPr>
          <a:xfrm>
            <a:off x="457200" y="566928"/>
            <a:ext cx="8229600" cy="640080"/>
          </a:xfrm>
          <a:prstGeom prst="rect">
            <a:avLst/>
          </a:prstGeom>
          <a:noFill/>
          <a:ln/>
        </p:spPr>
        <p:txBody>
          <a:bodyPr wrap="square" rtlCol="0" anchor="ctr"/>
          <a:lstStyle/>
          <a:p>
            <a:pPr marL="0" indent="0">
              <a:buNone/>
            </a:pPr>
            <a:r>
              <a:rPr lang="en-US" sz="2600" b="1" dirty="0">
                <a:solidFill>
                  <a:srgbClr val="22223B"/>
                </a:solidFill>
                <a:latin typeface="Cambria" pitchFamily="34" charset="0"/>
                <a:ea typeface="Cambria" pitchFamily="34" charset="-122"/>
                <a:cs typeface="Cambria" pitchFamily="34" charset="-120"/>
              </a:rPr>
              <a:t>Primary Reference</a:t>
            </a:r>
            <a:endParaRPr lang="en-US" sz="2600" dirty="0"/>
          </a:p>
        </p:txBody>
      </p:sp>
      <p:sp>
        <p:nvSpPr>
          <p:cNvPr id="4" name="Shape 2"/>
          <p:cNvSpPr/>
          <p:nvPr/>
        </p:nvSpPr>
        <p:spPr>
          <a:xfrm>
            <a:off x="457200" y="1463040"/>
            <a:ext cx="8229600" cy="1371600"/>
          </a:xfrm>
          <a:prstGeom prst="rect">
            <a:avLst/>
          </a:prstGeom>
          <a:solidFill>
            <a:srgbClr val="F4F2FF"/>
          </a:solidFill>
          <a:ln/>
          <a:effectLst>
            <a:outerShdw blurRad="101600" dist="38100" dir="2700000" algn="bl" rotWithShape="0">
              <a:srgbClr val="000000">
                <a:alpha val="12000"/>
              </a:srgbClr>
            </a:outerShdw>
          </a:effectLst>
        </p:spPr>
      </p:sp>
      <p:sp>
        <p:nvSpPr>
          <p:cNvPr id="5" name="Shape 3"/>
          <p:cNvSpPr/>
          <p:nvPr/>
        </p:nvSpPr>
        <p:spPr>
          <a:xfrm>
            <a:off x="731520" y="1737360"/>
            <a:ext cx="731520" cy="731520"/>
          </a:xfrm>
          <a:prstGeom prst="ellipse">
            <a:avLst/>
          </a:prstGeom>
          <a:solidFill>
            <a:srgbClr val="4C3BCF"/>
          </a:solidFill>
          <a:ln/>
        </p:spPr>
      </p:sp>
      <p:pic>
        <p:nvPicPr>
          <p:cNvPr id="6" name="Image 0" descr="preencoded.png"/>
          <p:cNvPicPr>
            <a:picLocks noChangeAspect="1"/>
          </p:cNvPicPr>
          <p:nvPr/>
        </p:nvPicPr>
        <p:blipFill>
          <a:blip r:embed="rId3"/>
          <a:stretch>
            <a:fillRect/>
          </a:stretch>
        </p:blipFill>
        <p:spPr>
          <a:xfrm>
            <a:off x="841248" y="1847088"/>
            <a:ext cx="512064" cy="512064"/>
          </a:xfrm>
          <a:prstGeom prst="rect">
            <a:avLst/>
          </a:prstGeom>
        </p:spPr>
      </p:pic>
      <p:sp>
        <p:nvSpPr>
          <p:cNvPr id="7" name="Text 4"/>
          <p:cNvSpPr/>
          <p:nvPr/>
        </p:nvSpPr>
        <p:spPr>
          <a:xfrm>
            <a:off x="1691640" y="1691640"/>
            <a:ext cx="6766560" cy="914400"/>
          </a:xfrm>
          <a:prstGeom prst="rect">
            <a:avLst/>
          </a:prstGeom>
          <a:noFill/>
          <a:ln/>
        </p:spPr>
        <p:txBody>
          <a:bodyPr wrap="square" rtlCol="0" anchor="ctr"/>
          <a:lstStyle/>
          <a:p>
            <a:pPr marL="0" indent="0">
              <a:buNone/>
            </a:pPr>
            <a:r>
              <a:rPr lang="en-US" sz="1300" dirty="0">
                <a:solidFill>
                  <a:srgbClr val="22223B"/>
                </a:solidFill>
                <a:latin typeface="Calibri" pitchFamily="34" charset="0"/>
                <a:ea typeface="Calibri" pitchFamily="34" charset="-122"/>
                <a:cs typeface="Calibri" pitchFamily="34" charset="-120"/>
              </a:rPr>
              <a:t>Sharp, H., Rogers, Y., &amp; Preece, J.</a:t>
            </a:r>
            <a:endParaRPr lang="en-US" sz="1300" dirty="0"/>
          </a:p>
          <a:p>
            <a:pPr marL="0" indent="0">
              <a:buNone/>
            </a:pPr>
            <a:r>
              <a:rPr lang="en-US" sz="1300" dirty="0">
                <a:solidFill>
                  <a:srgbClr val="22223B"/>
                </a:solidFill>
                <a:latin typeface="Calibri" pitchFamily="34" charset="0"/>
                <a:ea typeface="Calibri" pitchFamily="34" charset="-122"/>
                <a:cs typeface="Calibri" pitchFamily="34" charset="-120"/>
              </a:rPr>
              <a:t>“Interaction Design: Beyond Human-Computer Interaction,” 5th Edition, Wiley, 2019 — Chapter 1.</a:t>
            </a:r>
            <a:endParaRPr lang="en-US" sz="1300" dirty="0"/>
          </a:p>
        </p:txBody>
      </p:sp>
      <p:sp>
        <p:nvSpPr>
          <p:cNvPr id="8" name="Text 5"/>
          <p:cNvSpPr/>
          <p:nvPr/>
        </p:nvSpPr>
        <p:spPr>
          <a:xfrm>
            <a:off x="457200" y="3063240"/>
            <a:ext cx="8229600" cy="320040"/>
          </a:xfrm>
          <a:prstGeom prst="rect">
            <a:avLst/>
          </a:prstGeom>
          <a:noFill/>
          <a:ln/>
        </p:spPr>
        <p:txBody>
          <a:bodyPr wrap="square" rtlCol="0" anchor="ctr"/>
          <a:lstStyle/>
          <a:p>
            <a:pPr marL="0" indent="0">
              <a:buNone/>
            </a:pPr>
            <a:r>
              <a:rPr lang="en-US" sz="1300" b="1" dirty="0">
                <a:solidFill>
                  <a:srgbClr val="342B81"/>
                </a:solidFill>
                <a:latin typeface="Calibri" pitchFamily="34" charset="0"/>
                <a:ea typeface="Calibri" pitchFamily="34" charset="-122"/>
                <a:cs typeface="Calibri" pitchFamily="34" charset="-120"/>
              </a:rPr>
              <a:t>Related Reference Books (from course syllabus)</a:t>
            </a:r>
            <a:endParaRPr lang="en-US" sz="1300" dirty="0"/>
          </a:p>
        </p:txBody>
      </p:sp>
      <p:sp>
        <p:nvSpPr>
          <p:cNvPr id="9" name="Text 6"/>
          <p:cNvSpPr/>
          <p:nvPr/>
        </p:nvSpPr>
        <p:spPr>
          <a:xfrm>
            <a:off x="457200" y="3429000"/>
            <a:ext cx="8321040" cy="1371600"/>
          </a:xfrm>
          <a:prstGeom prst="rect">
            <a:avLst/>
          </a:prstGeom>
          <a:noFill/>
          <a:ln/>
        </p:spPr>
        <p:txBody>
          <a:bodyPr wrap="square" rtlCol="0" anchor="ctr"/>
          <a:lstStyle/>
          <a:p>
            <a:pPr marL="342900" indent="-342900">
              <a:spcAft>
                <a:spcPts val="800"/>
              </a:spcAft>
              <a:buSzPct val="100000"/>
              <a:buChar char="●"/>
            </a:pPr>
            <a:r>
              <a:rPr lang="en-US" sz="1100" dirty="0">
                <a:solidFill>
                  <a:srgbClr val="22223B"/>
                </a:solidFill>
                <a:latin typeface="Calibri" pitchFamily="34" charset="0"/>
                <a:ea typeface="Calibri" pitchFamily="34" charset="-122"/>
                <a:cs typeface="Calibri" pitchFamily="34" charset="-120"/>
              </a:rPr>
              <a:t>Gerard Jounghyun Kim, “Human Computer Interaction — Fundamentals and Practice,” CRC Press, 2015.</a:t>
            </a:r>
            <a:endParaRPr lang="en-US" sz="1100" dirty="0"/>
          </a:p>
          <a:p>
            <a:pPr marL="342900" indent="-342900">
              <a:spcAft>
                <a:spcPts val="800"/>
              </a:spcAft>
              <a:buSzPct val="100000"/>
              <a:buChar char="●"/>
            </a:pPr>
            <a:r>
              <a:rPr lang="en-US" sz="1100" dirty="0">
                <a:solidFill>
                  <a:srgbClr val="22223B"/>
                </a:solidFill>
                <a:latin typeface="Calibri" pitchFamily="34" charset="0"/>
                <a:ea typeface="Calibri" pitchFamily="34" charset="-122"/>
                <a:cs typeface="Calibri" pitchFamily="34" charset="-120"/>
              </a:rPr>
              <a:t>Ben Shneiderman et al., “Designing the User Interface,” 5th Edition, Pearson, 2009.</a:t>
            </a:r>
            <a:endParaRPr lang="en-US" sz="1100" dirty="0"/>
          </a:p>
          <a:p>
            <a:pPr marL="342900" indent="-342900">
              <a:spcAft>
                <a:spcPts val="800"/>
              </a:spcAft>
              <a:buSzPct val="100000"/>
              <a:buChar char="●"/>
            </a:pPr>
            <a:r>
              <a:rPr lang="en-US" sz="1100" dirty="0">
                <a:solidFill>
                  <a:srgbClr val="22223B"/>
                </a:solidFill>
                <a:latin typeface="Calibri" pitchFamily="34" charset="0"/>
                <a:ea typeface="Calibri" pitchFamily="34" charset="-122"/>
                <a:cs typeface="Calibri" pitchFamily="34" charset="-120"/>
              </a:rPr>
              <a:t>Alan Dix, Janet Finlay, Gregory Abowd, Russell Beale, “Human-Computer Interaction,” 3rd Edition, Pearson, 2003.</a:t>
            </a:r>
            <a:endParaRPr lang="en-US" sz="1100" dirty="0"/>
          </a:p>
        </p:txBody>
      </p:sp>
      <p:sp>
        <p:nvSpPr>
          <p:cNvPr id="10" name="Text 7"/>
          <p:cNvSpPr/>
          <p:nvPr/>
        </p:nvSpPr>
        <p:spPr>
          <a:xfrm>
            <a:off x="457200" y="4892040"/>
            <a:ext cx="7315200" cy="228600"/>
          </a:xfrm>
          <a:prstGeom prst="rect">
            <a:avLst/>
          </a:prstGeom>
          <a:noFill/>
          <a:ln/>
        </p:spPr>
        <p:txBody>
          <a:bodyPr wrap="square" rtlCol="0" anchor="ctr"/>
          <a:lstStyle/>
          <a:p>
            <a:pPr marL="0" indent="0">
              <a:buNone/>
            </a:pPr>
            <a:r>
              <a:rPr lang="en-US" sz="850" dirty="0">
                <a:solidFill>
                  <a:srgbClr val="9CA3AF"/>
                </a:solidFill>
                <a:latin typeface="Calibri" pitchFamily="34" charset="0"/>
                <a:ea typeface="Calibri" pitchFamily="34" charset="-122"/>
                <a:cs typeface="Calibri" pitchFamily="34" charset="-120"/>
              </a:rPr>
              <a:t>Interaction Design: Beyond Human-Computer Interaction  |  Chapter 1</a:t>
            </a:r>
            <a:endParaRPr lang="en-US" sz="850" dirty="0"/>
          </a:p>
        </p:txBody>
      </p:sp>
      <p:sp>
        <p:nvSpPr>
          <p:cNvPr id="11" name="Text 8"/>
          <p:cNvSpPr/>
          <p:nvPr/>
        </p:nvSpPr>
        <p:spPr>
          <a:xfrm>
            <a:off x="8275320" y="4892040"/>
            <a:ext cx="502920" cy="228600"/>
          </a:xfrm>
          <a:prstGeom prst="rect">
            <a:avLst/>
          </a:prstGeom>
          <a:noFill/>
          <a:ln/>
        </p:spPr>
        <p:txBody>
          <a:bodyPr wrap="square" rtlCol="0" anchor="ctr"/>
          <a:lstStyle/>
          <a:p>
            <a:pPr marL="0" indent="0" algn="r">
              <a:buNone/>
            </a:pPr>
            <a:r>
              <a:rPr lang="en-US" sz="850" dirty="0">
                <a:solidFill>
                  <a:srgbClr val="9CA3AF"/>
                </a:solidFill>
                <a:latin typeface="Calibri" pitchFamily="34" charset="0"/>
                <a:ea typeface="Calibri" pitchFamily="34" charset="-122"/>
                <a:cs typeface="Calibri" pitchFamily="34" charset="-120"/>
              </a:rPr>
              <a:t>29 / 29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2573</Words>
  <Application>Microsoft Office PowerPoint</Application>
  <PresentationFormat>On-screen Show (16:9)</PresentationFormat>
  <Paragraphs>404</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What is Interaction Design?</dc:title>
  <dc:subject>PptxGenJS Presentation</dc:subject>
  <dc:creator>ISWE407L</dc:creator>
  <cp:lastModifiedBy>Siva Shree</cp:lastModifiedBy>
  <cp:revision>1</cp:revision>
  <dcterms:created xsi:type="dcterms:W3CDTF">2026-07-06T12:54:53Z</dcterms:created>
  <dcterms:modified xsi:type="dcterms:W3CDTF">2026-07-31T16:33:39Z</dcterms:modified>
</cp:coreProperties>
</file>